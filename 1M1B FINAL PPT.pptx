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imes New Roman MT Bold" charset="1" panose="02030802070405020303"/>
      <p:regular r:id="rId28"/>
    </p:embeddedFont>
    <p:embeddedFont>
      <p:font typeface="Calibri (MS) Bold" charset="1" panose="020F0702030404030204"/>
      <p:regular r:id="rId29"/>
    </p:embeddedFont>
    <p:embeddedFont>
      <p:font typeface="Calibri (MS)" charset="1" panose="020F0502020204030204"/>
      <p:regular r:id="rId30"/>
    </p:embeddedFont>
    <p:embeddedFont>
      <p:font typeface="Arial Bold" charset="1" panose="020B070402020202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fonts/font42.fntdata" Type="http://schemas.openxmlformats.org/officeDocument/2006/relationships/font"/><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https://keen-pika-1d8b45.netlify.app" TargetMode="External" Type="http://schemas.openxmlformats.org/officeDocument/2006/relationships/hyperlink"/><Relationship Id="rId5"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2352037"/>
            <a:ext cx="50797" cy="1056637"/>
            <a:chOff x="0" y="0"/>
            <a:chExt cx="67729" cy="1408849"/>
          </a:xfrm>
        </p:grpSpPr>
        <p:sp>
          <p:nvSpPr>
            <p:cNvPr name="Freeform 9" id="9"/>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0" id="10"/>
          <p:cNvGrpSpPr/>
          <p:nvPr/>
        </p:nvGrpSpPr>
        <p:grpSpPr>
          <a:xfrm rot="0">
            <a:off x="17933413" y="235203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303781" y="7838437"/>
            <a:ext cx="50797" cy="965197"/>
            <a:chOff x="0" y="0"/>
            <a:chExt cx="67729" cy="1286929"/>
          </a:xfrm>
        </p:grpSpPr>
        <p:sp>
          <p:nvSpPr>
            <p:cNvPr name="Freeform 13" id="1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4" id="14"/>
          <p:cNvGrpSpPr/>
          <p:nvPr/>
        </p:nvGrpSpPr>
        <p:grpSpPr>
          <a:xfrm rot="0">
            <a:off x="17933413" y="7838437"/>
            <a:ext cx="50797" cy="965197"/>
            <a:chOff x="0" y="0"/>
            <a:chExt cx="67729" cy="1286929"/>
          </a:xfrm>
        </p:grpSpPr>
        <p:sp>
          <p:nvSpPr>
            <p:cNvPr name="Freeform 15" id="15"/>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6" id="16"/>
          <p:cNvGrpSpPr/>
          <p:nvPr/>
        </p:nvGrpSpPr>
        <p:grpSpPr>
          <a:xfrm rot="0">
            <a:off x="297437" y="5637533"/>
            <a:ext cx="795023" cy="63503"/>
            <a:chOff x="0" y="0"/>
            <a:chExt cx="1060031" cy="84671"/>
          </a:xfrm>
        </p:grpSpPr>
        <p:sp>
          <p:nvSpPr>
            <p:cNvPr name="Freeform 17" id="1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18" id="18"/>
          <p:cNvGrpSpPr/>
          <p:nvPr/>
        </p:nvGrpSpPr>
        <p:grpSpPr>
          <a:xfrm rot="0">
            <a:off x="17195549" y="5637533"/>
            <a:ext cx="795023" cy="63503"/>
            <a:chOff x="0" y="0"/>
            <a:chExt cx="1060031" cy="84671"/>
          </a:xfrm>
        </p:grpSpPr>
        <p:sp>
          <p:nvSpPr>
            <p:cNvPr name="Freeform 19" id="19"/>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0" id="20"/>
          <p:cNvGrpSpPr/>
          <p:nvPr/>
        </p:nvGrpSpPr>
        <p:grpSpPr>
          <a:xfrm rot="0">
            <a:off x="-12697" y="9643367"/>
            <a:ext cx="18313403" cy="656339"/>
            <a:chOff x="0" y="0"/>
            <a:chExt cx="24417871" cy="875119"/>
          </a:xfrm>
        </p:grpSpPr>
        <p:sp>
          <p:nvSpPr>
            <p:cNvPr name="Freeform 21" id="21"/>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2" id="22"/>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3" id="23"/>
          <p:cNvGrpSpPr/>
          <p:nvPr/>
        </p:nvGrpSpPr>
        <p:grpSpPr>
          <a:xfrm rot="0">
            <a:off x="-12697" y="9643367"/>
            <a:ext cx="18313403" cy="98555"/>
            <a:chOff x="0" y="0"/>
            <a:chExt cx="24417871" cy="131407"/>
          </a:xfrm>
        </p:grpSpPr>
        <p:sp>
          <p:nvSpPr>
            <p:cNvPr name="Freeform 24" id="24"/>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5" id="25"/>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26" id="26"/>
          <p:cNvGrpSpPr/>
          <p:nvPr/>
        </p:nvGrpSpPr>
        <p:grpSpPr>
          <a:xfrm rot="0">
            <a:off x="1828800" y="1028700"/>
            <a:ext cx="14630400" cy="1401699"/>
            <a:chOff x="0" y="0"/>
            <a:chExt cx="19507200" cy="1868932"/>
          </a:xfrm>
        </p:grpSpPr>
        <p:sp>
          <p:nvSpPr>
            <p:cNvPr name="Freeform 27" id="27"/>
            <p:cNvSpPr/>
            <p:nvPr/>
          </p:nvSpPr>
          <p:spPr>
            <a:xfrm flipH="false" flipV="false" rot="0">
              <a:off x="0" y="0"/>
              <a:ext cx="19507200" cy="1868932"/>
            </a:xfrm>
            <a:custGeom>
              <a:avLst/>
              <a:gdLst/>
              <a:ahLst/>
              <a:cxnLst/>
              <a:rect r="r" b="b" t="t" l="l"/>
              <a:pathLst>
                <a:path h="1868932" w="19507200">
                  <a:moveTo>
                    <a:pt x="0" y="0"/>
                  </a:moveTo>
                  <a:lnTo>
                    <a:pt x="19507200" y="0"/>
                  </a:lnTo>
                  <a:lnTo>
                    <a:pt x="19507200" y="1868932"/>
                  </a:lnTo>
                  <a:lnTo>
                    <a:pt x="0" y="1868932"/>
                  </a:lnTo>
                  <a:close/>
                </a:path>
              </a:pathLst>
            </a:custGeom>
            <a:blipFill>
              <a:blip r:embed="rId3">
                <a:alphaModFix amt="0"/>
              </a:blip>
              <a:stretch>
                <a:fillRect l="0" t="-157712" r="0" b="-149042"/>
              </a:stretch>
            </a:blipFill>
          </p:spPr>
        </p:sp>
        <p:sp>
          <p:nvSpPr>
            <p:cNvPr name="TextBox 28" id="28"/>
            <p:cNvSpPr txBox="true"/>
            <p:nvPr/>
          </p:nvSpPr>
          <p:spPr>
            <a:xfrm>
              <a:off x="0" y="-142875"/>
              <a:ext cx="19507200" cy="2011807"/>
            </a:xfrm>
            <a:prstGeom prst="rect">
              <a:avLst/>
            </a:prstGeom>
          </p:spPr>
          <p:txBody>
            <a:bodyPr anchor="ctr" rtlCol="false" tIns="0" lIns="0" bIns="0" rIns="0"/>
            <a:lstStyle/>
            <a:p>
              <a:pPr algn="ctr">
                <a:lnSpc>
                  <a:spcPts val="8640"/>
                </a:lnSpc>
              </a:pPr>
              <a:r>
                <a:rPr lang="en-US" sz="7200" b="true">
                  <a:solidFill>
                    <a:srgbClr val="1A1A1A"/>
                  </a:solidFill>
                  <a:latin typeface="Times New Roman MT Bold"/>
                  <a:ea typeface="Times New Roman MT Bold"/>
                  <a:cs typeface="Times New Roman MT Bold"/>
                  <a:sym typeface="Times New Roman MT Bold"/>
                </a:rPr>
                <a:t>The Green Ledgers</a:t>
              </a:r>
            </a:p>
          </p:txBody>
        </p:sp>
      </p:grpSp>
      <p:grpSp>
        <p:nvGrpSpPr>
          <p:cNvPr name="Group 29" id="29"/>
          <p:cNvGrpSpPr/>
          <p:nvPr/>
        </p:nvGrpSpPr>
        <p:grpSpPr>
          <a:xfrm rot="0">
            <a:off x="1828795" y="3120390"/>
            <a:ext cx="14630400" cy="1005840"/>
            <a:chOff x="0" y="0"/>
            <a:chExt cx="19507200" cy="1341120"/>
          </a:xfrm>
        </p:grpSpPr>
        <p:sp>
          <p:nvSpPr>
            <p:cNvPr name="Freeform 30" id="30"/>
            <p:cNvSpPr/>
            <p:nvPr/>
          </p:nvSpPr>
          <p:spPr>
            <a:xfrm flipH="false" flipV="false" rot="0">
              <a:off x="0" y="0"/>
              <a:ext cx="19507200" cy="1341120"/>
            </a:xfrm>
            <a:custGeom>
              <a:avLst/>
              <a:gdLst/>
              <a:ahLst/>
              <a:cxnLst/>
              <a:rect r="r" b="b" t="t" l="l"/>
              <a:pathLst>
                <a:path h="1341120" w="19507200">
                  <a:moveTo>
                    <a:pt x="0" y="0"/>
                  </a:moveTo>
                  <a:lnTo>
                    <a:pt x="19507200" y="0"/>
                  </a:lnTo>
                  <a:lnTo>
                    <a:pt x="19507200" y="1341120"/>
                  </a:lnTo>
                  <a:lnTo>
                    <a:pt x="0" y="1341120"/>
                  </a:lnTo>
                  <a:close/>
                </a:path>
              </a:pathLst>
            </a:custGeom>
            <a:blipFill>
              <a:blip r:embed="rId3">
                <a:alphaModFix amt="0"/>
              </a:blip>
              <a:stretch>
                <a:fillRect l="0" t="-233418" r="0" b="-233418"/>
              </a:stretch>
            </a:blipFill>
          </p:spPr>
        </p:sp>
        <p:sp>
          <p:nvSpPr>
            <p:cNvPr name="TextBox 31" id="31"/>
            <p:cNvSpPr txBox="true"/>
            <p:nvPr/>
          </p:nvSpPr>
          <p:spPr>
            <a:xfrm>
              <a:off x="0" y="-85725"/>
              <a:ext cx="19507200" cy="1426845"/>
            </a:xfrm>
            <a:prstGeom prst="rect">
              <a:avLst/>
            </a:prstGeom>
          </p:spPr>
          <p:txBody>
            <a:bodyPr anchor="ctr" rtlCol="false" tIns="0" lIns="0" bIns="0" rIns="0"/>
            <a:lstStyle/>
            <a:p>
              <a:pPr algn="ctr">
                <a:lnSpc>
                  <a:spcPts val="5280"/>
                </a:lnSpc>
              </a:pPr>
              <a:r>
                <a:rPr lang="en-US" sz="4400" b="true">
                  <a:solidFill>
                    <a:srgbClr val="1A1A1A"/>
                  </a:solidFill>
                  <a:latin typeface="Times New Roman MT Bold"/>
                  <a:ea typeface="Times New Roman MT Bold"/>
                  <a:cs typeface="Times New Roman MT Bold"/>
                  <a:sym typeface="Times New Roman MT Bold"/>
                </a:rPr>
                <a:t>Carbon Credit Marketplace Simulator</a:t>
              </a:r>
            </a:p>
          </p:txBody>
        </p:sp>
      </p:grpSp>
      <p:grpSp>
        <p:nvGrpSpPr>
          <p:cNvPr name="Group 32" id="32"/>
          <p:cNvGrpSpPr/>
          <p:nvPr/>
        </p:nvGrpSpPr>
        <p:grpSpPr>
          <a:xfrm rot="0">
            <a:off x="4572000" y="4631693"/>
            <a:ext cx="9144000" cy="2011680"/>
            <a:chOff x="0" y="0"/>
            <a:chExt cx="12192000" cy="2682240"/>
          </a:xfrm>
        </p:grpSpPr>
        <p:sp>
          <p:nvSpPr>
            <p:cNvPr name="Freeform 33" id="33"/>
            <p:cNvSpPr/>
            <p:nvPr/>
          </p:nvSpPr>
          <p:spPr>
            <a:xfrm flipH="false" flipV="false" rot="0">
              <a:off x="0" y="0"/>
              <a:ext cx="12192000" cy="2682240"/>
            </a:xfrm>
            <a:custGeom>
              <a:avLst/>
              <a:gdLst/>
              <a:ahLst/>
              <a:cxnLst/>
              <a:rect r="r" b="b" t="t" l="l"/>
              <a:pathLst>
                <a:path h="2682240" w="12192000">
                  <a:moveTo>
                    <a:pt x="0" y="0"/>
                  </a:moveTo>
                  <a:lnTo>
                    <a:pt x="12192000" y="0"/>
                  </a:lnTo>
                  <a:lnTo>
                    <a:pt x="12192000" y="2682240"/>
                  </a:lnTo>
                  <a:lnTo>
                    <a:pt x="0" y="2682240"/>
                  </a:lnTo>
                  <a:close/>
                </a:path>
              </a:pathLst>
            </a:custGeom>
            <a:blipFill>
              <a:blip r:embed="rId3">
                <a:alphaModFix amt="0"/>
              </a:blip>
              <a:stretch>
                <a:fillRect l="0" t="-38568" r="0" b="-38568"/>
              </a:stretch>
            </a:blipFill>
          </p:spPr>
        </p:sp>
        <p:sp>
          <p:nvSpPr>
            <p:cNvPr name="TextBox 34" id="34"/>
            <p:cNvSpPr txBox="true"/>
            <p:nvPr/>
          </p:nvSpPr>
          <p:spPr>
            <a:xfrm>
              <a:off x="0" y="-66675"/>
              <a:ext cx="12192000" cy="2748915"/>
            </a:xfrm>
            <a:prstGeom prst="rect">
              <a:avLst/>
            </a:prstGeom>
          </p:spPr>
          <p:txBody>
            <a:bodyPr anchor="ctr" rtlCol="false" tIns="0" lIns="0" bIns="0" rIns="0"/>
            <a:lstStyle/>
            <a:p>
              <a:pPr algn="ctr">
                <a:lnSpc>
                  <a:spcPts val="3600"/>
                </a:lnSpc>
              </a:pPr>
              <a:r>
                <a:rPr lang="en-US" sz="3000" b="true">
                  <a:solidFill>
                    <a:srgbClr val="1A1A1A"/>
                  </a:solidFill>
                  <a:latin typeface="Calibri (MS) Bold"/>
                  <a:ea typeface="Calibri (MS) Bold"/>
                  <a:cs typeface="Calibri (MS) Bold"/>
                  <a:sym typeface="Calibri (MS) Bold"/>
                </a:rPr>
                <a:t>Team Members:</a:t>
              </a:r>
            </a:p>
            <a:p>
              <a:pPr algn="ctr">
                <a:lnSpc>
                  <a:spcPts val="3600"/>
                </a:lnSpc>
              </a:pPr>
              <a:r>
                <a:rPr lang="en-US" sz="3000">
                  <a:solidFill>
                    <a:srgbClr val="1A1A1A"/>
                  </a:solidFill>
                  <a:latin typeface="Calibri (MS)"/>
                  <a:ea typeface="Calibri (MS)"/>
                  <a:cs typeface="Calibri (MS)"/>
                  <a:sym typeface="Calibri (MS)"/>
                </a:rPr>
                <a:t>• Dakshraj Singh Chandawat</a:t>
              </a:r>
            </a:p>
            <a:p>
              <a:pPr algn="ctr">
                <a:lnSpc>
                  <a:spcPts val="3600"/>
                </a:lnSpc>
              </a:pPr>
              <a:r>
                <a:rPr lang="en-US" sz="3000">
                  <a:solidFill>
                    <a:srgbClr val="1A1A1A"/>
                  </a:solidFill>
                  <a:latin typeface="Calibri (MS)"/>
                  <a:ea typeface="Calibri (MS)"/>
                  <a:cs typeface="Calibri (MS)"/>
                  <a:sym typeface="Calibri (MS)"/>
                </a:rPr>
                <a:t>• Tejas Pebam</a:t>
              </a:r>
            </a:p>
            <a:p>
              <a:pPr algn="ctr">
                <a:lnSpc>
                  <a:spcPts val="3600"/>
                </a:lnSpc>
              </a:pPr>
              <a:r>
                <a:rPr lang="en-US" sz="3000">
                  <a:solidFill>
                    <a:srgbClr val="1A1A1A"/>
                  </a:solidFill>
                  <a:latin typeface="Calibri (MS)"/>
                  <a:ea typeface="Calibri (MS)"/>
                  <a:cs typeface="Calibri (MS)"/>
                  <a:sym typeface="Calibri (MS)"/>
                </a:rPr>
                <a:t>• Laishram Ritikumar Singh</a:t>
              </a:r>
            </a:p>
          </p:txBody>
        </p:sp>
      </p:grpSp>
      <p:grpSp>
        <p:nvGrpSpPr>
          <p:cNvPr name="Group 35" id="35"/>
          <p:cNvGrpSpPr/>
          <p:nvPr/>
        </p:nvGrpSpPr>
        <p:grpSpPr>
          <a:xfrm rot="0">
            <a:off x="2743200" y="7040880"/>
            <a:ext cx="12801600" cy="548640"/>
            <a:chOff x="0" y="0"/>
            <a:chExt cx="17068800" cy="731520"/>
          </a:xfrm>
        </p:grpSpPr>
        <p:sp>
          <p:nvSpPr>
            <p:cNvPr name="Freeform 36" id="36"/>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sp>
        <p:sp>
          <p:nvSpPr>
            <p:cNvPr name="TextBox 37" id="37"/>
            <p:cNvSpPr txBox="true"/>
            <p:nvPr/>
          </p:nvSpPr>
          <p:spPr>
            <a:xfrm>
              <a:off x="0" y="-38100"/>
              <a:ext cx="17068800" cy="769620"/>
            </a:xfrm>
            <a:prstGeom prst="rect">
              <a:avLst/>
            </a:prstGeom>
          </p:spPr>
          <p:txBody>
            <a:bodyPr anchor="ctr" rtlCol="false" tIns="0" lIns="0" bIns="0" rIns="0"/>
            <a:lstStyle/>
            <a:p>
              <a:pPr algn="ctr">
                <a:lnSpc>
                  <a:spcPts val="2879"/>
                </a:lnSpc>
              </a:pPr>
              <a:r>
                <a:rPr lang="en-US" sz="2400" u="sng">
                  <a:solidFill>
                    <a:srgbClr val="1B6B3A"/>
                  </a:solidFill>
                  <a:latin typeface="Calibri (MS)"/>
                  <a:ea typeface="Calibri (MS)"/>
                  <a:cs typeface="Calibri (MS)"/>
                  <a:sym typeface="Calibri (MS)"/>
                </a:rPr>
                <a:t>Alliance University  |  1M1B Green Internship · Batch 7 · March 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258070" y="351539"/>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85054" y="300742"/>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914400" y="402336"/>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Introduction to Carbon Credits</a:t>
              </a:r>
            </a:p>
          </p:txBody>
        </p:sp>
      </p:grpSp>
      <p:sp>
        <p:nvSpPr>
          <p:cNvPr name="TextBox 33" id="33"/>
          <p:cNvSpPr txBox="true"/>
          <p:nvPr/>
        </p:nvSpPr>
        <p:spPr>
          <a:xfrm rot="0">
            <a:off x="1280160" y="2493650"/>
            <a:ext cx="15727680" cy="2809875"/>
          </a:xfrm>
          <a:prstGeom prst="rect">
            <a:avLst/>
          </a:prstGeom>
        </p:spPr>
        <p:txBody>
          <a:bodyPr anchor="t" rtlCol="false" tIns="0" lIns="0" bIns="0" rIns="0">
            <a:spAutoFit/>
          </a:bodyPr>
          <a:lstStyle/>
          <a:p>
            <a:pPr algn="l">
              <a:lnSpc>
                <a:spcPts val="3600"/>
              </a:lnSpc>
            </a:pPr>
            <a:r>
              <a:rPr lang="en-US" sz="3000">
                <a:solidFill>
                  <a:srgbClr val="1A1A1A"/>
                </a:solidFill>
                <a:latin typeface="Calibri (MS)"/>
                <a:ea typeface="Calibri (MS)"/>
                <a:cs typeface="Calibri (MS)"/>
                <a:sym typeface="Calibri (MS)"/>
              </a:rPr>
              <a:t>Climate change is one of the biggest global challenges today and is mainly caused by greenhouse gas emissions such as carbon dioxide. A carbon credit represents the reduction or removal of one ton of carbon dioxide from the atmosphere. Companies and individuals can purchase these credits to offset their emissions and reduce their environmental impact. Global standards for carbon credits are managed by organizations like Verra and Gold Standard, which verify and certify carbon reduction projects.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451485"/>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6816" y="502282"/>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914400" y="402336"/>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Problem Statement</a:t>
              </a:r>
            </a:p>
          </p:txBody>
        </p:sp>
      </p:grpSp>
      <p:grpSp>
        <p:nvGrpSpPr>
          <p:cNvPr name="Group 33" id="33"/>
          <p:cNvGrpSpPr/>
          <p:nvPr/>
        </p:nvGrpSpPr>
        <p:grpSpPr>
          <a:xfrm rot="0">
            <a:off x="1188720" y="2011680"/>
            <a:ext cx="15910560" cy="2926080"/>
            <a:chOff x="0" y="0"/>
            <a:chExt cx="21214080" cy="3901440"/>
          </a:xfrm>
        </p:grpSpPr>
        <p:sp>
          <p:nvSpPr>
            <p:cNvPr name="Freeform 34" id="34"/>
            <p:cNvSpPr/>
            <p:nvPr/>
          </p:nvSpPr>
          <p:spPr>
            <a:xfrm flipH="false" flipV="false" rot="0">
              <a:off x="0" y="0"/>
              <a:ext cx="21214080" cy="3901440"/>
            </a:xfrm>
            <a:custGeom>
              <a:avLst/>
              <a:gdLst/>
              <a:ahLst/>
              <a:cxnLst/>
              <a:rect r="r" b="b" t="t" l="l"/>
              <a:pathLst>
                <a:path h="3901440" w="21214080">
                  <a:moveTo>
                    <a:pt x="0" y="0"/>
                  </a:moveTo>
                  <a:lnTo>
                    <a:pt x="21214080" y="0"/>
                  </a:lnTo>
                  <a:lnTo>
                    <a:pt x="21214080" y="3901440"/>
                  </a:lnTo>
                  <a:lnTo>
                    <a:pt x="0" y="3901440"/>
                  </a:lnTo>
                  <a:close/>
                </a:path>
              </a:pathLst>
            </a:custGeom>
            <a:blipFill>
              <a:blip r:embed="rId3">
                <a:alphaModFix amt="0"/>
              </a:blip>
              <a:stretch>
                <a:fillRect l="0" t="-55949" r="0" b="-55949"/>
              </a:stretch>
            </a:blipFill>
          </p:spPr>
        </p:sp>
        <p:sp>
          <p:nvSpPr>
            <p:cNvPr name="TextBox 35" id="35"/>
            <p:cNvSpPr txBox="true"/>
            <p:nvPr/>
          </p:nvSpPr>
          <p:spPr>
            <a:xfrm>
              <a:off x="0" y="-47625"/>
              <a:ext cx="21214080" cy="3949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Although carbon offsetting is an important tool for climate action, many organizations and individuals find it difficult to participate in carbon markets. This is mainly because carbon trading platforms are often complex, difficult to access, and not widely understood. As a result, many people who want to reduce their carbon footprint do not take action due to the lack of simple and accessible platforms.</a:t>
              </a:r>
            </a:p>
          </p:txBody>
        </p:sp>
      </p:grpSp>
      <p:grpSp>
        <p:nvGrpSpPr>
          <p:cNvPr name="Group 36" id="36"/>
          <p:cNvGrpSpPr/>
          <p:nvPr/>
        </p:nvGrpSpPr>
        <p:grpSpPr>
          <a:xfrm rot="0">
            <a:off x="1571570" y="5015236"/>
            <a:ext cx="7315200" cy="640080"/>
            <a:chOff x="0" y="0"/>
            <a:chExt cx="9753600" cy="853440"/>
          </a:xfrm>
        </p:grpSpPr>
        <p:sp>
          <p:nvSpPr>
            <p:cNvPr name="Freeform 37" id="37"/>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38" id="38"/>
            <p:cNvSpPr txBox="true"/>
            <p:nvPr/>
          </p:nvSpPr>
          <p:spPr>
            <a:xfrm>
              <a:off x="0" y="-47625"/>
              <a:ext cx="97536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Key Issues</a:t>
              </a:r>
            </a:p>
          </p:txBody>
        </p:sp>
      </p:grpSp>
      <p:grpSp>
        <p:nvGrpSpPr>
          <p:cNvPr name="Group 39" id="39"/>
          <p:cNvGrpSpPr/>
          <p:nvPr/>
        </p:nvGrpSpPr>
        <p:grpSpPr>
          <a:xfrm rot="0">
            <a:off x="1092460" y="5143500"/>
            <a:ext cx="15910560" cy="2926080"/>
            <a:chOff x="0" y="0"/>
            <a:chExt cx="21214080" cy="3901440"/>
          </a:xfrm>
        </p:grpSpPr>
        <p:sp>
          <p:nvSpPr>
            <p:cNvPr name="Freeform 40" id="40"/>
            <p:cNvSpPr/>
            <p:nvPr/>
          </p:nvSpPr>
          <p:spPr>
            <a:xfrm flipH="false" flipV="false" rot="0">
              <a:off x="0" y="0"/>
              <a:ext cx="21214080" cy="3901440"/>
            </a:xfrm>
            <a:custGeom>
              <a:avLst/>
              <a:gdLst/>
              <a:ahLst/>
              <a:cxnLst/>
              <a:rect r="r" b="b" t="t" l="l"/>
              <a:pathLst>
                <a:path h="3901440" w="21214080">
                  <a:moveTo>
                    <a:pt x="0" y="0"/>
                  </a:moveTo>
                  <a:lnTo>
                    <a:pt x="21214080" y="0"/>
                  </a:lnTo>
                  <a:lnTo>
                    <a:pt x="21214080" y="3901440"/>
                  </a:lnTo>
                  <a:lnTo>
                    <a:pt x="0" y="3901440"/>
                  </a:lnTo>
                  <a:close/>
                </a:path>
              </a:pathLst>
            </a:custGeom>
            <a:blipFill>
              <a:blip r:embed="rId3">
                <a:alphaModFix amt="0"/>
              </a:blip>
              <a:stretch>
                <a:fillRect l="0" t="-55949" r="0" b="-55949"/>
              </a:stretch>
            </a:blipFill>
          </p:spPr>
        </p:sp>
        <p:sp>
          <p:nvSpPr>
            <p:cNvPr name="TextBox 41" id="41"/>
            <p:cNvSpPr txBox="true"/>
            <p:nvPr/>
          </p:nvSpPr>
          <p:spPr>
            <a:xfrm>
              <a:off x="0" y="-47625"/>
              <a:ext cx="21214080" cy="3949065"/>
            </a:xfrm>
            <a:prstGeom prst="rect">
              <a:avLst/>
            </a:prstGeom>
          </p:spPr>
          <p:txBody>
            <a:bodyPr anchor="ctr" rtlCol="false" tIns="0" lIns="0" bIns="0" rIns="0"/>
            <a:lstStyle/>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Limited access to carbon trading platforms</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Lack of awareness about carbon credit systems</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Complex trading processes</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Difficulty tracking carbon offset impact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14963" y="451485"/>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85054" y="502282"/>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1088131" y="372742"/>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19"/>
                </a:lnSpc>
              </a:pPr>
              <a:r>
                <a:rPr lang="en-US" sz="4599" b="true">
                  <a:solidFill>
                    <a:srgbClr val="1A1A1A"/>
                  </a:solidFill>
                  <a:latin typeface="Times New Roman MT Bold"/>
                  <a:ea typeface="Times New Roman MT Bold"/>
                  <a:cs typeface="Times New Roman MT Bold"/>
                  <a:sym typeface="Times New Roman MT Bold"/>
                </a:rPr>
                <a:t>Proposed Solution</a:t>
              </a:r>
            </a:p>
          </p:txBody>
        </p:sp>
      </p:grpSp>
      <p:grpSp>
        <p:nvGrpSpPr>
          <p:cNvPr name="Group 33" id="33"/>
          <p:cNvGrpSpPr/>
          <p:nvPr/>
        </p:nvGrpSpPr>
        <p:grpSpPr>
          <a:xfrm rot="0">
            <a:off x="1188720" y="2011680"/>
            <a:ext cx="15910560" cy="2926080"/>
            <a:chOff x="0" y="0"/>
            <a:chExt cx="21214080" cy="3901440"/>
          </a:xfrm>
        </p:grpSpPr>
        <p:sp>
          <p:nvSpPr>
            <p:cNvPr name="Freeform 34" id="34"/>
            <p:cNvSpPr/>
            <p:nvPr/>
          </p:nvSpPr>
          <p:spPr>
            <a:xfrm flipH="false" flipV="false" rot="0">
              <a:off x="0" y="0"/>
              <a:ext cx="21214080" cy="3901440"/>
            </a:xfrm>
            <a:custGeom>
              <a:avLst/>
              <a:gdLst/>
              <a:ahLst/>
              <a:cxnLst/>
              <a:rect r="r" b="b" t="t" l="l"/>
              <a:pathLst>
                <a:path h="3901440" w="21214080">
                  <a:moveTo>
                    <a:pt x="0" y="0"/>
                  </a:moveTo>
                  <a:lnTo>
                    <a:pt x="21214080" y="0"/>
                  </a:lnTo>
                  <a:lnTo>
                    <a:pt x="21214080" y="3901440"/>
                  </a:lnTo>
                  <a:lnTo>
                    <a:pt x="0" y="3901440"/>
                  </a:lnTo>
                  <a:close/>
                </a:path>
              </a:pathLst>
            </a:custGeom>
            <a:blipFill>
              <a:blip r:embed="rId3">
                <a:alphaModFix amt="0"/>
              </a:blip>
              <a:stretch>
                <a:fillRect l="0" t="-55949" r="0" b="-55949"/>
              </a:stretch>
            </a:blipFill>
          </p:spPr>
        </p:sp>
        <p:sp>
          <p:nvSpPr>
            <p:cNvPr name="TextBox 35" id="35"/>
            <p:cNvSpPr txBox="true"/>
            <p:nvPr/>
          </p:nvSpPr>
          <p:spPr>
            <a:xfrm>
              <a:off x="0" y="-47625"/>
              <a:ext cx="21214080" cy="3949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To address this problem, our project proposes a Carbon Offset Marketplace Simulation. This platform will demonstrate how a carbon credit marketplace works by allowing users to browse carbon projects, purchase carbon credits, sell credits, and track their carbon offset portfolio. The simulation will help users understand the process of carbon trading and encourage participation in sustainability initiatives.</a:t>
              </a:r>
            </a:p>
          </p:txBody>
        </p:sp>
      </p:grpSp>
      <p:grpSp>
        <p:nvGrpSpPr>
          <p:cNvPr name="Group 36" id="36"/>
          <p:cNvGrpSpPr/>
          <p:nvPr/>
        </p:nvGrpSpPr>
        <p:grpSpPr>
          <a:xfrm rot="0">
            <a:off x="1828800" y="5029200"/>
            <a:ext cx="7315200" cy="640080"/>
            <a:chOff x="0" y="0"/>
            <a:chExt cx="9753600" cy="853440"/>
          </a:xfrm>
        </p:grpSpPr>
        <p:sp>
          <p:nvSpPr>
            <p:cNvPr name="Freeform 37" id="37"/>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38" id="38"/>
            <p:cNvSpPr txBox="true"/>
            <p:nvPr/>
          </p:nvSpPr>
          <p:spPr>
            <a:xfrm>
              <a:off x="0" y="-47625"/>
              <a:ext cx="97536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Key Features</a:t>
              </a:r>
            </a:p>
          </p:txBody>
        </p:sp>
      </p:grpSp>
      <p:grpSp>
        <p:nvGrpSpPr>
          <p:cNvPr name="Group 39" id="39"/>
          <p:cNvGrpSpPr/>
          <p:nvPr/>
        </p:nvGrpSpPr>
        <p:grpSpPr>
          <a:xfrm rot="0">
            <a:off x="1199893" y="5349240"/>
            <a:ext cx="15910560" cy="2926080"/>
            <a:chOff x="0" y="0"/>
            <a:chExt cx="21214080" cy="3901440"/>
          </a:xfrm>
        </p:grpSpPr>
        <p:sp>
          <p:nvSpPr>
            <p:cNvPr name="Freeform 40" id="40"/>
            <p:cNvSpPr/>
            <p:nvPr/>
          </p:nvSpPr>
          <p:spPr>
            <a:xfrm flipH="false" flipV="false" rot="0">
              <a:off x="0" y="0"/>
              <a:ext cx="21214080" cy="3901440"/>
            </a:xfrm>
            <a:custGeom>
              <a:avLst/>
              <a:gdLst/>
              <a:ahLst/>
              <a:cxnLst/>
              <a:rect r="r" b="b" t="t" l="l"/>
              <a:pathLst>
                <a:path h="3901440" w="21214080">
                  <a:moveTo>
                    <a:pt x="0" y="0"/>
                  </a:moveTo>
                  <a:lnTo>
                    <a:pt x="21214080" y="0"/>
                  </a:lnTo>
                  <a:lnTo>
                    <a:pt x="21214080" y="3901440"/>
                  </a:lnTo>
                  <a:lnTo>
                    <a:pt x="0" y="3901440"/>
                  </a:lnTo>
                  <a:close/>
                </a:path>
              </a:pathLst>
            </a:custGeom>
            <a:blipFill>
              <a:blip r:embed="rId3">
                <a:alphaModFix amt="0"/>
              </a:blip>
              <a:stretch>
                <a:fillRect l="0" t="-55949" r="0" b="-55949"/>
              </a:stretch>
            </a:blipFill>
          </p:spPr>
        </p:sp>
        <p:sp>
          <p:nvSpPr>
            <p:cNvPr name="TextBox 41" id="41"/>
            <p:cNvSpPr txBox="true"/>
            <p:nvPr/>
          </p:nvSpPr>
          <p:spPr>
            <a:xfrm>
              <a:off x="0" y="-47625"/>
              <a:ext cx="21214080" cy="3949065"/>
            </a:xfrm>
            <a:prstGeom prst="rect">
              <a:avLst/>
            </a:prstGeom>
          </p:spPr>
          <p:txBody>
            <a:bodyPr anchor="ctr" rtlCol="false" tIns="0" lIns="0" bIns="0" rIns="0"/>
            <a:lstStyle/>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Browse carbon offset projects</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Buy carbon credits</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Sell carbon credits</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Track carbon credit portfolio</a:t>
              </a:r>
            </a:p>
            <a:p>
              <a:pPr algn="l" marL="675640" indent="-337820" lvl="1">
                <a:lnSpc>
                  <a:spcPts val="3359"/>
                </a:lnSpc>
                <a:buFont typeface="Arial"/>
                <a:buChar char="•"/>
              </a:pPr>
              <a:r>
                <a:rPr lang="en-US" sz="2799">
                  <a:solidFill>
                    <a:srgbClr val="1A1A1A"/>
                  </a:solidFill>
                  <a:latin typeface="Calibri (MS)"/>
                  <a:ea typeface="Calibri (MS)"/>
                  <a:cs typeface="Calibri (MS)"/>
                  <a:sym typeface="Calibri (MS)"/>
                </a:rPr>
                <a:t>Retire credits to offset emissions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65765" y="327001"/>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0453" y="377797"/>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1133861" y="352399"/>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Project Objectives (Goals)</a:t>
              </a:r>
            </a:p>
          </p:txBody>
        </p:sp>
      </p:grpSp>
      <p:grpSp>
        <p:nvGrpSpPr>
          <p:cNvPr name="Group 33" id="33"/>
          <p:cNvGrpSpPr/>
          <p:nvPr/>
        </p:nvGrpSpPr>
        <p:grpSpPr>
          <a:xfrm rot="0">
            <a:off x="1188720" y="2011680"/>
            <a:ext cx="3291840" cy="640080"/>
            <a:chOff x="0" y="0"/>
            <a:chExt cx="4389120" cy="853440"/>
          </a:xfrm>
        </p:grpSpPr>
        <p:sp>
          <p:nvSpPr>
            <p:cNvPr name="Freeform 34" id="34"/>
            <p:cNvSpPr/>
            <p:nvPr/>
          </p:nvSpPr>
          <p:spPr>
            <a:xfrm flipH="false" flipV="false" rot="0">
              <a:off x="0" y="0"/>
              <a:ext cx="4389120" cy="853440"/>
            </a:xfrm>
            <a:custGeom>
              <a:avLst/>
              <a:gdLst/>
              <a:ahLst/>
              <a:cxnLst/>
              <a:rect r="r" b="b" t="t" l="l"/>
              <a:pathLst>
                <a:path h="853440" w="4389120">
                  <a:moveTo>
                    <a:pt x="0" y="0"/>
                  </a:moveTo>
                  <a:lnTo>
                    <a:pt x="4389120" y="0"/>
                  </a:lnTo>
                  <a:lnTo>
                    <a:pt x="4389120" y="853440"/>
                  </a:lnTo>
                  <a:lnTo>
                    <a:pt x="0" y="853440"/>
                  </a:lnTo>
                  <a:close/>
                </a:path>
              </a:pathLst>
            </a:custGeom>
            <a:blipFill>
              <a:blip r:embed="rId3">
                <a:alphaModFix amt="0"/>
              </a:blip>
              <a:stretch>
                <a:fillRect l="0" t="-50208" r="0" b="-50208"/>
              </a:stretch>
            </a:blipFill>
          </p:spPr>
        </p:sp>
        <p:sp>
          <p:nvSpPr>
            <p:cNvPr name="TextBox 35" id="35"/>
            <p:cNvSpPr txBox="true"/>
            <p:nvPr/>
          </p:nvSpPr>
          <p:spPr>
            <a:xfrm>
              <a:off x="0" y="-47625"/>
              <a:ext cx="4389120" cy="901065"/>
            </a:xfrm>
            <a:prstGeom prst="rect">
              <a:avLst/>
            </a:prstGeom>
          </p:spPr>
          <p:txBody>
            <a:bodyPr anchor="ctr" rtlCol="false" tIns="0" lIns="0" bIns="0" rIns="0"/>
            <a:lstStyle/>
            <a:p>
              <a:pPr algn="l">
                <a:lnSpc>
                  <a:spcPts val="3359"/>
                </a:lnSpc>
              </a:pPr>
              <a:r>
                <a:rPr lang="en-US" b="true" sz="2799" u="sng">
                  <a:solidFill>
                    <a:srgbClr val="1A1A1A"/>
                  </a:solidFill>
                  <a:latin typeface="Calibri (MS) Bold"/>
                  <a:ea typeface="Calibri (MS) Bold"/>
                  <a:cs typeface="Calibri (MS) Bold"/>
                  <a:sym typeface="Calibri (MS) Bold"/>
                </a:rPr>
                <a:t>Specific</a:t>
              </a:r>
            </a:p>
          </p:txBody>
        </p:sp>
      </p:grpSp>
      <p:grpSp>
        <p:nvGrpSpPr>
          <p:cNvPr name="Group 36" id="36"/>
          <p:cNvGrpSpPr/>
          <p:nvPr/>
        </p:nvGrpSpPr>
        <p:grpSpPr>
          <a:xfrm rot="0">
            <a:off x="4663440" y="2011680"/>
            <a:ext cx="12801600" cy="640080"/>
            <a:chOff x="0" y="0"/>
            <a:chExt cx="17068800" cy="853440"/>
          </a:xfrm>
        </p:grpSpPr>
        <p:sp>
          <p:nvSpPr>
            <p:cNvPr name="Freeform 37" id="37"/>
            <p:cNvSpPr/>
            <p:nvPr/>
          </p:nvSpPr>
          <p:spPr>
            <a:xfrm flipH="false" flipV="false" rot="0">
              <a:off x="0" y="0"/>
              <a:ext cx="17068800" cy="853440"/>
            </a:xfrm>
            <a:custGeom>
              <a:avLst/>
              <a:gdLst/>
              <a:ahLst/>
              <a:cxnLst/>
              <a:rect r="r" b="b" t="t" l="l"/>
              <a:pathLst>
                <a:path h="853440" w="17068800">
                  <a:moveTo>
                    <a:pt x="0" y="0"/>
                  </a:moveTo>
                  <a:lnTo>
                    <a:pt x="17068800" y="0"/>
                  </a:lnTo>
                  <a:lnTo>
                    <a:pt x="17068800" y="853440"/>
                  </a:lnTo>
                  <a:lnTo>
                    <a:pt x="0" y="853440"/>
                  </a:lnTo>
                  <a:close/>
                </a:path>
              </a:pathLst>
            </a:custGeom>
            <a:blipFill>
              <a:blip r:embed="rId3">
                <a:alphaModFix amt="0"/>
              </a:blip>
              <a:stretch>
                <a:fillRect l="0" t="-339700" r="0" b="-339700"/>
              </a:stretch>
            </a:blipFill>
          </p:spPr>
        </p:sp>
        <p:sp>
          <p:nvSpPr>
            <p:cNvPr name="TextBox 38" id="38"/>
            <p:cNvSpPr txBox="true"/>
            <p:nvPr/>
          </p:nvSpPr>
          <p:spPr>
            <a:xfrm>
              <a:off x="0" y="-47625"/>
              <a:ext cx="170688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Build a simulated carbon credit marketplace.</a:t>
              </a:r>
            </a:p>
          </p:txBody>
        </p:sp>
      </p:grpSp>
      <p:grpSp>
        <p:nvGrpSpPr>
          <p:cNvPr name="Group 39" id="39"/>
          <p:cNvGrpSpPr/>
          <p:nvPr/>
        </p:nvGrpSpPr>
        <p:grpSpPr>
          <a:xfrm rot="0">
            <a:off x="1188720" y="3328416"/>
            <a:ext cx="3291840" cy="640080"/>
            <a:chOff x="0" y="0"/>
            <a:chExt cx="4389120" cy="853440"/>
          </a:xfrm>
        </p:grpSpPr>
        <p:sp>
          <p:nvSpPr>
            <p:cNvPr name="Freeform 40" id="40"/>
            <p:cNvSpPr/>
            <p:nvPr/>
          </p:nvSpPr>
          <p:spPr>
            <a:xfrm flipH="false" flipV="false" rot="0">
              <a:off x="0" y="0"/>
              <a:ext cx="4389120" cy="853440"/>
            </a:xfrm>
            <a:custGeom>
              <a:avLst/>
              <a:gdLst/>
              <a:ahLst/>
              <a:cxnLst/>
              <a:rect r="r" b="b" t="t" l="l"/>
              <a:pathLst>
                <a:path h="853440" w="4389120">
                  <a:moveTo>
                    <a:pt x="0" y="0"/>
                  </a:moveTo>
                  <a:lnTo>
                    <a:pt x="4389120" y="0"/>
                  </a:lnTo>
                  <a:lnTo>
                    <a:pt x="4389120" y="853440"/>
                  </a:lnTo>
                  <a:lnTo>
                    <a:pt x="0" y="853440"/>
                  </a:lnTo>
                  <a:close/>
                </a:path>
              </a:pathLst>
            </a:custGeom>
            <a:blipFill>
              <a:blip r:embed="rId3">
                <a:alphaModFix amt="0"/>
              </a:blip>
              <a:stretch>
                <a:fillRect l="0" t="-50208" r="0" b="-50208"/>
              </a:stretch>
            </a:blipFill>
          </p:spPr>
        </p:sp>
        <p:sp>
          <p:nvSpPr>
            <p:cNvPr name="TextBox 41" id="41"/>
            <p:cNvSpPr txBox="true"/>
            <p:nvPr/>
          </p:nvSpPr>
          <p:spPr>
            <a:xfrm>
              <a:off x="0" y="-47625"/>
              <a:ext cx="4389120" cy="901065"/>
            </a:xfrm>
            <a:prstGeom prst="rect">
              <a:avLst/>
            </a:prstGeom>
          </p:spPr>
          <p:txBody>
            <a:bodyPr anchor="ctr" rtlCol="false" tIns="0" lIns="0" bIns="0" rIns="0"/>
            <a:lstStyle/>
            <a:p>
              <a:pPr algn="l">
                <a:lnSpc>
                  <a:spcPts val="3359"/>
                </a:lnSpc>
              </a:pPr>
              <a:r>
                <a:rPr lang="en-US" b="true" sz="2799" u="sng">
                  <a:solidFill>
                    <a:srgbClr val="1A1A1A"/>
                  </a:solidFill>
                  <a:latin typeface="Calibri (MS) Bold"/>
                  <a:ea typeface="Calibri (MS) Bold"/>
                  <a:cs typeface="Calibri (MS) Bold"/>
                  <a:sym typeface="Calibri (MS) Bold"/>
                </a:rPr>
                <a:t>Measurable</a:t>
              </a:r>
            </a:p>
          </p:txBody>
        </p:sp>
      </p:grpSp>
      <p:grpSp>
        <p:nvGrpSpPr>
          <p:cNvPr name="Group 42" id="42"/>
          <p:cNvGrpSpPr/>
          <p:nvPr/>
        </p:nvGrpSpPr>
        <p:grpSpPr>
          <a:xfrm rot="0">
            <a:off x="4663440" y="3328416"/>
            <a:ext cx="12801600" cy="640080"/>
            <a:chOff x="0" y="0"/>
            <a:chExt cx="17068800" cy="853440"/>
          </a:xfrm>
        </p:grpSpPr>
        <p:sp>
          <p:nvSpPr>
            <p:cNvPr name="Freeform 43" id="43"/>
            <p:cNvSpPr/>
            <p:nvPr/>
          </p:nvSpPr>
          <p:spPr>
            <a:xfrm flipH="false" flipV="false" rot="0">
              <a:off x="0" y="0"/>
              <a:ext cx="17068800" cy="853440"/>
            </a:xfrm>
            <a:custGeom>
              <a:avLst/>
              <a:gdLst/>
              <a:ahLst/>
              <a:cxnLst/>
              <a:rect r="r" b="b" t="t" l="l"/>
              <a:pathLst>
                <a:path h="853440" w="17068800">
                  <a:moveTo>
                    <a:pt x="0" y="0"/>
                  </a:moveTo>
                  <a:lnTo>
                    <a:pt x="17068800" y="0"/>
                  </a:lnTo>
                  <a:lnTo>
                    <a:pt x="17068800" y="853440"/>
                  </a:lnTo>
                  <a:lnTo>
                    <a:pt x="0" y="853440"/>
                  </a:lnTo>
                  <a:close/>
                </a:path>
              </a:pathLst>
            </a:custGeom>
            <a:blipFill>
              <a:blip r:embed="rId3">
                <a:alphaModFix amt="0"/>
              </a:blip>
              <a:stretch>
                <a:fillRect l="0" t="-339700" r="0" b="-339700"/>
              </a:stretch>
            </a:blipFill>
          </p:spPr>
        </p:sp>
        <p:sp>
          <p:nvSpPr>
            <p:cNvPr name="TextBox 44" id="44"/>
            <p:cNvSpPr txBox="true"/>
            <p:nvPr/>
          </p:nvSpPr>
          <p:spPr>
            <a:xfrm>
              <a:off x="0" y="-47625"/>
              <a:ext cx="170688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Track the number of credits traded and CO₂ offset.</a:t>
              </a:r>
            </a:p>
          </p:txBody>
        </p:sp>
      </p:grpSp>
      <p:grpSp>
        <p:nvGrpSpPr>
          <p:cNvPr name="Group 45" id="45"/>
          <p:cNvGrpSpPr/>
          <p:nvPr/>
        </p:nvGrpSpPr>
        <p:grpSpPr>
          <a:xfrm rot="0">
            <a:off x="1188720" y="4645152"/>
            <a:ext cx="3291840" cy="640080"/>
            <a:chOff x="0" y="0"/>
            <a:chExt cx="4389120" cy="853440"/>
          </a:xfrm>
        </p:grpSpPr>
        <p:sp>
          <p:nvSpPr>
            <p:cNvPr name="Freeform 46" id="46"/>
            <p:cNvSpPr/>
            <p:nvPr/>
          </p:nvSpPr>
          <p:spPr>
            <a:xfrm flipH="false" flipV="false" rot="0">
              <a:off x="0" y="0"/>
              <a:ext cx="4389120" cy="853440"/>
            </a:xfrm>
            <a:custGeom>
              <a:avLst/>
              <a:gdLst/>
              <a:ahLst/>
              <a:cxnLst/>
              <a:rect r="r" b="b" t="t" l="l"/>
              <a:pathLst>
                <a:path h="853440" w="4389120">
                  <a:moveTo>
                    <a:pt x="0" y="0"/>
                  </a:moveTo>
                  <a:lnTo>
                    <a:pt x="4389120" y="0"/>
                  </a:lnTo>
                  <a:lnTo>
                    <a:pt x="4389120" y="853440"/>
                  </a:lnTo>
                  <a:lnTo>
                    <a:pt x="0" y="853440"/>
                  </a:lnTo>
                  <a:close/>
                </a:path>
              </a:pathLst>
            </a:custGeom>
            <a:blipFill>
              <a:blip r:embed="rId3">
                <a:alphaModFix amt="0"/>
              </a:blip>
              <a:stretch>
                <a:fillRect l="0" t="-50208" r="0" b="-50208"/>
              </a:stretch>
            </a:blipFill>
          </p:spPr>
        </p:sp>
        <p:sp>
          <p:nvSpPr>
            <p:cNvPr name="TextBox 47" id="47"/>
            <p:cNvSpPr txBox="true"/>
            <p:nvPr/>
          </p:nvSpPr>
          <p:spPr>
            <a:xfrm>
              <a:off x="0" y="-47625"/>
              <a:ext cx="4389120" cy="901065"/>
            </a:xfrm>
            <a:prstGeom prst="rect">
              <a:avLst/>
            </a:prstGeom>
          </p:spPr>
          <p:txBody>
            <a:bodyPr anchor="ctr" rtlCol="false" tIns="0" lIns="0" bIns="0" rIns="0"/>
            <a:lstStyle/>
            <a:p>
              <a:pPr algn="l">
                <a:lnSpc>
                  <a:spcPts val="3359"/>
                </a:lnSpc>
              </a:pPr>
              <a:r>
                <a:rPr lang="en-US" b="true" sz="2799" u="sng">
                  <a:solidFill>
                    <a:srgbClr val="1A1A1A"/>
                  </a:solidFill>
                  <a:latin typeface="Calibri (MS) Bold"/>
                  <a:ea typeface="Calibri (MS) Bold"/>
                  <a:cs typeface="Calibri (MS) Bold"/>
                  <a:sym typeface="Calibri (MS) Bold"/>
                </a:rPr>
                <a:t>Achievable</a:t>
              </a:r>
            </a:p>
          </p:txBody>
        </p:sp>
      </p:grpSp>
      <p:grpSp>
        <p:nvGrpSpPr>
          <p:cNvPr name="Group 48" id="48"/>
          <p:cNvGrpSpPr/>
          <p:nvPr/>
        </p:nvGrpSpPr>
        <p:grpSpPr>
          <a:xfrm rot="0">
            <a:off x="4663440" y="4645152"/>
            <a:ext cx="12801600" cy="640080"/>
            <a:chOff x="0" y="0"/>
            <a:chExt cx="17068800" cy="853440"/>
          </a:xfrm>
        </p:grpSpPr>
        <p:sp>
          <p:nvSpPr>
            <p:cNvPr name="Freeform 49" id="49"/>
            <p:cNvSpPr/>
            <p:nvPr/>
          </p:nvSpPr>
          <p:spPr>
            <a:xfrm flipH="false" flipV="false" rot="0">
              <a:off x="0" y="0"/>
              <a:ext cx="17068800" cy="853440"/>
            </a:xfrm>
            <a:custGeom>
              <a:avLst/>
              <a:gdLst/>
              <a:ahLst/>
              <a:cxnLst/>
              <a:rect r="r" b="b" t="t" l="l"/>
              <a:pathLst>
                <a:path h="853440" w="17068800">
                  <a:moveTo>
                    <a:pt x="0" y="0"/>
                  </a:moveTo>
                  <a:lnTo>
                    <a:pt x="17068800" y="0"/>
                  </a:lnTo>
                  <a:lnTo>
                    <a:pt x="17068800" y="853440"/>
                  </a:lnTo>
                  <a:lnTo>
                    <a:pt x="0" y="853440"/>
                  </a:lnTo>
                  <a:close/>
                </a:path>
              </a:pathLst>
            </a:custGeom>
            <a:blipFill>
              <a:blip r:embed="rId3">
                <a:alphaModFix amt="0"/>
              </a:blip>
              <a:stretch>
                <a:fillRect l="0" t="-339700" r="0" b="-339700"/>
              </a:stretch>
            </a:blipFill>
          </p:spPr>
        </p:sp>
        <p:sp>
          <p:nvSpPr>
            <p:cNvPr name="TextBox 50" id="50"/>
            <p:cNvSpPr txBox="true"/>
            <p:nvPr/>
          </p:nvSpPr>
          <p:spPr>
            <a:xfrm>
              <a:off x="0" y="-47625"/>
              <a:ext cx="170688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Use tools like HTML/CSS, Tableau, Google Forms, and Netlify.</a:t>
              </a:r>
            </a:p>
          </p:txBody>
        </p:sp>
      </p:grpSp>
      <p:grpSp>
        <p:nvGrpSpPr>
          <p:cNvPr name="Group 51" id="51"/>
          <p:cNvGrpSpPr/>
          <p:nvPr/>
        </p:nvGrpSpPr>
        <p:grpSpPr>
          <a:xfrm rot="0">
            <a:off x="1188720" y="5961888"/>
            <a:ext cx="3291840" cy="640080"/>
            <a:chOff x="0" y="0"/>
            <a:chExt cx="4389120" cy="853440"/>
          </a:xfrm>
        </p:grpSpPr>
        <p:sp>
          <p:nvSpPr>
            <p:cNvPr name="Freeform 52" id="52"/>
            <p:cNvSpPr/>
            <p:nvPr/>
          </p:nvSpPr>
          <p:spPr>
            <a:xfrm flipH="false" flipV="false" rot="0">
              <a:off x="0" y="0"/>
              <a:ext cx="4389120" cy="853440"/>
            </a:xfrm>
            <a:custGeom>
              <a:avLst/>
              <a:gdLst/>
              <a:ahLst/>
              <a:cxnLst/>
              <a:rect r="r" b="b" t="t" l="l"/>
              <a:pathLst>
                <a:path h="853440" w="4389120">
                  <a:moveTo>
                    <a:pt x="0" y="0"/>
                  </a:moveTo>
                  <a:lnTo>
                    <a:pt x="4389120" y="0"/>
                  </a:lnTo>
                  <a:lnTo>
                    <a:pt x="4389120" y="853440"/>
                  </a:lnTo>
                  <a:lnTo>
                    <a:pt x="0" y="853440"/>
                  </a:lnTo>
                  <a:close/>
                </a:path>
              </a:pathLst>
            </a:custGeom>
            <a:blipFill>
              <a:blip r:embed="rId3">
                <a:alphaModFix amt="0"/>
              </a:blip>
              <a:stretch>
                <a:fillRect l="0" t="-50208" r="0" b="-50208"/>
              </a:stretch>
            </a:blipFill>
          </p:spPr>
        </p:sp>
        <p:sp>
          <p:nvSpPr>
            <p:cNvPr name="TextBox 53" id="53"/>
            <p:cNvSpPr txBox="true"/>
            <p:nvPr/>
          </p:nvSpPr>
          <p:spPr>
            <a:xfrm>
              <a:off x="0" y="-47625"/>
              <a:ext cx="4389120" cy="901065"/>
            </a:xfrm>
            <a:prstGeom prst="rect">
              <a:avLst/>
            </a:prstGeom>
          </p:spPr>
          <p:txBody>
            <a:bodyPr anchor="ctr" rtlCol="false" tIns="0" lIns="0" bIns="0" rIns="0"/>
            <a:lstStyle/>
            <a:p>
              <a:pPr algn="l">
                <a:lnSpc>
                  <a:spcPts val="3359"/>
                </a:lnSpc>
              </a:pPr>
              <a:r>
                <a:rPr lang="en-US" b="true" sz="2799" u="sng">
                  <a:solidFill>
                    <a:srgbClr val="1A1A1A"/>
                  </a:solidFill>
                  <a:latin typeface="Calibri (MS) Bold"/>
                  <a:ea typeface="Calibri (MS) Bold"/>
                  <a:cs typeface="Calibri (MS) Bold"/>
                  <a:sym typeface="Calibri (MS) Bold"/>
                </a:rPr>
                <a:t>Relevant</a:t>
              </a:r>
            </a:p>
          </p:txBody>
        </p:sp>
      </p:grpSp>
      <p:grpSp>
        <p:nvGrpSpPr>
          <p:cNvPr name="Group 54" id="54"/>
          <p:cNvGrpSpPr/>
          <p:nvPr/>
        </p:nvGrpSpPr>
        <p:grpSpPr>
          <a:xfrm rot="0">
            <a:off x="4663440" y="5961888"/>
            <a:ext cx="12801600" cy="640080"/>
            <a:chOff x="0" y="0"/>
            <a:chExt cx="17068800" cy="853440"/>
          </a:xfrm>
        </p:grpSpPr>
        <p:sp>
          <p:nvSpPr>
            <p:cNvPr name="Freeform 55" id="55"/>
            <p:cNvSpPr/>
            <p:nvPr/>
          </p:nvSpPr>
          <p:spPr>
            <a:xfrm flipH="false" flipV="false" rot="0">
              <a:off x="0" y="0"/>
              <a:ext cx="17068800" cy="853440"/>
            </a:xfrm>
            <a:custGeom>
              <a:avLst/>
              <a:gdLst/>
              <a:ahLst/>
              <a:cxnLst/>
              <a:rect r="r" b="b" t="t" l="l"/>
              <a:pathLst>
                <a:path h="853440" w="17068800">
                  <a:moveTo>
                    <a:pt x="0" y="0"/>
                  </a:moveTo>
                  <a:lnTo>
                    <a:pt x="17068800" y="0"/>
                  </a:lnTo>
                  <a:lnTo>
                    <a:pt x="17068800" y="853440"/>
                  </a:lnTo>
                  <a:lnTo>
                    <a:pt x="0" y="853440"/>
                  </a:lnTo>
                  <a:close/>
                </a:path>
              </a:pathLst>
            </a:custGeom>
            <a:blipFill>
              <a:blip r:embed="rId3">
                <a:alphaModFix amt="0"/>
              </a:blip>
              <a:stretch>
                <a:fillRect l="0" t="-339700" r="0" b="-339700"/>
              </a:stretch>
            </a:blipFill>
          </p:spPr>
        </p:sp>
        <p:sp>
          <p:nvSpPr>
            <p:cNvPr name="TextBox 56" id="56"/>
            <p:cNvSpPr txBox="true"/>
            <p:nvPr/>
          </p:nvSpPr>
          <p:spPr>
            <a:xfrm>
              <a:off x="0" y="-47625"/>
              <a:ext cx="170688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Supports sustainability awareness and carbon finance education.</a:t>
              </a:r>
            </a:p>
          </p:txBody>
        </p:sp>
      </p:grpSp>
      <p:grpSp>
        <p:nvGrpSpPr>
          <p:cNvPr name="Group 57" id="57"/>
          <p:cNvGrpSpPr/>
          <p:nvPr/>
        </p:nvGrpSpPr>
        <p:grpSpPr>
          <a:xfrm rot="0">
            <a:off x="1188720" y="7278624"/>
            <a:ext cx="3291840" cy="640080"/>
            <a:chOff x="0" y="0"/>
            <a:chExt cx="4389120" cy="853440"/>
          </a:xfrm>
        </p:grpSpPr>
        <p:sp>
          <p:nvSpPr>
            <p:cNvPr name="Freeform 58" id="58"/>
            <p:cNvSpPr/>
            <p:nvPr/>
          </p:nvSpPr>
          <p:spPr>
            <a:xfrm flipH="false" flipV="false" rot="0">
              <a:off x="0" y="0"/>
              <a:ext cx="4389120" cy="853440"/>
            </a:xfrm>
            <a:custGeom>
              <a:avLst/>
              <a:gdLst/>
              <a:ahLst/>
              <a:cxnLst/>
              <a:rect r="r" b="b" t="t" l="l"/>
              <a:pathLst>
                <a:path h="853440" w="4389120">
                  <a:moveTo>
                    <a:pt x="0" y="0"/>
                  </a:moveTo>
                  <a:lnTo>
                    <a:pt x="4389120" y="0"/>
                  </a:lnTo>
                  <a:lnTo>
                    <a:pt x="4389120" y="853440"/>
                  </a:lnTo>
                  <a:lnTo>
                    <a:pt x="0" y="853440"/>
                  </a:lnTo>
                  <a:close/>
                </a:path>
              </a:pathLst>
            </a:custGeom>
            <a:blipFill>
              <a:blip r:embed="rId3">
                <a:alphaModFix amt="0"/>
              </a:blip>
              <a:stretch>
                <a:fillRect l="0" t="-50208" r="0" b="-50208"/>
              </a:stretch>
            </a:blipFill>
          </p:spPr>
        </p:sp>
        <p:sp>
          <p:nvSpPr>
            <p:cNvPr name="TextBox 59" id="59"/>
            <p:cNvSpPr txBox="true"/>
            <p:nvPr/>
          </p:nvSpPr>
          <p:spPr>
            <a:xfrm>
              <a:off x="0" y="-47625"/>
              <a:ext cx="4389120" cy="901065"/>
            </a:xfrm>
            <a:prstGeom prst="rect">
              <a:avLst/>
            </a:prstGeom>
          </p:spPr>
          <p:txBody>
            <a:bodyPr anchor="ctr" rtlCol="false" tIns="0" lIns="0" bIns="0" rIns="0"/>
            <a:lstStyle/>
            <a:p>
              <a:pPr algn="l">
                <a:lnSpc>
                  <a:spcPts val="3359"/>
                </a:lnSpc>
              </a:pPr>
              <a:r>
                <a:rPr lang="en-US" b="true" sz="2799" u="sng">
                  <a:solidFill>
                    <a:srgbClr val="1A1A1A"/>
                  </a:solidFill>
                  <a:latin typeface="Calibri (MS) Bold"/>
                  <a:ea typeface="Calibri (MS) Bold"/>
                  <a:cs typeface="Calibri (MS) Bold"/>
                  <a:sym typeface="Calibri (MS) Bold"/>
                </a:rPr>
                <a:t>Time-Bound</a:t>
              </a:r>
            </a:p>
          </p:txBody>
        </p:sp>
      </p:grpSp>
      <p:grpSp>
        <p:nvGrpSpPr>
          <p:cNvPr name="Group 60" id="60"/>
          <p:cNvGrpSpPr/>
          <p:nvPr/>
        </p:nvGrpSpPr>
        <p:grpSpPr>
          <a:xfrm rot="0">
            <a:off x="4663440" y="7278624"/>
            <a:ext cx="12801600" cy="640080"/>
            <a:chOff x="0" y="0"/>
            <a:chExt cx="17068800" cy="853440"/>
          </a:xfrm>
        </p:grpSpPr>
        <p:sp>
          <p:nvSpPr>
            <p:cNvPr name="Freeform 61" id="61"/>
            <p:cNvSpPr/>
            <p:nvPr/>
          </p:nvSpPr>
          <p:spPr>
            <a:xfrm flipH="false" flipV="false" rot="0">
              <a:off x="0" y="0"/>
              <a:ext cx="17068800" cy="853440"/>
            </a:xfrm>
            <a:custGeom>
              <a:avLst/>
              <a:gdLst/>
              <a:ahLst/>
              <a:cxnLst/>
              <a:rect r="r" b="b" t="t" l="l"/>
              <a:pathLst>
                <a:path h="853440" w="17068800">
                  <a:moveTo>
                    <a:pt x="0" y="0"/>
                  </a:moveTo>
                  <a:lnTo>
                    <a:pt x="17068800" y="0"/>
                  </a:lnTo>
                  <a:lnTo>
                    <a:pt x="17068800" y="853440"/>
                  </a:lnTo>
                  <a:lnTo>
                    <a:pt x="0" y="853440"/>
                  </a:lnTo>
                  <a:close/>
                </a:path>
              </a:pathLst>
            </a:custGeom>
            <a:blipFill>
              <a:blip r:embed="rId3">
                <a:alphaModFix amt="0"/>
              </a:blip>
              <a:stretch>
                <a:fillRect l="0" t="-339700" r="0" b="-339700"/>
              </a:stretch>
            </a:blipFill>
          </p:spPr>
        </p:sp>
        <p:sp>
          <p:nvSpPr>
            <p:cNvPr name="TextBox 62" id="62"/>
            <p:cNvSpPr txBox="true"/>
            <p:nvPr/>
          </p:nvSpPr>
          <p:spPr>
            <a:xfrm>
              <a:off x="0" y="-47625"/>
              <a:ext cx="170688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Complete the prototype within the internship timeline.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379095"/>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48488" y="530114"/>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1133861" y="429892"/>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System Architecture</a:t>
              </a:r>
            </a:p>
          </p:txBody>
        </p:sp>
      </p:grpSp>
      <p:grpSp>
        <p:nvGrpSpPr>
          <p:cNvPr name="Group 33" id="33"/>
          <p:cNvGrpSpPr/>
          <p:nvPr/>
        </p:nvGrpSpPr>
        <p:grpSpPr>
          <a:xfrm rot="0">
            <a:off x="1188720" y="2011680"/>
            <a:ext cx="15910560" cy="731520"/>
            <a:chOff x="0" y="0"/>
            <a:chExt cx="21214080" cy="975360"/>
          </a:xfrm>
        </p:grpSpPr>
        <p:sp>
          <p:nvSpPr>
            <p:cNvPr name="Freeform 34" id="34"/>
            <p:cNvSpPr/>
            <p:nvPr/>
          </p:nvSpPr>
          <p:spPr>
            <a:xfrm flipH="false" flipV="false" rot="0">
              <a:off x="0" y="0"/>
              <a:ext cx="21214080" cy="975360"/>
            </a:xfrm>
            <a:custGeom>
              <a:avLst/>
              <a:gdLst/>
              <a:ahLst/>
              <a:cxnLst/>
              <a:rect r="r" b="b" t="t" l="l"/>
              <a:pathLst>
                <a:path h="975360" w="21214080">
                  <a:moveTo>
                    <a:pt x="0" y="0"/>
                  </a:moveTo>
                  <a:lnTo>
                    <a:pt x="21214080" y="0"/>
                  </a:lnTo>
                  <a:lnTo>
                    <a:pt x="21214080" y="975360"/>
                  </a:lnTo>
                  <a:lnTo>
                    <a:pt x="0" y="975360"/>
                  </a:lnTo>
                  <a:close/>
                </a:path>
              </a:pathLst>
            </a:custGeom>
            <a:blipFill>
              <a:blip r:embed="rId3">
                <a:alphaModFix amt="0"/>
              </a:blip>
              <a:stretch>
                <a:fillRect l="0" t="-373799" r="0" b="-373799"/>
              </a:stretch>
            </a:blipFill>
          </p:spPr>
        </p:sp>
        <p:sp>
          <p:nvSpPr>
            <p:cNvPr name="TextBox 35" id="35"/>
            <p:cNvSpPr txBox="true"/>
            <p:nvPr/>
          </p:nvSpPr>
          <p:spPr>
            <a:xfrm>
              <a:off x="0" y="-47625"/>
              <a:ext cx="21214080" cy="102298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Our project includes three main components.</a:t>
              </a:r>
            </a:p>
          </p:txBody>
        </p:sp>
      </p:grpSp>
      <p:grpSp>
        <p:nvGrpSpPr>
          <p:cNvPr name="Group 36" id="36"/>
          <p:cNvGrpSpPr/>
          <p:nvPr/>
        </p:nvGrpSpPr>
        <p:grpSpPr>
          <a:xfrm rot="0">
            <a:off x="1188720" y="3017520"/>
            <a:ext cx="4572000" cy="640080"/>
            <a:chOff x="0" y="0"/>
            <a:chExt cx="6096000" cy="853440"/>
          </a:xfrm>
        </p:grpSpPr>
        <p:sp>
          <p:nvSpPr>
            <p:cNvPr name="Freeform 37" id="37"/>
            <p:cNvSpPr/>
            <p:nvPr/>
          </p:nvSpPr>
          <p:spPr>
            <a:xfrm flipH="false" flipV="false" rot="0">
              <a:off x="0" y="0"/>
              <a:ext cx="6096000" cy="853440"/>
            </a:xfrm>
            <a:custGeom>
              <a:avLst/>
              <a:gdLst/>
              <a:ahLst/>
              <a:cxnLst/>
              <a:rect r="r" b="b" t="t" l="l"/>
              <a:pathLst>
                <a:path h="853440" w="6096000">
                  <a:moveTo>
                    <a:pt x="0" y="0"/>
                  </a:moveTo>
                  <a:lnTo>
                    <a:pt x="6096000" y="0"/>
                  </a:lnTo>
                  <a:lnTo>
                    <a:pt x="6096000" y="853440"/>
                  </a:lnTo>
                  <a:lnTo>
                    <a:pt x="0" y="853440"/>
                  </a:lnTo>
                  <a:close/>
                </a:path>
              </a:pathLst>
            </a:custGeom>
            <a:blipFill>
              <a:blip r:embed="rId3">
                <a:alphaModFix amt="0"/>
              </a:blip>
              <a:stretch>
                <a:fillRect l="0" t="-89178" r="0" b="-89178"/>
              </a:stretch>
            </a:blipFill>
          </p:spPr>
        </p:sp>
        <p:sp>
          <p:nvSpPr>
            <p:cNvPr name="TextBox 38" id="38"/>
            <p:cNvSpPr txBox="true"/>
            <p:nvPr/>
          </p:nvSpPr>
          <p:spPr>
            <a:xfrm>
              <a:off x="0" y="-47625"/>
              <a:ext cx="6096000" cy="901065"/>
            </a:xfrm>
            <a:prstGeom prst="rect">
              <a:avLst/>
            </a:prstGeom>
          </p:spPr>
          <p:txBody>
            <a:bodyPr anchor="ctr" rtlCol="false" tIns="0" lIns="0" bIns="0" rIns="0"/>
            <a:lstStyle/>
            <a:p>
              <a:pPr algn="l">
                <a:lnSpc>
                  <a:spcPts val="3359"/>
                </a:lnSpc>
              </a:pPr>
              <a:r>
                <a:rPr lang="en-US" sz="2799" b="true">
                  <a:solidFill>
                    <a:srgbClr val="1A1A1A"/>
                  </a:solidFill>
                  <a:latin typeface="Calibri (MS) Bold"/>
                  <a:ea typeface="Calibri (MS) Bold"/>
                  <a:cs typeface="Calibri (MS) Bold"/>
                  <a:sym typeface="Calibri (MS) Bold"/>
                </a:rPr>
                <a:t>User Interface</a:t>
              </a:r>
            </a:p>
          </p:txBody>
        </p:sp>
      </p:grpSp>
      <p:grpSp>
        <p:nvGrpSpPr>
          <p:cNvPr name="Group 39" id="39"/>
          <p:cNvGrpSpPr/>
          <p:nvPr/>
        </p:nvGrpSpPr>
        <p:grpSpPr>
          <a:xfrm rot="0">
            <a:off x="1188720" y="3657600"/>
            <a:ext cx="15910560" cy="731520"/>
            <a:chOff x="0" y="0"/>
            <a:chExt cx="21214080" cy="975360"/>
          </a:xfrm>
        </p:grpSpPr>
        <p:sp>
          <p:nvSpPr>
            <p:cNvPr name="Freeform 40" id="40"/>
            <p:cNvSpPr/>
            <p:nvPr/>
          </p:nvSpPr>
          <p:spPr>
            <a:xfrm flipH="false" flipV="false" rot="0">
              <a:off x="0" y="0"/>
              <a:ext cx="21214080" cy="975360"/>
            </a:xfrm>
            <a:custGeom>
              <a:avLst/>
              <a:gdLst/>
              <a:ahLst/>
              <a:cxnLst/>
              <a:rect r="r" b="b" t="t" l="l"/>
              <a:pathLst>
                <a:path h="975360" w="21214080">
                  <a:moveTo>
                    <a:pt x="0" y="0"/>
                  </a:moveTo>
                  <a:lnTo>
                    <a:pt x="21214080" y="0"/>
                  </a:lnTo>
                  <a:lnTo>
                    <a:pt x="21214080" y="975360"/>
                  </a:lnTo>
                  <a:lnTo>
                    <a:pt x="0" y="975360"/>
                  </a:lnTo>
                  <a:close/>
                </a:path>
              </a:pathLst>
            </a:custGeom>
            <a:blipFill>
              <a:blip r:embed="rId3">
                <a:alphaModFix amt="0"/>
              </a:blip>
              <a:stretch>
                <a:fillRect l="0" t="-373799" r="0" b="-373799"/>
              </a:stretch>
            </a:blipFill>
          </p:spPr>
        </p:sp>
        <p:sp>
          <p:nvSpPr>
            <p:cNvPr name="TextBox 41" id="41"/>
            <p:cNvSpPr txBox="true"/>
            <p:nvPr/>
          </p:nvSpPr>
          <p:spPr>
            <a:xfrm>
              <a:off x="0" y="-57150"/>
              <a:ext cx="21214080" cy="103251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Marketplace designed and deployed as a live website using HTML, CSS, and JavaScript on Netlify.</a:t>
              </a:r>
            </a:p>
          </p:txBody>
        </p:sp>
      </p:grpSp>
      <p:grpSp>
        <p:nvGrpSpPr>
          <p:cNvPr name="Group 42" id="42"/>
          <p:cNvGrpSpPr/>
          <p:nvPr/>
        </p:nvGrpSpPr>
        <p:grpSpPr>
          <a:xfrm rot="0">
            <a:off x="1188720" y="4626864"/>
            <a:ext cx="4572000" cy="640080"/>
            <a:chOff x="0" y="0"/>
            <a:chExt cx="6096000" cy="853440"/>
          </a:xfrm>
        </p:grpSpPr>
        <p:sp>
          <p:nvSpPr>
            <p:cNvPr name="Freeform 43" id="43"/>
            <p:cNvSpPr/>
            <p:nvPr/>
          </p:nvSpPr>
          <p:spPr>
            <a:xfrm flipH="false" flipV="false" rot="0">
              <a:off x="0" y="0"/>
              <a:ext cx="6096000" cy="853440"/>
            </a:xfrm>
            <a:custGeom>
              <a:avLst/>
              <a:gdLst/>
              <a:ahLst/>
              <a:cxnLst/>
              <a:rect r="r" b="b" t="t" l="l"/>
              <a:pathLst>
                <a:path h="853440" w="6096000">
                  <a:moveTo>
                    <a:pt x="0" y="0"/>
                  </a:moveTo>
                  <a:lnTo>
                    <a:pt x="6096000" y="0"/>
                  </a:lnTo>
                  <a:lnTo>
                    <a:pt x="6096000" y="853440"/>
                  </a:lnTo>
                  <a:lnTo>
                    <a:pt x="0" y="853440"/>
                  </a:lnTo>
                  <a:close/>
                </a:path>
              </a:pathLst>
            </a:custGeom>
            <a:blipFill>
              <a:blip r:embed="rId3">
                <a:alphaModFix amt="0"/>
              </a:blip>
              <a:stretch>
                <a:fillRect l="0" t="-89178" r="0" b="-89178"/>
              </a:stretch>
            </a:blipFill>
          </p:spPr>
        </p:sp>
        <p:sp>
          <p:nvSpPr>
            <p:cNvPr name="TextBox 44" id="44"/>
            <p:cNvSpPr txBox="true"/>
            <p:nvPr/>
          </p:nvSpPr>
          <p:spPr>
            <a:xfrm>
              <a:off x="0" y="-47625"/>
              <a:ext cx="6096000" cy="901065"/>
            </a:xfrm>
            <a:prstGeom prst="rect">
              <a:avLst/>
            </a:prstGeom>
          </p:spPr>
          <p:txBody>
            <a:bodyPr anchor="ctr" rtlCol="false" tIns="0" lIns="0" bIns="0" rIns="0"/>
            <a:lstStyle/>
            <a:p>
              <a:pPr algn="l">
                <a:lnSpc>
                  <a:spcPts val="3359"/>
                </a:lnSpc>
              </a:pPr>
              <a:r>
                <a:rPr lang="en-US" sz="2799" b="true">
                  <a:solidFill>
                    <a:srgbClr val="1A1A1A"/>
                  </a:solidFill>
                  <a:latin typeface="Calibri (MS) Bold"/>
                  <a:ea typeface="Calibri (MS) Bold"/>
                  <a:cs typeface="Calibri (MS) Bold"/>
                  <a:sym typeface="Calibri (MS) Bold"/>
                </a:rPr>
                <a:t>Transaction Ledger</a:t>
              </a:r>
            </a:p>
          </p:txBody>
        </p:sp>
      </p:grpSp>
      <p:grpSp>
        <p:nvGrpSpPr>
          <p:cNvPr name="Group 45" id="45"/>
          <p:cNvGrpSpPr/>
          <p:nvPr/>
        </p:nvGrpSpPr>
        <p:grpSpPr>
          <a:xfrm rot="0">
            <a:off x="1188720" y="5266944"/>
            <a:ext cx="15910560" cy="731520"/>
            <a:chOff x="0" y="0"/>
            <a:chExt cx="21214080" cy="975360"/>
          </a:xfrm>
        </p:grpSpPr>
        <p:sp>
          <p:nvSpPr>
            <p:cNvPr name="Freeform 46" id="46"/>
            <p:cNvSpPr/>
            <p:nvPr/>
          </p:nvSpPr>
          <p:spPr>
            <a:xfrm flipH="false" flipV="false" rot="0">
              <a:off x="0" y="0"/>
              <a:ext cx="21214080" cy="975360"/>
            </a:xfrm>
            <a:custGeom>
              <a:avLst/>
              <a:gdLst/>
              <a:ahLst/>
              <a:cxnLst/>
              <a:rect r="r" b="b" t="t" l="l"/>
              <a:pathLst>
                <a:path h="975360" w="21214080">
                  <a:moveTo>
                    <a:pt x="0" y="0"/>
                  </a:moveTo>
                  <a:lnTo>
                    <a:pt x="21214080" y="0"/>
                  </a:lnTo>
                  <a:lnTo>
                    <a:pt x="21214080" y="975360"/>
                  </a:lnTo>
                  <a:lnTo>
                    <a:pt x="0" y="975360"/>
                  </a:lnTo>
                  <a:close/>
                </a:path>
              </a:pathLst>
            </a:custGeom>
            <a:blipFill>
              <a:blip r:embed="rId3">
                <a:alphaModFix amt="0"/>
              </a:blip>
              <a:stretch>
                <a:fillRect l="0" t="-373799" r="0" b="-373799"/>
              </a:stretch>
            </a:blipFill>
          </p:spPr>
        </p:sp>
        <p:sp>
          <p:nvSpPr>
            <p:cNvPr name="TextBox 47" id="47"/>
            <p:cNvSpPr txBox="true"/>
            <p:nvPr/>
          </p:nvSpPr>
          <p:spPr>
            <a:xfrm>
              <a:off x="0" y="-57150"/>
              <a:ext cx="21214080" cy="103251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A CSV/database (5,000 records) to record and analyse carbon credit trades.</a:t>
              </a:r>
            </a:p>
          </p:txBody>
        </p:sp>
      </p:grpSp>
      <p:grpSp>
        <p:nvGrpSpPr>
          <p:cNvPr name="Group 48" id="48"/>
          <p:cNvGrpSpPr/>
          <p:nvPr/>
        </p:nvGrpSpPr>
        <p:grpSpPr>
          <a:xfrm rot="0">
            <a:off x="1188720" y="6236208"/>
            <a:ext cx="4572000" cy="640080"/>
            <a:chOff x="0" y="0"/>
            <a:chExt cx="6096000" cy="853440"/>
          </a:xfrm>
        </p:grpSpPr>
        <p:sp>
          <p:nvSpPr>
            <p:cNvPr name="Freeform 49" id="49"/>
            <p:cNvSpPr/>
            <p:nvPr/>
          </p:nvSpPr>
          <p:spPr>
            <a:xfrm flipH="false" flipV="false" rot="0">
              <a:off x="0" y="0"/>
              <a:ext cx="6096000" cy="853440"/>
            </a:xfrm>
            <a:custGeom>
              <a:avLst/>
              <a:gdLst/>
              <a:ahLst/>
              <a:cxnLst/>
              <a:rect r="r" b="b" t="t" l="l"/>
              <a:pathLst>
                <a:path h="853440" w="6096000">
                  <a:moveTo>
                    <a:pt x="0" y="0"/>
                  </a:moveTo>
                  <a:lnTo>
                    <a:pt x="6096000" y="0"/>
                  </a:lnTo>
                  <a:lnTo>
                    <a:pt x="6096000" y="853440"/>
                  </a:lnTo>
                  <a:lnTo>
                    <a:pt x="0" y="853440"/>
                  </a:lnTo>
                  <a:close/>
                </a:path>
              </a:pathLst>
            </a:custGeom>
            <a:blipFill>
              <a:blip r:embed="rId3">
                <a:alphaModFix amt="0"/>
              </a:blip>
              <a:stretch>
                <a:fillRect l="0" t="-89178" r="0" b="-89178"/>
              </a:stretch>
            </a:blipFill>
          </p:spPr>
        </p:sp>
        <p:sp>
          <p:nvSpPr>
            <p:cNvPr name="TextBox 50" id="50"/>
            <p:cNvSpPr txBox="true"/>
            <p:nvPr/>
          </p:nvSpPr>
          <p:spPr>
            <a:xfrm>
              <a:off x="0" y="-47625"/>
              <a:ext cx="6096000" cy="901065"/>
            </a:xfrm>
            <a:prstGeom prst="rect">
              <a:avLst/>
            </a:prstGeom>
          </p:spPr>
          <p:txBody>
            <a:bodyPr anchor="ctr" rtlCol="false" tIns="0" lIns="0" bIns="0" rIns="0"/>
            <a:lstStyle/>
            <a:p>
              <a:pPr algn="l">
                <a:lnSpc>
                  <a:spcPts val="3359"/>
                </a:lnSpc>
              </a:pPr>
              <a:r>
                <a:rPr lang="en-US" sz="2799" b="true">
                  <a:solidFill>
                    <a:srgbClr val="1A1A1A"/>
                  </a:solidFill>
                  <a:latin typeface="Calibri (MS) Bold"/>
                  <a:ea typeface="Calibri (MS) Bold"/>
                  <a:cs typeface="Calibri (MS) Bold"/>
                  <a:sym typeface="Calibri (MS) Bold"/>
                </a:rPr>
                <a:t>Data Visualization</a:t>
              </a:r>
            </a:p>
          </p:txBody>
        </p:sp>
      </p:grpSp>
      <p:grpSp>
        <p:nvGrpSpPr>
          <p:cNvPr name="Group 51" id="51"/>
          <p:cNvGrpSpPr/>
          <p:nvPr/>
        </p:nvGrpSpPr>
        <p:grpSpPr>
          <a:xfrm rot="0">
            <a:off x="1188720" y="6876288"/>
            <a:ext cx="15910560" cy="731520"/>
            <a:chOff x="0" y="0"/>
            <a:chExt cx="21214080" cy="975360"/>
          </a:xfrm>
        </p:grpSpPr>
        <p:sp>
          <p:nvSpPr>
            <p:cNvPr name="Freeform 52" id="52"/>
            <p:cNvSpPr/>
            <p:nvPr/>
          </p:nvSpPr>
          <p:spPr>
            <a:xfrm flipH="false" flipV="false" rot="0">
              <a:off x="0" y="0"/>
              <a:ext cx="21214080" cy="975360"/>
            </a:xfrm>
            <a:custGeom>
              <a:avLst/>
              <a:gdLst/>
              <a:ahLst/>
              <a:cxnLst/>
              <a:rect r="r" b="b" t="t" l="l"/>
              <a:pathLst>
                <a:path h="975360" w="21214080">
                  <a:moveTo>
                    <a:pt x="0" y="0"/>
                  </a:moveTo>
                  <a:lnTo>
                    <a:pt x="21214080" y="0"/>
                  </a:lnTo>
                  <a:lnTo>
                    <a:pt x="21214080" y="975360"/>
                  </a:lnTo>
                  <a:lnTo>
                    <a:pt x="0" y="975360"/>
                  </a:lnTo>
                  <a:close/>
                </a:path>
              </a:pathLst>
            </a:custGeom>
            <a:blipFill>
              <a:blip r:embed="rId3">
                <a:alphaModFix amt="0"/>
              </a:blip>
              <a:stretch>
                <a:fillRect l="0" t="-373799" r="0" b="-373799"/>
              </a:stretch>
            </a:blipFill>
          </p:spPr>
        </p:sp>
        <p:sp>
          <p:nvSpPr>
            <p:cNvPr name="TextBox 53" id="53"/>
            <p:cNvSpPr txBox="true"/>
            <p:nvPr/>
          </p:nvSpPr>
          <p:spPr>
            <a:xfrm>
              <a:off x="0" y="-57150"/>
              <a:ext cx="21214080" cy="103251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Dashboards created using Tableau to show trading activity, emissions, and environmental impact.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258070" y="451485"/>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6816" y="502282"/>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1330542" y="331851"/>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Live Website — The Green Ledgers</a:t>
              </a:r>
            </a:p>
          </p:txBody>
        </p:sp>
      </p:grpSp>
      <p:grpSp>
        <p:nvGrpSpPr>
          <p:cNvPr name="Group 33" id="33"/>
          <p:cNvGrpSpPr/>
          <p:nvPr/>
        </p:nvGrpSpPr>
        <p:grpSpPr>
          <a:xfrm rot="0">
            <a:off x="1198245" y="1499616"/>
            <a:ext cx="15910560" cy="640080"/>
            <a:chOff x="0" y="0"/>
            <a:chExt cx="21214080" cy="853440"/>
          </a:xfrm>
        </p:grpSpPr>
        <p:sp>
          <p:nvSpPr>
            <p:cNvPr name="Freeform 34" id="34"/>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5" id="35"/>
            <p:cNvSpPr txBox="true"/>
            <p:nvPr/>
          </p:nvSpPr>
          <p:spPr>
            <a:xfrm>
              <a:off x="0" y="-38100"/>
              <a:ext cx="21214080" cy="891540"/>
            </a:xfrm>
            <a:prstGeom prst="rect">
              <a:avLst/>
            </a:prstGeom>
          </p:spPr>
          <p:txBody>
            <a:bodyPr anchor="ctr" rtlCol="false" tIns="0" lIns="0" bIns="0" rIns="0"/>
            <a:lstStyle/>
            <a:p>
              <a:pPr algn="ctr" marL="518160" indent="-259080" lvl="1">
                <a:lnSpc>
                  <a:spcPts val="2879"/>
                </a:lnSpc>
                <a:buFont typeface="Arial"/>
                <a:buChar char="•"/>
              </a:pPr>
              <a:r>
                <a:rPr lang="en-US" sz="2400">
                  <a:solidFill>
                    <a:srgbClr val="666666"/>
                  </a:solidFill>
                  <a:latin typeface="Calibri (MS)"/>
                  <a:ea typeface="Calibri (MS)"/>
                  <a:cs typeface="Calibri (MS)"/>
                  <a:sym typeface="Calibri (MS)"/>
                </a:rPr>
                <a:t>Click on the link to visit the website - </a:t>
              </a:r>
              <a:r>
                <a:rPr lang="en-US" sz="2400" u="sng">
                  <a:solidFill>
                    <a:srgbClr val="666666"/>
                  </a:solidFill>
                  <a:latin typeface="Calibri (MS)"/>
                  <a:ea typeface="Calibri (MS)"/>
                  <a:cs typeface="Calibri (MS)"/>
                  <a:sym typeface="Calibri (MS)"/>
                  <a:hlinkClick r:id="rId4" tooltip="https://keen-pika-1d8b45.netlify.app"/>
                </a:rPr>
                <a:t>https://keen-pika-1d8b45.netlify.app</a:t>
              </a:r>
            </a:p>
          </p:txBody>
        </p:sp>
      </p:grpSp>
      <p:grpSp>
        <p:nvGrpSpPr>
          <p:cNvPr name="Group 36" id="36"/>
          <p:cNvGrpSpPr/>
          <p:nvPr/>
        </p:nvGrpSpPr>
        <p:grpSpPr>
          <a:xfrm rot="0">
            <a:off x="1365509" y="2139696"/>
            <a:ext cx="15556992" cy="6364224"/>
            <a:chOff x="0" y="0"/>
            <a:chExt cx="21457920" cy="8778240"/>
          </a:xfrm>
        </p:grpSpPr>
        <p:sp>
          <p:nvSpPr>
            <p:cNvPr name="Freeform 37" id="37" descr="preencoded.png"/>
            <p:cNvSpPr/>
            <p:nvPr/>
          </p:nvSpPr>
          <p:spPr>
            <a:xfrm flipH="false" flipV="false" rot="0">
              <a:off x="0" y="0"/>
              <a:ext cx="21457920" cy="8778240"/>
            </a:xfrm>
            <a:custGeom>
              <a:avLst/>
              <a:gdLst/>
              <a:ahLst/>
              <a:cxnLst/>
              <a:rect r="r" b="b" t="t" l="l"/>
              <a:pathLst>
                <a:path h="8778240" w="21457920">
                  <a:moveTo>
                    <a:pt x="0" y="0"/>
                  </a:moveTo>
                  <a:lnTo>
                    <a:pt x="21457920" y="0"/>
                  </a:lnTo>
                  <a:lnTo>
                    <a:pt x="21457920" y="8778240"/>
                  </a:lnTo>
                  <a:lnTo>
                    <a:pt x="0" y="8778240"/>
                  </a:lnTo>
                  <a:lnTo>
                    <a:pt x="0" y="0"/>
                  </a:lnTo>
                  <a:close/>
                </a:path>
              </a:pathLst>
            </a:custGeom>
            <a:blipFill>
              <a:blip r:embed="rId5"/>
              <a:stretch>
                <a:fillRect l="0" t="-19483" r="0" b="-19483"/>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14963" y="402336"/>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56182" y="322964"/>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87017" y="5257800"/>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745704" y="5257800"/>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914400" y="402336"/>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Website Features Overview</a:t>
              </a:r>
            </a:p>
          </p:txBody>
        </p:sp>
      </p:grpSp>
      <p:grpSp>
        <p:nvGrpSpPr>
          <p:cNvPr name="Group 33" id="33"/>
          <p:cNvGrpSpPr/>
          <p:nvPr/>
        </p:nvGrpSpPr>
        <p:grpSpPr>
          <a:xfrm rot="0">
            <a:off x="1188720" y="1499616"/>
            <a:ext cx="15910560" cy="640080"/>
            <a:chOff x="0" y="0"/>
            <a:chExt cx="21214080" cy="853440"/>
          </a:xfrm>
        </p:grpSpPr>
        <p:sp>
          <p:nvSpPr>
            <p:cNvPr name="Freeform 34" id="34"/>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5" id="35"/>
            <p:cNvSpPr txBox="true"/>
            <p:nvPr/>
          </p:nvSpPr>
          <p:spPr>
            <a:xfrm>
              <a:off x="0" y="-38100"/>
              <a:ext cx="21214080" cy="891540"/>
            </a:xfrm>
            <a:prstGeom prst="rect">
              <a:avLst/>
            </a:prstGeom>
          </p:spPr>
          <p:txBody>
            <a:bodyPr anchor="ctr" rtlCol="false" tIns="0" lIns="0" bIns="0" rIns="0"/>
            <a:lstStyle/>
            <a:p>
              <a:pPr algn="ctr">
                <a:lnSpc>
                  <a:spcPts val="2879"/>
                </a:lnSpc>
              </a:pPr>
              <a:r>
                <a:rPr lang="en-US" sz="2400">
                  <a:solidFill>
                    <a:srgbClr val="666666"/>
                  </a:solidFill>
                  <a:latin typeface="Calibri (MS)"/>
                  <a:ea typeface="Calibri (MS)"/>
                  <a:cs typeface="Calibri (MS)"/>
                  <a:sym typeface="Calibri (MS)"/>
                </a:rPr>
                <a:t>6 fully functional pages built and deployed</a:t>
              </a:r>
            </a:p>
          </p:txBody>
        </p:sp>
      </p:grpSp>
      <p:grpSp>
        <p:nvGrpSpPr>
          <p:cNvPr name="Group 36" id="36"/>
          <p:cNvGrpSpPr/>
          <p:nvPr/>
        </p:nvGrpSpPr>
        <p:grpSpPr>
          <a:xfrm rot="0">
            <a:off x="999487" y="2096767"/>
            <a:ext cx="8059417" cy="1750057"/>
            <a:chOff x="0" y="0"/>
            <a:chExt cx="10745889" cy="2333409"/>
          </a:xfrm>
        </p:grpSpPr>
        <p:sp>
          <p:nvSpPr>
            <p:cNvPr name="Freeform 37" id="37"/>
            <p:cNvSpPr/>
            <p:nvPr/>
          </p:nvSpPr>
          <p:spPr>
            <a:xfrm flipH="false" flipV="false" rot="0">
              <a:off x="8509" y="8509"/>
              <a:ext cx="10728960" cy="2316480"/>
            </a:xfrm>
            <a:custGeom>
              <a:avLst/>
              <a:gdLst/>
              <a:ahLst/>
              <a:cxnLst/>
              <a:rect r="r" b="b" t="t" l="l"/>
              <a:pathLst>
                <a:path h="2316480" w="10728960">
                  <a:moveTo>
                    <a:pt x="0" y="0"/>
                  </a:moveTo>
                  <a:lnTo>
                    <a:pt x="10728960" y="0"/>
                  </a:lnTo>
                  <a:lnTo>
                    <a:pt x="10728960" y="2316480"/>
                  </a:lnTo>
                  <a:lnTo>
                    <a:pt x="0" y="2316480"/>
                  </a:lnTo>
                  <a:close/>
                </a:path>
              </a:pathLst>
            </a:custGeom>
            <a:solidFill>
              <a:srgbClr val="FFFFFF"/>
            </a:solidFill>
          </p:spPr>
        </p:sp>
        <p:sp>
          <p:nvSpPr>
            <p:cNvPr name="Freeform 38" id="38"/>
            <p:cNvSpPr/>
            <p:nvPr/>
          </p:nvSpPr>
          <p:spPr>
            <a:xfrm flipH="false" flipV="false" rot="0">
              <a:off x="0" y="0"/>
              <a:ext cx="10745978" cy="2333498"/>
            </a:xfrm>
            <a:custGeom>
              <a:avLst/>
              <a:gdLst/>
              <a:ahLst/>
              <a:cxnLst/>
              <a:rect r="r" b="b" t="t" l="l"/>
              <a:pathLst>
                <a:path h="2333498" w="10745978">
                  <a:moveTo>
                    <a:pt x="8509" y="0"/>
                  </a:moveTo>
                  <a:lnTo>
                    <a:pt x="10737469" y="0"/>
                  </a:lnTo>
                  <a:cubicBezTo>
                    <a:pt x="10742168" y="0"/>
                    <a:pt x="10745978" y="3810"/>
                    <a:pt x="10745978" y="8509"/>
                  </a:cubicBezTo>
                  <a:lnTo>
                    <a:pt x="10745978" y="2324989"/>
                  </a:lnTo>
                  <a:cubicBezTo>
                    <a:pt x="10745978" y="2329688"/>
                    <a:pt x="10742168" y="2333498"/>
                    <a:pt x="1073746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737469" y="2316480"/>
                  </a:lnTo>
                  <a:lnTo>
                    <a:pt x="10737469" y="2324989"/>
                  </a:lnTo>
                  <a:lnTo>
                    <a:pt x="10728960" y="2324989"/>
                  </a:lnTo>
                  <a:lnTo>
                    <a:pt x="10728960" y="8509"/>
                  </a:lnTo>
                  <a:lnTo>
                    <a:pt x="10737469" y="8509"/>
                  </a:lnTo>
                  <a:lnTo>
                    <a:pt x="10737469" y="17018"/>
                  </a:lnTo>
                  <a:lnTo>
                    <a:pt x="8509" y="17018"/>
                  </a:lnTo>
                  <a:close/>
                </a:path>
              </a:pathLst>
            </a:custGeom>
            <a:solidFill>
              <a:srgbClr val="E0E0E0"/>
            </a:solidFill>
          </p:spPr>
        </p:sp>
      </p:grpSp>
      <p:grpSp>
        <p:nvGrpSpPr>
          <p:cNvPr name="Group 39" id="39"/>
          <p:cNvGrpSpPr/>
          <p:nvPr/>
        </p:nvGrpSpPr>
        <p:grpSpPr>
          <a:xfrm rot="0">
            <a:off x="993143" y="2090423"/>
            <a:ext cx="135131" cy="1762763"/>
            <a:chOff x="0" y="0"/>
            <a:chExt cx="180175" cy="2350351"/>
          </a:xfrm>
        </p:grpSpPr>
        <p:sp>
          <p:nvSpPr>
            <p:cNvPr name="Freeform 40" id="40"/>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1B6B3A"/>
            </a:solidFill>
          </p:spPr>
        </p:sp>
        <p:sp>
          <p:nvSpPr>
            <p:cNvPr name="Freeform 41" id="41"/>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1B6B3A"/>
            </a:solidFill>
          </p:spPr>
        </p:sp>
      </p:grpSp>
      <p:grpSp>
        <p:nvGrpSpPr>
          <p:cNvPr name="Group 42" id="42"/>
          <p:cNvGrpSpPr/>
          <p:nvPr/>
        </p:nvGrpSpPr>
        <p:grpSpPr>
          <a:xfrm rot="0">
            <a:off x="1280160" y="2249424"/>
            <a:ext cx="7680960" cy="548640"/>
            <a:chOff x="0" y="0"/>
            <a:chExt cx="10241280" cy="731520"/>
          </a:xfrm>
        </p:grpSpPr>
        <p:sp>
          <p:nvSpPr>
            <p:cNvPr name="Freeform 43" id="43"/>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44" id="44"/>
            <p:cNvSpPr txBox="true"/>
            <p:nvPr/>
          </p:nvSpPr>
          <p:spPr>
            <a:xfrm>
              <a:off x="0" y="-57150"/>
              <a:ext cx="10241280" cy="78867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 Home</a:t>
              </a:r>
            </a:p>
          </p:txBody>
        </p:sp>
      </p:grpSp>
      <p:grpSp>
        <p:nvGrpSpPr>
          <p:cNvPr name="Group 45" id="45"/>
          <p:cNvGrpSpPr/>
          <p:nvPr/>
        </p:nvGrpSpPr>
        <p:grpSpPr>
          <a:xfrm rot="0">
            <a:off x="1280160" y="2798064"/>
            <a:ext cx="7680960" cy="822960"/>
            <a:chOff x="0" y="0"/>
            <a:chExt cx="10241280" cy="1097280"/>
          </a:xfrm>
        </p:grpSpPr>
        <p:sp>
          <p:nvSpPr>
            <p:cNvPr name="Freeform 46" id="46"/>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47" id="47"/>
            <p:cNvSpPr txBox="true"/>
            <p:nvPr/>
          </p:nvSpPr>
          <p:spPr>
            <a:xfrm>
              <a:off x="0" y="-47625"/>
              <a:ext cx="10241280" cy="1144905"/>
            </a:xfrm>
            <a:prstGeom prst="rect">
              <a:avLst/>
            </a:prstGeom>
          </p:spPr>
          <p:txBody>
            <a:bodyPr anchor="ctr" rtlCol="false" tIns="0" lIns="0" bIns="0" rIns="0"/>
            <a:lstStyle/>
            <a:p>
              <a:pPr algn="l">
                <a:lnSpc>
                  <a:spcPts val="2640"/>
                </a:lnSpc>
              </a:pPr>
              <a:r>
                <a:rPr lang="en-US" sz="2200">
                  <a:solidFill>
                    <a:srgbClr val="666666"/>
                  </a:solidFill>
                  <a:latin typeface="Calibri (MS)"/>
                  <a:ea typeface="Calibri (MS)"/>
                  <a:cs typeface="Calibri (MS)"/>
                  <a:sym typeface="Calibri (MS)"/>
                </a:rPr>
                <a:t>Live market summary, 47,300 tCO₂ traded, ₹21.20 avg price, market status</a:t>
              </a:r>
            </a:p>
          </p:txBody>
        </p:sp>
      </p:grpSp>
      <p:grpSp>
        <p:nvGrpSpPr>
          <p:cNvPr name="Group 48" id="48"/>
          <p:cNvGrpSpPr/>
          <p:nvPr/>
        </p:nvGrpSpPr>
        <p:grpSpPr>
          <a:xfrm rot="0">
            <a:off x="9686287" y="2096767"/>
            <a:ext cx="8059417" cy="1750057"/>
            <a:chOff x="0" y="0"/>
            <a:chExt cx="10745889" cy="2333409"/>
          </a:xfrm>
        </p:grpSpPr>
        <p:sp>
          <p:nvSpPr>
            <p:cNvPr name="Freeform 49" id="49"/>
            <p:cNvSpPr/>
            <p:nvPr/>
          </p:nvSpPr>
          <p:spPr>
            <a:xfrm flipH="false" flipV="false" rot="0">
              <a:off x="8509" y="8509"/>
              <a:ext cx="10728960" cy="2316480"/>
            </a:xfrm>
            <a:custGeom>
              <a:avLst/>
              <a:gdLst/>
              <a:ahLst/>
              <a:cxnLst/>
              <a:rect r="r" b="b" t="t" l="l"/>
              <a:pathLst>
                <a:path h="2316480" w="10728960">
                  <a:moveTo>
                    <a:pt x="0" y="0"/>
                  </a:moveTo>
                  <a:lnTo>
                    <a:pt x="10728960" y="0"/>
                  </a:lnTo>
                  <a:lnTo>
                    <a:pt x="10728960" y="2316480"/>
                  </a:lnTo>
                  <a:lnTo>
                    <a:pt x="0" y="2316480"/>
                  </a:lnTo>
                  <a:close/>
                </a:path>
              </a:pathLst>
            </a:custGeom>
            <a:solidFill>
              <a:srgbClr val="FFFFFF"/>
            </a:solidFill>
          </p:spPr>
        </p:sp>
        <p:sp>
          <p:nvSpPr>
            <p:cNvPr name="Freeform 50" id="50"/>
            <p:cNvSpPr/>
            <p:nvPr/>
          </p:nvSpPr>
          <p:spPr>
            <a:xfrm flipH="false" flipV="false" rot="0">
              <a:off x="0" y="0"/>
              <a:ext cx="10745978" cy="2333498"/>
            </a:xfrm>
            <a:custGeom>
              <a:avLst/>
              <a:gdLst/>
              <a:ahLst/>
              <a:cxnLst/>
              <a:rect r="r" b="b" t="t" l="l"/>
              <a:pathLst>
                <a:path h="2333498" w="10745978">
                  <a:moveTo>
                    <a:pt x="8509" y="0"/>
                  </a:moveTo>
                  <a:lnTo>
                    <a:pt x="10737469" y="0"/>
                  </a:lnTo>
                  <a:cubicBezTo>
                    <a:pt x="10742168" y="0"/>
                    <a:pt x="10745978" y="3810"/>
                    <a:pt x="10745978" y="8509"/>
                  </a:cubicBezTo>
                  <a:lnTo>
                    <a:pt x="10745978" y="2324989"/>
                  </a:lnTo>
                  <a:cubicBezTo>
                    <a:pt x="10745978" y="2329688"/>
                    <a:pt x="10742168" y="2333498"/>
                    <a:pt x="1073746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737469" y="2316480"/>
                  </a:lnTo>
                  <a:lnTo>
                    <a:pt x="10737469" y="2324989"/>
                  </a:lnTo>
                  <a:lnTo>
                    <a:pt x="10728960" y="2324989"/>
                  </a:lnTo>
                  <a:lnTo>
                    <a:pt x="10728960" y="8509"/>
                  </a:lnTo>
                  <a:lnTo>
                    <a:pt x="10737469" y="8509"/>
                  </a:lnTo>
                  <a:lnTo>
                    <a:pt x="10737469" y="17018"/>
                  </a:lnTo>
                  <a:lnTo>
                    <a:pt x="8509" y="17018"/>
                  </a:lnTo>
                  <a:close/>
                </a:path>
              </a:pathLst>
            </a:custGeom>
            <a:solidFill>
              <a:srgbClr val="E0E0E0"/>
            </a:solidFill>
          </p:spPr>
        </p:sp>
      </p:grpSp>
      <p:grpSp>
        <p:nvGrpSpPr>
          <p:cNvPr name="Group 51" id="51"/>
          <p:cNvGrpSpPr/>
          <p:nvPr/>
        </p:nvGrpSpPr>
        <p:grpSpPr>
          <a:xfrm rot="0">
            <a:off x="9679943" y="2090423"/>
            <a:ext cx="135131" cy="1762763"/>
            <a:chOff x="0" y="0"/>
            <a:chExt cx="180175" cy="2350351"/>
          </a:xfrm>
        </p:grpSpPr>
        <p:sp>
          <p:nvSpPr>
            <p:cNvPr name="Freeform 52" id="52"/>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1B6B3A"/>
            </a:solidFill>
          </p:spPr>
        </p:sp>
        <p:sp>
          <p:nvSpPr>
            <p:cNvPr name="Freeform 53" id="53"/>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1B6B3A"/>
            </a:solidFill>
          </p:spPr>
        </p:sp>
      </p:grpSp>
      <p:grpSp>
        <p:nvGrpSpPr>
          <p:cNvPr name="Group 54" id="54"/>
          <p:cNvGrpSpPr/>
          <p:nvPr/>
        </p:nvGrpSpPr>
        <p:grpSpPr>
          <a:xfrm rot="0">
            <a:off x="9966960" y="2249424"/>
            <a:ext cx="7680960" cy="548640"/>
            <a:chOff x="0" y="0"/>
            <a:chExt cx="10241280" cy="731520"/>
          </a:xfrm>
        </p:grpSpPr>
        <p:sp>
          <p:nvSpPr>
            <p:cNvPr name="Freeform 55" id="55"/>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56" id="56"/>
            <p:cNvSpPr txBox="true"/>
            <p:nvPr/>
          </p:nvSpPr>
          <p:spPr>
            <a:xfrm>
              <a:off x="0" y="-57150"/>
              <a:ext cx="10241280" cy="78867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 Catalog</a:t>
              </a:r>
            </a:p>
          </p:txBody>
        </p:sp>
      </p:grpSp>
      <p:grpSp>
        <p:nvGrpSpPr>
          <p:cNvPr name="Group 57" id="57"/>
          <p:cNvGrpSpPr/>
          <p:nvPr/>
        </p:nvGrpSpPr>
        <p:grpSpPr>
          <a:xfrm rot="0">
            <a:off x="9966960" y="2798064"/>
            <a:ext cx="7680960" cy="822960"/>
            <a:chOff x="0" y="0"/>
            <a:chExt cx="10241280" cy="1097280"/>
          </a:xfrm>
        </p:grpSpPr>
        <p:sp>
          <p:nvSpPr>
            <p:cNvPr name="Freeform 58" id="58"/>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59" id="59"/>
            <p:cNvSpPr txBox="true"/>
            <p:nvPr/>
          </p:nvSpPr>
          <p:spPr>
            <a:xfrm>
              <a:off x="0" y="-47625"/>
              <a:ext cx="10241280" cy="1144905"/>
            </a:xfrm>
            <a:prstGeom prst="rect">
              <a:avLst/>
            </a:prstGeom>
          </p:spPr>
          <p:txBody>
            <a:bodyPr anchor="ctr" rtlCol="false" tIns="0" lIns="0" bIns="0" rIns="0"/>
            <a:lstStyle/>
            <a:p>
              <a:pPr algn="l">
                <a:lnSpc>
                  <a:spcPts val="2640"/>
                </a:lnSpc>
              </a:pPr>
              <a:r>
                <a:rPr lang="en-US" sz="2200">
                  <a:solidFill>
                    <a:srgbClr val="666666"/>
                  </a:solidFill>
                  <a:latin typeface="Calibri (MS)"/>
                  <a:ea typeface="Calibri (MS)"/>
                  <a:cs typeface="Calibri (MS)"/>
                  <a:sym typeface="Calibri (MS)"/>
                </a:rPr>
                <a:t>6 verified projects with filter pills: India, Forestry, Solar, Wind, Water, Blue Carbon</a:t>
              </a:r>
            </a:p>
          </p:txBody>
        </p:sp>
      </p:grpSp>
      <p:grpSp>
        <p:nvGrpSpPr>
          <p:cNvPr name="Group 60" id="60"/>
          <p:cNvGrpSpPr/>
          <p:nvPr/>
        </p:nvGrpSpPr>
        <p:grpSpPr>
          <a:xfrm rot="0">
            <a:off x="999487" y="4145023"/>
            <a:ext cx="8059417" cy="1750057"/>
            <a:chOff x="0" y="0"/>
            <a:chExt cx="10745889" cy="2333409"/>
          </a:xfrm>
        </p:grpSpPr>
        <p:sp>
          <p:nvSpPr>
            <p:cNvPr name="Freeform 61" id="61"/>
            <p:cNvSpPr/>
            <p:nvPr/>
          </p:nvSpPr>
          <p:spPr>
            <a:xfrm flipH="false" flipV="false" rot="0">
              <a:off x="8509" y="8509"/>
              <a:ext cx="10728960" cy="2316480"/>
            </a:xfrm>
            <a:custGeom>
              <a:avLst/>
              <a:gdLst/>
              <a:ahLst/>
              <a:cxnLst/>
              <a:rect r="r" b="b" t="t" l="l"/>
              <a:pathLst>
                <a:path h="2316480" w="10728960">
                  <a:moveTo>
                    <a:pt x="0" y="0"/>
                  </a:moveTo>
                  <a:lnTo>
                    <a:pt x="10728960" y="0"/>
                  </a:lnTo>
                  <a:lnTo>
                    <a:pt x="10728960" y="2316480"/>
                  </a:lnTo>
                  <a:lnTo>
                    <a:pt x="0" y="2316480"/>
                  </a:lnTo>
                  <a:close/>
                </a:path>
              </a:pathLst>
            </a:custGeom>
            <a:solidFill>
              <a:srgbClr val="FFFFFF"/>
            </a:solidFill>
          </p:spPr>
        </p:sp>
        <p:sp>
          <p:nvSpPr>
            <p:cNvPr name="Freeform 62" id="62"/>
            <p:cNvSpPr/>
            <p:nvPr/>
          </p:nvSpPr>
          <p:spPr>
            <a:xfrm flipH="false" flipV="false" rot="0">
              <a:off x="0" y="0"/>
              <a:ext cx="10745978" cy="2333498"/>
            </a:xfrm>
            <a:custGeom>
              <a:avLst/>
              <a:gdLst/>
              <a:ahLst/>
              <a:cxnLst/>
              <a:rect r="r" b="b" t="t" l="l"/>
              <a:pathLst>
                <a:path h="2333498" w="10745978">
                  <a:moveTo>
                    <a:pt x="8509" y="0"/>
                  </a:moveTo>
                  <a:lnTo>
                    <a:pt x="10737469" y="0"/>
                  </a:lnTo>
                  <a:cubicBezTo>
                    <a:pt x="10742168" y="0"/>
                    <a:pt x="10745978" y="3810"/>
                    <a:pt x="10745978" y="8509"/>
                  </a:cubicBezTo>
                  <a:lnTo>
                    <a:pt x="10745978" y="2324989"/>
                  </a:lnTo>
                  <a:cubicBezTo>
                    <a:pt x="10745978" y="2329688"/>
                    <a:pt x="10742168" y="2333498"/>
                    <a:pt x="1073746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737469" y="2316480"/>
                  </a:lnTo>
                  <a:lnTo>
                    <a:pt x="10737469" y="2324989"/>
                  </a:lnTo>
                  <a:lnTo>
                    <a:pt x="10728960" y="2324989"/>
                  </a:lnTo>
                  <a:lnTo>
                    <a:pt x="10728960" y="8509"/>
                  </a:lnTo>
                  <a:lnTo>
                    <a:pt x="10737469" y="8509"/>
                  </a:lnTo>
                  <a:lnTo>
                    <a:pt x="10737469" y="17018"/>
                  </a:lnTo>
                  <a:lnTo>
                    <a:pt x="8509" y="17018"/>
                  </a:lnTo>
                  <a:close/>
                </a:path>
              </a:pathLst>
            </a:custGeom>
            <a:solidFill>
              <a:srgbClr val="E0E0E0"/>
            </a:solidFill>
          </p:spPr>
        </p:sp>
      </p:grpSp>
      <p:grpSp>
        <p:nvGrpSpPr>
          <p:cNvPr name="Group 63" id="63"/>
          <p:cNvGrpSpPr/>
          <p:nvPr/>
        </p:nvGrpSpPr>
        <p:grpSpPr>
          <a:xfrm rot="0">
            <a:off x="993143" y="4138679"/>
            <a:ext cx="135131" cy="1762763"/>
            <a:chOff x="0" y="0"/>
            <a:chExt cx="180175" cy="2350351"/>
          </a:xfrm>
        </p:grpSpPr>
        <p:sp>
          <p:nvSpPr>
            <p:cNvPr name="Freeform 64" id="64"/>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1B6B3A"/>
            </a:solidFill>
          </p:spPr>
        </p:sp>
        <p:sp>
          <p:nvSpPr>
            <p:cNvPr name="Freeform 65" id="65"/>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1B6B3A"/>
            </a:solidFill>
          </p:spPr>
        </p:sp>
      </p:grpSp>
      <p:grpSp>
        <p:nvGrpSpPr>
          <p:cNvPr name="Group 66" id="66"/>
          <p:cNvGrpSpPr/>
          <p:nvPr/>
        </p:nvGrpSpPr>
        <p:grpSpPr>
          <a:xfrm rot="0">
            <a:off x="1280160" y="4297680"/>
            <a:ext cx="7680960" cy="548640"/>
            <a:chOff x="0" y="0"/>
            <a:chExt cx="10241280" cy="731520"/>
          </a:xfrm>
        </p:grpSpPr>
        <p:sp>
          <p:nvSpPr>
            <p:cNvPr name="Freeform 67" id="67"/>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68" id="68"/>
            <p:cNvSpPr txBox="true"/>
            <p:nvPr/>
          </p:nvSpPr>
          <p:spPr>
            <a:xfrm>
              <a:off x="0" y="-57150"/>
              <a:ext cx="10241280" cy="78867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 Trade</a:t>
              </a:r>
            </a:p>
          </p:txBody>
        </p:sp>
      </p:grpSp>
      <p:grpSp>
        <p:nvGrpSpPr>
          <p:cNvPr name="Group 69" id="69"/>
          <p:cNvGrpSpPr/>
          <p:nvPr/>
        </p:nvGrpSpPr>
        <p:grpSpPr>
          <a:xfrm rot="0">
            <a:off x="1280160" y="4846320"/>
            <a:ext cx="7680960" cy="822960"/>
            <a:chOff x="0" y="0"/>
            <a:chExt cx="10241280" cy="1097280"/>
          </a:xfrm>
        </p:grpSpPr>
        <p:sp>
          <p:nvSpPr>
            <p:cNvPr name="Freeform 70" id="70"/>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71" id="71"/>
            <p:cNvSpPr txBox="true"/>
            <p:nvPr/>
          </p:nvSpPr>
          <p:spPr>
            <a:xfrm>
              <a:off x="0" y="-47625"/>
              <a:ext cx="10241280" cy="1144905"/>
            </a:xfrm>
            <a:prstGeom prst="rect">
              <a:avLst/>
            </a:prstGeom>
          </p:spPr>
          <p:txBody>
            <a:bodyPr anchor="ctr" rtlCol="false" tIns="0" lIns="0" bIns="0" rIns="0"/>
            <a:lstStyle/>
            <a:p>
              <a:pPr algn="l">
                <a:lnSpc>
                  <a:spcPts val="2640"/>
                </a:lnSpc>
              </a:pPr>
              <a:r>
                <a:rPr lang="en-US" sz="2200">
                  <a:solidFill>
                    <a:srgbClr val="666666"/>
                  </a:solidFill>
                  <a:latin typeface="Calibri (MS)"/>
                  <a:ea typeface="Calibri (MS)"/>
                  <a:cs typeface="Calibri (MS)"/>
                  <a:sym typeface="Calibri (MS)"/>
                </a:rPr>
                <a:t>Buy/Sell/Retire tabs with GST (18%), platform fee, UPI/Cards/NEFT payments</a:t>
              </a:r>
            </a:p>
          </p:txBody>
        </p:sp>
      </p:grpSp>
      <p:grpSp>
        <p:nvGrpSpPr>
          <p:cNvPr name="Group 72" id="72"/>
          <p:cNvGrpSpPr/>
          <p:nvPr/>
        </p:nvGrpSpPr>
        <p:grpSpPr>
          <a:xfrm rot="0">
            <a:off x="9686287" y="4145023"/>
            <a:ext cx="8059417" cy="1750057"/>
            <a:chOff x="0" y="0"/>
            <a:chExt cx="10745889" cy="2333409"/>
          </a:xfrm>
        </p:grpSpPr>
        <p:sp>
          <p:nvSpPr>
            <p:cNvPr name="Freeform 73" id="73"/>
            <p:cNvSpPr/>
            <p:nvPr/>
          </p:nvSpPr>
          <p:spPr>
            <a:xfrm flipH="false" flipV="false" rot="0">
              <a:off x="8509" y="8509"/>
              <a:ext cx="10728960" cy="2316480"/>
            </a:xfrm>
            <a:custGeom>
              <a:avLst/>
              <a:gdLst/>
              <a:ahLst/>
              <a:cxnLst/>
              <a:rect r="r" b="b" t="t" l="l"/>
              <a:pathLst>
                <a:path h="2316480" w="10728960">
                  <a:moveTo>
                    <a:pt x="0" y="0"/>
                  </a:moveTo>
                  <a:lnTo>
                    <a:pt x="10728960" y="0"/>
                  </a:lnTo>
                  <a:lnTo>
                    <a:pt x="10728960" y="2316480"/>
                  </a:lnTo>
                  <a:lnTo>
                    <a:pt x="0" y="2316480"/>
                  </a:lnTo>
                  <a:close/>
                </a:path>
              </a:pathLst>
            </a:custGeom>
            <a:solidFill>
              <a:srgbClr val="FFFFFF"/>
            </a:solidFill>
          </p:spPr>
        </p:sp>
        <p:sp>
          <p:nvSpPr>
            <p:cNvPr name="Freeform 74" id="74"/>
            <p:cNvSpPr/>
            <p:nvPr/>
          </p:nvSpPr>
          <p:spPr>
            <a:xfrm flipH="false" flipV="false" rot="0">
              <a:off x="0" y="0"/>
              <a:ext cx="10745978" cy="2333498"/>
            </a:xfrm>
            <a:custGeom>
              <a:avLst/>
              <a:gdLst/>
              <a:ahLst/>
              <a:cxnLst/>
              <a:rect r="r" b="b" t="t" l="l"/>
              <a:pathLst>
                <a:path h="2333498" w="10745978">
                  <a:moveTo>
                    <a:pt x="8509" y="0"/>
                  </a:moveTo>
                  <a:lnTo>
                    <a:pt x="10737469" y="0"/>
                  </a:lnTo>
                  <a:cubicBezTo>
                    <a:pt x="10742168" y="0"/>
                    <a:pt x="10745978" y="3810"/>
                    <a:pt x="10745978" y="8509"/>
                  </a:cubicBezTo>
                  <a:lnTo>
                    <a:pt x="10745978" y="2324989"/>
                  </a:lnTo>
                  <a:cubicBezTo>
                    <a:pt x="10745978" y="2329688"/>
                    <a:pt x="10742168" y="2333498"/>
                    <a:pt x="1073746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737469" y="2316480"/>
                  </a:lnTo>
                  <a:lnTo>
                    <a:pt x="10737469" y="2324989"/>
                  </a:lnTo>
                  <a:lnTo>
                    <a:pt x="10728960" y="2324989"/>
                  </a:lnTo>
                  <a:lnTo>
                    <a:pt x="10728960" y="8509"/>
                  </a:lnTo>
                  <a:lnTo>
                    <a:pt x="10737469" y="8509"/>
                  </a:lnTo>
                  <a:lnTo>
                    <a:pt x="10737469" y="17018"/>
                  </a:lnTo>
                  <a:lnTo>
                    <a:pt x="8509" y="17018"/>
                  </a:lnTo>
                  <a:close/>
                </a:path>
              </a:pathLst>
            </a:custGeom>
            <a:solidFill>
              <a:srgbClr val="E0E0E0"/>
            </a:solidFill>
          </p:spPr>
        </p:sp>
      </p:grpSp>
      <p:grpSp>
        <p:nvGrpSpPr>
          <p:cNvPr name="Group 75" id="75"/>
          <p:cNvGrpSpPr/>
          <p:nvPr/>
        </p:nvGrpSpPr>
        <p:grpSpPr>
          <a:xfrm rot="0">
            <a:off x="9679943" y="4138679"/>
            <a:ext cx="135131" cy="1762763"/>
            <a:chOff x="0" y="0"/>
            <a:chExt cx="180175" cy="2350351"/>
          </a:xfrm>
        </p:grpSpPr>
        <p:sp>
          <p:nvSpPr>
            <p:cNvPr name="Freeform 76" id="76"/>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1B6B3A"/>
            </a:solidFill>
          </p:spPr>
        </p:sp>
        <p:sp>
          <p:nvSpPr>
            <p:cNvPr name="Freeform 77" id="77"/>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1B6B3A"/>
            </a:solidFill>
          </p:spPr>
        </p:sp>
      </p:grpSp>
      <p:grpSp>
        <p:nvGrpSpPr>
          <p:cNvPr name="Group 78" id="78"/>
          <p:cNvGrpSpPr/>
          <p:nvPr/>
        </p:nvGrpSpPr>
        <p:grpSpPr>
          <a:xfrm rot="0">
            <a:off x="9966960" y="4297680"/>
            <a:ext cx="7680960" cy="548640"/>
            <a:chOff x="0" y="0"/>
            <a:chExt cx="10241280" cy="731520"/>
          </a:xfrm>
        </p:grpSpPr>
        <p:sp>
          <p:nvSpPr>
            <p:cNvPr name="Freeform 79" id="79"/>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80" id="80"/>
            <p:cNvSpPr txBox="true"/>
            <p:nvPr/>
          </p:nvSpPr>
          <p:spPr>
            <a:xfrm>
              <a:off x="0" y="-57150"/>
              <a:ext cx="10241280" cy="78867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 Portfolio</a:t>
              </a:r>
            </a:p>
          </p:txBody>
        </p:sp>
      </p:grpSp>
      <p:grpSp>
        <p:nvGrpSpPr>
          <p:cNvPr name="Group 81" id="81"/>
          <p:cNvGrpSpPr/>
          <p:nvPr/>
        </p:nvGrpSpPr>
        <p:grpSpPr>
          <a:xfrm rot="0">
            <a:off x="9966960" y="4846320"/>
            <a:ext cx="7680960" cy="822960"/>
            <a:chOff x="0" y="0"/>
            <a:chExt cx="10241280" cy="1097280"/>
          </a:xfrm>
        </p:grpSpPr>
        <p:sp>
          <p:nvSpPr>
            <p:cNvPr name="Freeform 82" id="82"/>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83" id="83"/>
            <p:cNvSpPr txBox="true"/>
            <p:nvPr/>
          </p:nvSpPr>
          <p:spPr>
            <a:xfrm>
              <a:off x="0" y="-47625"/>
              <a:ext cx="10241280" cy="1144905"/>
            </a:xfrm>
            <a:prstGeom prst="rect">
              <a:avLst/>
            </a:prstGeom>
          </p:spPr>
          <p:txBody>
            <a:bodyPr anchor="ctr" rtlCol="false" tIns="0" lIns="0" bIns="0" rIns="0"/>
            <a:lstStyle/>
            <a:p>
              <a:pPr algn="l">
                <a:lnSpc>
                  <a:spcPts val="2640"/>
                </a:lnSpc>
              </a:pPr>
              <a:r>
                <a:rPr lang="en-US" sz="2200">
                  <a:solidFill>
                    <a:srgbClr val="666666"/>
                  </a:solidFill>
                  <a:latin typeface="Calibri (MS)"/>
                  <a:ea typeface="Calibri (MS)"/>
                  <a:cs typeface="Calibri (MS)"/>
                  <a:sym typeface="Calibri (MS)"/>
                </a:rPr>
                <a:t>2,840 tCO₂ offset, holdings tracker, 56.8% goal progress bar</a:t>
              </a:r>
            </a:p>
          </p:txBody>
        </p:sp>
      </p:grpSp>
      <p:grpSp>
        <p:nvGrpSpPr>
          <p:cNvPr name="Group 84" id="84"/>
          <p:cNvGrpSpPr/>
          <p:nvPr/>
        </p:nvGrpSpPr>
        <p:grpSpPr>
          <a:xfrm rot="0">
            <a:off x="999487" y="6193279"/>
            <a:ext cx="8059417" cy="1750057"/>
            <a:chOff x="0" y="0"/>
            <a:chExt cx="10745889" cy="2333409"/>
          </a:xfrm>
        </p:grpSpPr>
        <p:sp>
          <p:nvSpPr>
            <p:cNvPr name="Freeform 85" id="85"/>
            <p:cNvSpPr/>
            <p:nvPr/>
          </p:nvSpPr>
          <p:spPr>
            <a:xfrm flipH="false" flipV="false" rot="0">
              <a:off x="8509" y="8509"/>
              <a:ext cx="10728960" cy="2316480"/>
            </a:xfrm>
            <a:custGeom>
              <a:avLst/>
              <a:gdLst/>
              <a:ahLst/>
              <a:cxnLst/>
              <a:rect r="r" b="b" t="t" l="l"/>
              <a:pathLst>
                <a:path h="2316480" w="10728960">
                  <a:moveTo>
                    <a:pt x="0" y="0"/>
                  </a:moveTo>
                  <a:lnTo>
                    <a:pt x="10728960" y="0"/>
                  </a:lnTo>
                  <a:lnTo>
                    <a:pt x="10728960" y="2316480"/>
                  </a:lnTo>
                  <a:lnTo>
                    <a:pt x="0" y="2316480"/>
                  </a:lnTo>
                  <a:close/>
                </a:path>
              </a:pathLst>
            </a:custGeom>
            <a:solidFill>
              <a:srgbClr val="FFFFFF"/>
            </a:solidFill>
          </p:spPr>
        </p:sp>
        <p:sp>
          <p:nvSpPr>
            <p:cNvPr name="Freeform 86" id="86"/>
            <p:cNvSpPr/>
            <p:nvPr/>
          </p:nvSpPr>
          <p:spPr>
            <a:xfrm flipH="false" flipV="false" rot="0">
              <a:off x="0" y="0"/>
              <a:ext cx="10745978" cy="2333498"/>
            </a:xfrm>
            <a:custGeom>
              <a:avLst/>
              <a:gdLst/>
              <a:ahLst/>
              <a:cxnLst/>
              <a:rect r="r" b="b" t="t" l="l"/>
              <a:pathLst>
                <a:path h="2333498" w="10745978">
                  <a:moveTo>
                    <a:pt x="8509" y="0"/>
                  </a:moveTo>
                  <a:lnTo>
                    <a:pt x="10737469" y="0"/>
                  </a:lnTo>
                  <a:cubicBezTo>
                    <a:pt x="10742168" y="0"/>
                    <a:pt x="10745978" y="3810"/>
                    <a:pt x="10745978" y="8509"/>
                  </a:cubicBezTo>
                  <a:lnTo>
                    <a:pt x="10745978" y="2324989"/>
                  </a:lnTo>
                  <a:cubicBezTo>
                    <a:pt x="10745978" y="2329688"/>
                    <a:pt x="10742168" y="2333498"/>
                    <a:pt x="1073746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737469" y="2316480"/>
                  </a:lnTo>
                  <a:lnTo>
                    <a:pt x="10737469" y="2324989"/>
                  </a:lnTo>
                  <a:lnTo>
                    <a:pt x="10728960" y="2324989"/>
                  </a:lnTo>
                  <a:lnTo>
                    <a:pt x="10728960" y="8509"/>
                  </a:lnTo>
                  <a:lnTo>
                    <a:pt x="10737469" y="8509"/>
                  </a:lnTo>
                  <a:lnTo>
                    <a:pt x="10737469" y="17018"/>
                  </a:lnTo>
                  <a:lnTo>
                    <a:pt x="8509" y="17018"/>
                  </a:lnTo>
                  <a:close/>
                </a:path>
              </a:pathLst>
            </a:custGeom>
            <a:solidFill>
              <a:srgbClr val="E0E0E0"/>
            </a:solidFill>
          </p:spPr>
        </p:sp>
      </p:grpSp>
      <p:grpSp>
        <p:nvGrpSpPr>
          <p:cNvPr name="Group 87" id="87"/>
          <p:cNvGrpSpPr/>
          <p:nvPr/>
        </p:nvGrpSpPr>
        <p:grpSpPr>
          <a:xfrm rot="0">
            <a:off x="993143" y="6186935"/>
            <a:ext cx="135131" cy="1762763"/>
            <a:chOff x="0" y="0"/>
            <a:chExt cx="180175" cy="2350351"/>
          </a:xfrm>
        </p:grpSpPr>
        <p:sp>
          <p:nvSpPr>
            <p:cNvPr name="Freeform 88" id="88"/>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1B6B3A"/>
            </a:solidFill>
          </p:spPr>
        </p:sp>
        <p:sp>
          <p:nvSpPr>
            <p:cNvPr name="Freeform 89" id="89"/>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1B6B3A"/>
            </a:solidFill>
          </p:spPr>
        </p:sp>
      </p:grpSp>
      <p:grpSp>
        <p:nvGrpSpPr>
          <p:cNvPr name="Group 90" id="90"/>
          <p:cNvGrpSpPr/>
          <p:nvPr/>
        </p:nvGrpSpPr>
        <p:grpSpPr>
          <a:xfrm rot="0">
            <a:off x="1280160" y="6345936"/>
            <a:ext cx="7680960" cy="548640"/>
            <a:chOff x="0" y="0"/>
            <a:chExt cx="10241280" cy="731520"/>
          </a:xfrm>
        </p:grpSpPr>
        <p:sp>
          <p:nvSpPr>
            <p:cNvPr name="Freeform 91" id="91"/>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92" id="92"/>
            <p:cNvSpPr txBox="true"/>
            <p:nvPr/>
          </p:nvSpPr>
          <p:spPr>
            <a:xfrm>
              <a:off x="0" y="-57150"/>
              <a:ext cx="10241280" cy="78867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 Analytics</a:t>
              </a:r>
            </a:p>
          </p:txBody>
        </p:sp>
      </p:grpSp>
      <p:grpSp>
        <p:nvGrpSpPr>
          <p:cNvPr name="Group 93" id="93"/>
          <p:cNvGrpSpPr/>
          <p:nvPr/>
        </p:nvGrpSpPr>
        <p:grpSpPr>
          <a:xfrm rot="0">
            <a:off x="1280160" y="6894576"/>
            <a:ext cx="7680960" cy="822960"/>
            <a:chOff x="0" y="0"/>
            <a:chExt cx="10241280" cy="1097280"/>
          </a:xfrm>
        </p:grpSpPr>
        <p:sp>
          <p:nvSpPr>
            <p:cNvPr name="Freeform 94" id="94"/>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95" id="95"/>
            <p:cNvSpPr txBox="true"/>
            <p:nvPr/>
          </p:nvSpPr>
          <p:spPr>
            <a:xfrm>
              <a:off x="0" y="-47625"/>
              <a:ext cx="10241280" cy="1144905"/>
            </a:xfrm>
            <a:prstGeom prst="rect">
              <a:avLst/>
            </a:prstGeom>
          </p:spPr>
          <p:txBody>
            <a:bodyPr anchor="ctr" rtlCol="false" tIns="0" lIns="0" bIns="0" rIns="0"/>
            <a:lstStyle/>
            <a:p>
              <a:pPr algn="l">
                <a:lnSpc>
                  <a:spcPts val="2640"/>
                </a:lnSpc>
              </a:pPr>
              <a:r>
                <a:rPr lang="en-US" sz="2200">
                  <a:solidFill>
                    <a:srgbClr val="666666"/>
                  </a:solidFill>
                  <a:latin typeface="Calibri (MS)"/>
                  <a:ea typeface="Calibri (MS)"/>
                  <a:cs typeface="Calibri (MS)"/>
                  <a:sym typeface="Calibri (MS)"/>
                </a:rPr>
                <a:t>847 transactions, 83% verified, credits by industry, buy vs sell volume charts</a:t>
              </a:r>
            </a:p>
          </p:txBody>
        </p:sp>
      </p:grpSp>
      <p:grpSp>
        <p:nvGrpSpPr>
          <p:cNvPr name="Group 96" id="96"/>
          <p:cNvGrpSpPr/>
          <p:nvPr/>
        </p:nvGrpSpPr>
        <p:grpSpPr>
          <a:xfrm rot="0">
            <a:off x="9686287" y="6193279"/>
            <a:ext cx="8059417" cy="1750057"/>
            <a:chOff x="0" y="0"/>
            <a:chExt cx="10745889" cy="2333409"/>
          </a:xfrm>
        </p:grpSpPr>
        <p:sp>
          <p:nvSpPr>
            <p:cNvPr name="Freeform 97" id="97"/>
            <p:cNvSpPr/>
            <p:nvPr/>
          </p:nvSpPr>
          <p:spPr>
            <a:xfrm flipH="false" flipV="false" rot="0">
              <a:off x="8509" y="8509"/>
              <a:ext cx="10728960" cy="2316480"/>
            </a:xfrm>
            <a:custGeom>
              <a:avLst/>
              <a:gdLst/>
              <a:ahLst/>
              <a:cxnLst/>
              <a:rect r="r" b="b" t="t" l="l"/>
              <a:pathLst>
                <a:path h="2316480" w="10728960">
                  <a:moveTo>
                    <a:pt x="0" y="0"/>
                  </a:moveTo>
                  <a:lnTo>
                    <a:pt x="10728960" y="0"/>
                  </a:lnTo>
                  <a:lnTo>
                    <a:pt x="10728960" y="2316480"/>
                  </a:lnTo>
                  <a:lnTo>
                    <a:pt x="0" y="2316480"/>
                  </a:lnTo>
                  <a:close/>
                </a:path>
              </a:pathLst>
            </a:custGeom>
            <a:solidFill>
              <a:srgbClr val="FFFFFF"/>
            </a:solidFill>
          </p:spPr>
        </p:sp>
        <p:sp>
          <p:nvSpPr>
            <p:cNvPr name="Freeform 98" id="98"/>
            <p:cNvSpPr/>
            <p:nvPr/>
          </p:nvSpPr>
          <p:spPr>
            <a:xfrm flipH="false" flipV="false" rot="0">
              <a:off x="0" y="0"/>
              <a:ext cx="10745978" cy="2333498"/>
            </a:xfrm>
            <a:custGeom>
              <a:avLst/>
              <a:gdLst/>
              <a:ahLst/>
              <a:cxnLst/>
              <a:rect r="r" b="b" t="t" l="l"/>
              <a:pathLst>
                <a:path h="2333498" w="10745978">
                  <a:moveTo>
                    <a:pt x="8509" y="0"/>
                  </a:moveTo>
                  <a:lnTo>
                    <a:pt x="10737469" y="0"/>
                  </a:lnTo>
                  <a:cubicBezTo>
                    <a:pt x="10742168" y="0"/>
                    <a:pt x="10745978" y="3810"/>
                    <a:pt x="10745978" y="8509"/>
                  </a:cubicBezTo>
                  <a:lnTo>
                    <a:pt x="10745978" y="2324989"/>
                  </a:lnTo>
                  <a:cubicBezTo>
                    <a:pt x="10745978" y="2329688"/>
                    <a:pt x="10742168" y="2333498"/>
                    <a:pt x="1073746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737469" y="2316480"/>
                  </a:lnTo>
                  <a:lnTo>
                    <a:pt x="10737469" y="2324989"/>
                  </a:lnTo>
                  <a:lnTo>
                    <a:pt x="10728960" y="2324989"/>
                  </a:lnTo>
                  <a:lnTo>
                    <a:pt x="10728960" y="8509"/>
                  </a:lnTo>
                  <a:lnTo>
                    <a:pt x="10737469" y="8509"/>
                  </a:lnTo>
                  <a:lnTo>
                    <a:pt x="10737469" y="17018"/>
                  </a:lnTo>
                  <a:lnTo>
                    <a:pt x="8509" y="17018"/>
                  </a:lnTo>
                  <a:close/>
                </a:path>
              </a:pathLst>
            </a:custGeom>
            <a:solidFill>
              <a:srgbClr val="E0E0E0"/>
            </a:solidFill>
          </p:spPr>
        </p:sp>
      </p:grpSp>
      <p:grpSp>
        <p:nvGrpSpPr>
          <p:cNvPr name="Group 99" id="99"/>
          <p:cNvGrpSpPr/>
          <p:nvPr/>
        </p:nvGrpSpPr>
        <p:grpSpPr>
          <a:xfrm rot="0">
            <a:off x="9679943" y="6186935"/>
            <a:ext cx="135131" cy="1762763"/>
            <a:chOff x="0" y="0"/>
            <a:chExt cx="180175" cy="2350351"/>
          </a:xfrm>
        </p:grpSpPr>
        <p:sp>
          <p:nvSpPr>
            <p:cNvPr name="Freeform 100" id="100"/>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1B6B3A"/>
            </a:solidFill>
          </p:spPr>
        </p:sp>
        <p:sp>
          <p:nvSpPr>
            <p:cNvPr name="Freeform 101" id="101"/>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1B6B3A"/>
            </a:solidFill>
          </p:spPr>
        </p:sp>
      </p:grpSp>
      <p:grpSp>
        <p:nvGrpSpPr>
          <p:cNvPr name="Group 102" id="102"/>
          <p:cNvGrpSpPr/>
          <p:nvPr/>
        </p:nvGrpSpPr>
        <p:grpSpPr>
          <a:xfrm rot="0">
            <a:off x="9966960" y="6345936"/>
            <a:ext cx="7680960" cy="548640"/>
            <a:chOff x="0" y="0"/>
            <a:chExt cx="10241280" cy="731520"/>
          </a:xfrm>
        </p:grpSpPr>
        <p:sp>
          <p:nvSpPr>
            <p:cNvPr name="Freeform 103" id="103"/>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04" id="104"/>
            <p:cNvSpPr txBox="true"/>
            <p:nvPr/>
          </p:nvSpPr>
          <p:spPr>
            <a:xfrm>
              <a:off x="0" y="-57150"/>
              <a:ext cx="10241280" cy="78867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 About</a:t>
              </a:r>
            </a:p>
          </p:txBody>
        </p:sp>
      </p:grpSp>
      <p:grpSp>
        <p:nvGrpSpPr>
          <p:cNvPr name="Group 105" id="105"/>
          <p:cNvGrpSpPr/>
          <p:nvPr/>
        </p:nvGrpSpPr>
        <p:grpSpPr>
          <a:xfrm rot="0">
            <a:off x="9966960" y="6894576"/>
            <a:ext cx="7680960" cy="822960"/>
            <a:chOff x="0" y="0"/>
            <a:chExt cx="10241280" cy="1097280"/>
          </a:xfrm>
        </p:grpSpPr>
        <p:sp>
          <p:nvSpPr>
            <p:cNvPr name="Freeform 106" id="106"/>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107" id="107"/>
            <p:cNvSpPr txBox="true"/>
            <p:nvPr/>
          </p:nvSpPr>
          <p:spPr>
            <a:xfrm>
              <a:off x="0" y="-47625"/>
              <a:ext cx="10241280" cy="1144905"/>
            </a:xfrm>
            <a:prstGeom prst="rect">
              <a:avLst/>
            </a:prstGeom>
          </p:spPr>
          <p:txBody>
            <a:bodyPr anchor="ctr" rtlCol="false" tIns="0" lIns="0" bIns="0" rIns="0"/>
            <a:lstStyle/>
            <a:p>
              <a:pPr algn="l">
                <a:lnSpc>
                  <a:spcPts val="2640"/>
                </a:lnSpc>
              </a:pPr>
              <a:r>
                <a:rPr lang="en-US" sz="2200">
                  <a:solidFill>
                    <a:srgbClr val="666666"/>
                  </a:solidFill>
                  <a:latin typeface="Calibri (MS)"/>
                  <a:ea typeface="Calibri (MS)"/>
                  <a:cs typeface="Calibri (MS)"/>
                  <a:sym typeface="Calibri (MS)"/>
                </a:rPr>
                <a:t>Mission, problem, solution, team profiles — Dakshraj, Tejas, Laishram</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65765" y="228605"/>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85054" y="279402"/>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9920740"/>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10453" y="9971537"/>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1214119" y="228605"/>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Credit Catalog — 6 Verified Projects</a:t>
              </a:r>
            </a:p>
          </p:txBody>
        </p:sp>
      </p:grpSp>
      <p:grpSp>
        <p:nvGrpSpPr>
          <p:cNvPr name="Group 37" id="37"/>
          <p:cNvGrpSpPr/>
          <p:nvPr/>
        </p:nvGrpSpPr>
        <p:grpSpPr>
          <a:xfrm rot="0">
            <a:off x="1488439" y="1476370"/>
            <a:ext cx="15910560" cy="640080"/>
            <a:chOff x="0" y="0"/>
            <a:chExt cx="21214080" cy="853440"/>
          </a:xfrm>
        </p:grpSpPr>
        <p:sp>
          <p:nvSpPr>
            <p:cNvPr name="Freeform 38" id="38"/>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9" id="39"/>
            <p:cNvSpPr txBox="true"/>
            <p:nvPr/>
          </p:nvSpPr>
          <p:spPr>
            <a:xfrm>
              <a:off x="0" y="-38100"/>
              <a:ext cx="21214080" cy="891540"/>
            </a:xfrm>
            <a:prstGeom prst="rect">
              <a:avLst/>
            </a:prstGeom>
          </p:spPr>
          <p:txBody>
            <a:bodyPr anchor="ctr" rtlCol="false" tIns="0" lIns="0" bIns="0" rIns="0"/>
            <a:lstStyle/>
            <a:p>
              <a:pPr algn="ctr">
                <a:lnSpc>
                  <a:spcPts val="2879"/>
                </a:lnSpc>
              </a:pPr>
              <a:r>
                <a:rPr lang="en-US" sz="2400">
                  <a:solidFill>
                    <a:srgbClr val="666666"/>
                  </a:solidFill>
                  <a:latin typeface="Calibri (MS)"/>
                  <a:ea typeface="Calibri (MS)"/>
                  <a:cs typeface="Calibri (MS)"/>
                  <a:sym typeface="Calibri (MS)"/>
                </a:rPr>
                <a:t>Filterable by: All Projects · India · International · Forestry · Solar · Wind · Water · Blue Carbon</a:t>
              </a:r>
            </a:p>
          </p:txBody>
        </p:sp>
      </p:grpSp>
      <p:grpSp>
        <p:nvGrpSpPr>
          <p:cNvPr name="Group 40" id="40"/>
          <p:cNvGrpSpPr/>
          <p:nvPr/>
        </p:nvGrpSpPr>
        <p:grpSpPr>
          <a:xfrm rot="0">
            <a:off x="1488439" y="2240275"/>
            <a:ext cx="15311132" cy="6263645"/>
            <a:chOff x="0" y="0"/>
            <a:chExt cx="21457920" cy="8778240"/>
          </a:xfrm>
        </p:grpSpPr>
        <p:sp>
          <p:nvSpPr>
            <p:cNvPr name="Freeform 41" id="41" descr="preencoded.png"/>
            <p:cNvSpPr/>
            <p:nvPr/>
          </p:nvSpPr>
          <p:spPr>
            <a:xfrm flipH="false" flipV="false" rot="0">
              <a:off x="0" y="0"/>
              <a:ext cx="21457920" cy="8778240"/>
            </a:xfrm>
            <a:custGeom>
              <a:avLst/>
              <a:gdLst/>
              <a:ahLst/>
              <a:cxnLst/>
              <a:rect r="r" b="b" t="t" l="l"/>
              <a:pathLst>
                <a:path h="8778240" w="21457920">
                  <a:moveTo>
                    <a:pt x="0" y="0"/>
                  </a:moveTo>
                  <a:lnTo>
                    <a:pt x="21457920" y="0"/>
                  </a:lnTo>
                  <a:lnTo>
                    <a:pt x="21457920" y="8778240"/>
                  </a:lnTo>
                  <a:lnTo>
                    <a:pt x="0" y="8778240"/>
                  </a:lnTo>
                  <a:lnTo>
                    <a:pt x="0" y="0"/>
                  </a:lnTo>
                  <a:close/>
                </a:path>
              </a:pathLst>
            </a:custGeom>
            <a:blipFill>
              <a:blip r:embed="rId4"/>
              <a:stretch>
                <a:fillRect l="0" t="-19422" r="0" b="-19422"/>
              </a:stretch>
            </a:blipFill>
          </p:spPr>
        </p:sp>
      </p:grpSp>
      <p:grpSp>
        <p:nvGrpSpPr>
          <p:cNvPr name="Group 42" id="42"/>
          <p:cNvGrpSpPr/>
          <p:nvPr/>
        </p:nvGrpSpPr>
        <p:grpSpPr>
          <a:xfrm rot="0">
            <a:off x="1488439" y="8546087"/>
            <a:ext cx="15311132" cy="537467"/>
            <a:chOff x="0" y="0"/>
            <a:chExt cx="20414842" cy="716623"/>
          </a:xfrm>
        </p:grpSpPr>
        <p:sp>
          <p:nvSpPr>
            <p:cNvPr name="Freeform 43" id="43"/>
            <p:cNvSpPr/>
            <p:nvPr/>
          </p:nvSpPr>
          <p:spPr>
            <a:xfrm flipH="false" flipV="false" rot="0">
              <a:off x="16045" y="16891"/>
              <a:ext cx="20382668" cy="682752"/>
            </a:xfrm>
            <a:custGeom>
              <a:avLst/>
              <a:gdLst/>
              <a:ahLst/>
              <a:cxnLst/>
              <a:rect r="r" b="b" t="t" l="l"/>
              <a:pathLst>
                <a:path h="682752" w="20382668">
                  <a:moveTo>
                    <a:pt x="0" y="0"/>
                  </a:moveTo>
                  <a:lnTo>
                    <a:pt x="20382668" y="0"/>
                  </a:lnTo>
                  <a:lnTo>
                    <a:pt x="20382668" y="682752"/>
                  </a:lnTo>
                  <a:lnTo>
                    <a:pt x="0" y="682752"/>
                  </a:lnTo>
                  <a:close/>
                </a:path>
              </a:pathLst>
            </a:custGeom>
            <a:solidFill>
              <a:srgbClr val="1B6B3A"/>
            </a:solidFill>
          </p:spPr>
        </p:sp>
        <p:sp>
          <p:nvSpPr>
            <p:cNvPr name="Freeform 44" id="44"/>
            <p:cNvSpPr/>
            <p:nvPr/>
          </p:nvSpPr>
          <p:spPr>
            <a:xfrm flipH="false" flipV="false" rot="0">
              <a:off x="0" y="0"/>
              <a:ext cx="20414759" cy="716536"/>
            </a:xfrm>
            <a:custGeom>
              <a:avLst/>
              <a:gdLst/>
              <a:ahLst/>
              <a:cxnLst/>
              <a:rect r="r" b="b" t="t" l="l"/>
              <a:pathLst>
                <a:path h="716536" w="20414759">
                  <a:moveTo>
                    <a:pt x="16045" y="0"/>
                  </a:moveTo>
                  <a:lnTo>
                    <a:pt x="20398713" y="0"/>
                  </a:lnTo>
                  <a:cubicBezTo>
                    <a:pt x="20407640" y="0"/>
                    <a:pt x="20414759" y="7620"/>
                    <a:pt x="20414759" y="16891"/>
                  </a:cubicBezTo>
                  <a:lnTo>
                    <a:pt x="20414759" y="699643"/>
                  </a:lnTo>
                  <a:cubicBezTo>
                    <a:pt x="20414759" y="709041"/>
                    <a:pt x="20407520" y="716534"/>
                    <a:pt x="20398713" y="716534"/>
                  </a:cubicBezTo>
                  <a:lnTo>
                    <a:pt x="16045" y="716534"/>
                  </a:lnTo>
                  <a:cubicBezTo>
                    <a:pt x="7238" y="716661"/>
                    <a:pt x="0" y="709041"/>
                    <a:pt x="0" y="699643"/>
                  </a:cubicBezTo>
                  <a:lnTo>
                    <a:pt x="0" y="16891"/>
                  </a:lnTo>
                  <a:cubicBezTo>
                    <a:pt x="0" y="7620"/>
                    <a:pt x="7238" y="0"/>
                    <a:pt x="16045" y="0"/>
                  </a:cubicBezTo>
                  <a:moveTo>
                    <a:pt x="16045" y="33909"/>
                  </a:moveTo>
                  <a:lnTo>
                    <a:pt x="16045" y="16891"/>
                  </a:lnTo>
                  <a:lnTo>
                    <a:pt x="32210" y="16891"/>
                  </a:lnTo>
                  <a:lnTo>
                    <a:pt x="32210" y="699643"/>
                  </a:lnTo>
                  <a:lnTo>
                    <a:pt x="16045" y="699643"/>
                  </a:lnTo>
                  <a:lnTo>
                    <a:pt x="16045" y="682752"/>
                  </a:lnTo>
                  <a:lnTo>
                    <a:pt x="20398713" y="682752"/>
                  </a:lnTo>
                  <a:lnTo>
                    <a:pt x="20398713" y="699643"/>
                  </a:lnTo>
                  <a:lnTo>
                    <a:pt x="20382669" y="699643"/>
                  </a:lnTo>
                  <a:lnTo>
                    <a:pt x="20382669" y="16891"/>
                  </a:lnTo>
                  <a:lnTo>
                    <a:pt x="20398713" y="16891"/>
                  </a:lnTo>
                  <a:lnTo>
                    <a:pt x="20398713" y="33909"/>
                  </a:lnTo>
                  <a:lnTo>
                    <a:pt x="16045" y="33909"/>
                  </a:lnTo>
                  <a:close/>
                </a:path>
              </a:pathLst>
            </a:custGeom>
            <a:solidFill>
              <a:srgbClr val="1B6B3A"/>
            </a:solidFill>
          </p:spPr>
        </p:sp>
      </p:grpSp>
      <p:grpSp>
        <p:nvGrpSpPr>
          <p:cNvPr name="Group 45" id="45"/>
          <p:cNvGrpSpPr/>
          <p:nvPr/>
        </p:nvGrpSpPr>
        <p:grpSpPr>
          <a:xfrm rot="0">
            <a:off x="1097280" y="8558784"/>
            <a:ext cx="15311132" cy="512064"/>
            <a:chOff x="0" y="0"/>
            <a:chExt cx="20414842" cy="682752"/>
          </a:xfrm>
        </p:grpSpPr>
        <p:sp>
          <p:nvSpPr>
            <p:cNvPr name="Freeform 46" id="46"/>
            <p:cNvSpPr/>
            <p:nvPr/>
          </p:nvSpPr>
          <p:spPr>
            <a:xfrm flipH="false" flipV="false" rot="0">
              <a:off x="0" y="0"/>
              <a:ext cx="20414842" cy="682752"/>
            </a:xfrm>
            <a:custGeom>
              <a:avLst/>
              <a:gdLst/>
              <a:ahLst/>
              <a:cxnLst/>
              <a:rect r="r" b="b" t="t" l="l"/>
              <a:pathLst>
                <a:path h="682752" w="20414842">
                  <a:moveTo>
                    <a:pt x="0" y="0"/>
                  </a:moveTo>
                  <a:lnTo>
                    <a:pt x="20414842" y="0"/>
                  </a:lnTo>
                  <a:lnTo>
                    <a:pt x="20414842" y="682752"/>
                  </a:lnTo>
                  <a:lnTo>
                    <a:pt x="0" y="682752"/>
                  </a:lnTo>
                  <a:close/>
                </a:path>
              </a:pathLst>
            </a:custGeom>
            <a:blipFill>
              <a:blip r:embed="rId3">
                <a:alphaModFix amt="0"/>
              </a:blip>
              <a:stretch>
                <a:fillRect l="0" t="-562386" r="-5109" b="-562386"/>
              </a:stretch>
            </a:blipFill>
          </p:spPr>
        </p:sp>
        <p:sp>
          <p:nvSpPr>
            <p:cNvPr name="TextBox 47" id="47"/>
            <p:cNvSpPr txBox="true"/>
            <p:nvPr/>
          </p:nvSpPr>
          <p:spPr>
            <a:xfrm>
              <a:off x="0" y="-47625"/>
              <a:ext cx="20414842" cy="730377"/>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Amazon Reforestation  ·  Rajasthan Solar  ·  Tamil Nadu Wind  ·  Kenya Water  ·  Gujarat Cooking  ·  Sundarbans Mangrove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300742"/>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48488" y="351539"/>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29179" y="9971537"/>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16816" y="9920740"/>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Trade &amp; Portfolio Dashboard</a:t>
              </a:r>
            </a:p>
          </p:txBody>
        </p:sp>
      </p:grpSp>
      <p:grpSp>
        <p:nvGrpSpPr>
          <p:cNvPr name="Group 37" id="37"/>
          <p:cNvGrpSpPr/>
          <p:nvPr/>
        </p:nvGrpSpPr>
        <p:grpSpPr>
          <a:xfrm rot="0">
            <a:off x="1188720" y="1499616"/>
            <a:ext cx="15910560" cy="640080"/>
            <a:chOff x="0" y="0"/>
            <a:chExt cx="21214080" cy="853440"/>
          </a:xfrm>
        </p:grpSpPr>
        <p:sp>
          <p:nvSpPr>
            <p:cNvPr name="Freeform 38" id="38"/>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9" id="39"/>
            <p:cNvSpPr txBox="true"/>
            <p:nvPr/>
          </p:nvSpPr>
          <p:spPr>
            <a:xfrm>
              <a:off x="0" y="-38100"/>
              <a:ext cx="21214080" cy="891540"/>
            </a:xfrm>
            <a:prstGeom prst="rect">
              <a:avLst/>
            </a:prstGeom>
          </p:spPr>
          <p:txBody>
            <a:bodyPr anchor="ctr" rtlCol="false" tIns="0" lIns="0" bIns="0" rIns="0"/>
            <a:lstStyle/>
            <a:p>
              <a:pPr algn="ctr">
                <a:lnSpc>
                  <a:spcPts val="2879"/>
                </a:lnSpc>
              </a:pPr>
              <a:r>
                <a:rPr lang="en-US" sz="2400">
                  <a:solidFill>
                    <a:srgbClr val="666666"/>
                  </a:solidFill>
                  <a:latin typeface="Calibri (MS)"/>
                  <a:ea typeface="Calibri (MS)"/>
                  <a:cs typeface="Calibri (MS)"/>
                  <a:sym typeface="Calibri (MS)"/>
                </a:rPr>
                <a:t>Buy / Sell / Retire credits with live price calculation including GST</a:t>
              </a:r>
            </a:p>
          </p:txBody>
        </p:sp>
      </p:grpSp>
      <p:grpSp>
        <p:nvGrpSpPr>
          <p:cNvPr name="Group 40" id="40"/>
          <p:cNvGrpSpPr/>
          <p:nvPr/>
        </p:nvGrpSpPr>
        <p:grpSpPr>
          <a:xfrm rot="0">
            <a:off x="1188720" y="2234946"/>
            <a:ext cx="7757541" cy="5171694"/>
            <a:chOff x="0" y="0"/>
            <a:chExt cx="10972800" cy="7315200"/>
          </a:xfrm>
        </p:grpSpPr>
        <p:sp>
          <p:nvSpPr>
            <p:cNvPr name="Freeform 41" id="41" descr="preencoded.png"/>
            <p:cNvSpPr/>
            <p:nvPr/>
          </p:nvSpPr>
          <p:spPr>
            <a:xfrm flipH="false" flipV="false" rot="0">
              <a:off x="0" y="0"/>
              <a:ext cx="10972800" cy="7315200"/>
            </a:xfrm>
            <a:custGeom>
              <a:avLst/>
              <a:gdLst/>
              <a:ahLst/>
              <a:cxnLst/>
              <a:rect r="r" b="b" t="t" l="l"/>
              <a:pathLst>
                <a:path h="7315200" w="10972800">
                  <a:moveTo>
                    <a:pt x="0" y="0"/>
                  </a:moveTo>
                  <a:lnTo>
                    <a:pt x="10972800" y="0"/>
                  </a:lnTo>
                  <a:lnTo>
                    <a:pt x="10972800" y="7315200"/>
                  </a:lnTo>
                  <a:lnTo>
                    <a:pt x="0" y="7315200"/>
                  </a:lnTo>
                  <a:lnTo>
                    <a:pt x="0" y="0"/>
                  </a:lnTo>
                  <a:close/>
                </a:path>
              </a:pathLst>
            </a:custGeom>
            <a:blipFill>
              <a:blip r:embed="rId4"/>
              <a:stretch>
                <a:fillRect l="-8633" t="0" r="-8633" b="0"/>
              </a:stretch>
            </a:blipFill>
          </p:spPr>
        </p:sp>
      </p:grpSp>
      <p:grpSp>
        <p:nvGrpSpPr>
          <p:cNvPr name="Group 42" id="42"/>
          <p:cNvGrpSpPr/>
          <p:nvPr/>
        </p:nvGrpSpPr>
        <p:grpSpPr>
          <a:xfrm rot="0">
            <a:off x="9446002" y="2240275"/>
            <a:ext cx="7749547" cy="5166365"/>
            <a:chOff x="0" y="0"/>
            <a:chExt cx="10972800" cy="7315200"/>
          </a:xfrm>
        </p:grpSpPr>
        <p:sp>
          <p:nvSpPr>
            <p:cNvPr name="Freeform 43" id="43" descr="preencoded.png"/>
            <p:cNvSpPr/>
            <p:nvPr/>
          </p:nvSpPr>
          <p:spPr>
            <a:xfrm flipH="false" flipV="false" rot="0">
              <a:off x="0" y="0"/>
              <a:ext cx="10972800" cy="7315200"/>
            </a:xfrm>
            <a:custGeom>
              <a:avLst/>
              <a:gdLst/>
              <a:ahLst/>
              <a:cxnLst/>
              <a:rect r="r" b="b" t="t" l="l"/>
              <a:pathLst>
                <a:path h="7315200" w="10972800">
                  <a:moveTo>
                    <a:pt x="0" y="0"/>
                  </a:moveTo>
                  <a:lnTo>
                    <a:pt x="10972800" y="0"/>
                  </a:lnTo>
                  <a:lnTo>
                    <a:pt x="10972800" y="7315200"/>
                  </a:lnTo>
                  <a:lnTo>
                    <a:pt x="0" y="7315200"/>
                  </a:lnTo>
                  <a:lnTo>
                    <a:pt x="0" y="0"/>
                  </a:lnTo>
                  <a:close/>
                </a:path>
              </a:pathLst>
            </a:custGeom>
            <a:blipFill>
              <a:blip r:embed="rId5"/>
              <a:stretch>
                <a:fillRect l="-8582" t="0" r="-8582" b="0"/>
              </a:stretch>
            </a:blipFill>
          </p:spPr>
        </p:sp>
      </p:grpSp>
      <p:grpSp>
        <p:nvGrpSpPr>
          <p:cNvPr name="Group 44" id="44"/>
          <p:cNvGrpSpPr/>
          <p:nvPr/>
        </p:nvGrpSpPr>
        <p:grpSpPr>
          <a:xfrm rot="0">
            <a:off x="1188720" y="7430519"/>
            <a:ext cx="7757541" cy="537467"/>
            <a:chOff x="0" y="0"/>
            <a:chExt cx="10343388" cy="716623"/>
          </a:xfrm>
        </p:grpSpPr>
        <p:sp>
          <p:nvSpPr>
            <p:cNvPr name="Freeform 45" id="45"/>
            <p:cNvSpPr/>
            <p:nvPr/>
          </p:nvSpPr>
          <p:spPr>
            <a:xfrm flipH="false" flipV="false" rot="0">
              <a:off x="15873" y="16891"/>
              <a:ext cx="10311559" cy="682752"/>
            </a:xfrm>
            <a:custGeom>
              <a:avLst/>
              <a:gdLst/>
              <a:ahLst/>
              <a:cxnLst/>
              <a:rect r="r" b="b" t="t" l="l"/>
              <a:pathLst>
                <a:path h="682752" w="10311559">
                  <a:moveTo>
                    <a:pt x="0" y="0"/>
                  </a:moveTo>
                  <a:lnTo>
                    <a:pt x="10311559" y="0"/>
                  </a:lnTo>
                  <a:lnTo>
                    <a:pt x="10311559" y="682752"/>
                  </a:lnTo>
                  <a:lnTo>
                    <a:pt x="0" y="682752"/>
                  </a:lnTo>
                  <a:close/>
                </a:path>
              </a:pathLst>
            </a:custGeom>
            <a:solidFill>
              <a:srgbClr val="1B6B3A"/>
            </a:solidFill>
          </p:spPr>
        </p:sp>
        <p:sp>
          <p:nvSpPr>
            <p:cNvPr name="Freeform 46" id="46"/>
            <p:cNvSpPr/>
            <p:nvPr/>
          </p:nvSpPr>
          <p:spPr>
            <a:xfrm flipH="false" flipV="false" rot="0">
              <a:off x="0" y="0"/>
              <a:ext cx="10343304" cy="716536"/>
            </a:xfrm>
            <a:custGeom>
              <a:avLst/>
              <a:gdLst/>
              <a:ahLst/>
              <a:cxnLst/>
              <a:rect r="r" b="b" t="t" l="l"/>
              <a:pathLst>
                <a:path h="716536" w="10343304">
                  <a:moveTo>
                    <a:pt x="15873" y="0"/>
                  </a:moveTo>
                  <a:lnTo>
                    <a:pt x="10327432" y="0"/>
                  </a:lnTo>
                  <a:cubicBezTo>
                    <a:pt x="10336263" y="0"/>
                    <a:pt x="10343304" y="7620"/>
                    <a:pt x="10343304" y="16891"/>
                  </a:cubicBezTo>
                  <a:lnTo>
                    <a:pt x="10343304" y="699643"/>
                  </a:lnTo>
                  <a:cubicBezTo>
                    <a:pt x="10343304" y="709041"/>
                    <a:pt x="10336144" y="716534"/>
                    <a:pt x="10327432" y="716534"/>
                  </a:cubicBezTo>
                  <a:lnTo>
                    <a:pt x="15873" y="716534"/>
                  </a:lnTo>
                  <a:cubicBezTo>
                    <a:pt x="7161" y="716661"/>
                    <a:pt x="0" y="709041"/>
                    <a:pt x="0" y="699643"/>
                  </a:cubicBezTo>
                  <a:lnTo>
                    <a:pt x="0" y="16891"/>
                  </a:lnTo>
                  <a:cubicBezTo>
                    <a:pt x="0" y="7620"/>
                    <a:pt x="7161" y="0"/>
                    <a:pt x="15873" y="0"/>
                  </a:cubicBezTo>
                  <a:moveTo>
                    <a:pt x="15873" y="33909"/>
                  </a:moveTo>
                  <a:lnTo>
                    <a:pt x="15873" y="16891"/>
                  </a:lnTo>
                  <a:lnTo>
                    <a:pt x="31866" y="16891"/>
                  </a:lnTo>
                  <a:lnTo>
                    <a:pt x="31866" y="699643"/>
                  </a:lnTo>
                  <a:lnTo>
                    <a:pt x="15873" y="699643"/>
                  </a:lnTo>
                  <a:lnTo>
                    <a:pt x="15873" y="682752"/>
                  </a:lnTo>
                  <a:lnTo>
                    <a:pt x="10327432" y="682752"/>
                  </a:lnTo>
                  <a:lnTo>
                    <a:pt x="10327432" y="699643"/>
                  </a:lnTo>
                  <a:lnTo>
                    <a:pt x="10311558" y="699643"/>
                  </a:lnTo>
                  <a:lnTo>
                    <a:pt x="10311558" y="16891"/>
                  </a:lnTo>
                  <a:lnTo>
                    <a:pt x="10327432" y="16891"/>
                  </a:lnTo>
                  <a:lnTo>
                    <a:pt x="10327432" y="33909"/>
                  </a:lnTo>
                  <a:lnTo>
                    <a:pt x="15873" y="33909"/>
                  </a:lnTo>
                  <a:close/>
                </a:path>
              </a:pathLst>
            </a:custGeom>
            <a:solidFill>
              <a:srgbClr val="1B6B3A"/>
            </a:solidFill>
          </p:spPr>
        </p:sp>
      </p:grpSp>
      <p:grpSp>
        <p:nvGrpSpPr>
          <p:cNvPr name="Group 47" id="47"/>
          <p:cNvGrpSpPr/>
          <p:nvPr/>
        </p:nvGrpSpPr>
        <p:grpSpPr>
          <a:xfrm rot="0">
            <a:off x="1188720" y="7443216"/>
            <a:ext cx="7757541" cy="512064"/>
            <a:chOff x="0" y="0"/>
            <a:chExt cx="10343388" cy="682752"/>
          </a:xfrm>
        </p:grpSpPr>
        <p:sp>
          <p:nvSpPr>
            <p:cNvPr name="Freeform 48" id="48"/>
            <p:cNvSpPr/>
            <p:nvPr/>
          </p:nvSpPr>
          <p:spPr>
            <a:xfrm flipH="false" flipV="false" rot="0">
              <a:off x="0" y="0"/>
              <a:ext cx="10343388" cy="682752"/>
            </a:xfrm>
            <a:custGeom>
              <a:avLst/>
              <a:gdLst/>
              <a:ahLst/>
              <a:cxnLst/>
              <a:rect r="r" b="b" t="t" l="l"/>
              <a:pathLst>
                <a:path h="682752" w="10343388">
                  <a:moveTo>
                    <a:pt x="0" y="0"/>
                  </a:moveTo>
                  <a:lnTo>
                    <a:pt x="10343388" y="0"/>
                  </a:lnTo>
                  <a:lnTo>
                    <a:pt x="10343388" y="682752"/>
                  </a:lnTo>
                  <a:lnTo>
                    <a:pt x="0" y="682752"/>
                  </a:lnTo>
                  <a:close/>
                </a:path>
              </a:pathLst>
            </a:custGeom>
            <a:blipFill>
              <a:blip r:embed="rId3">
                <a:alphaModFix amt="0"/>
              </a:blip>
              <a:stretch>
                <a:fillRect l="0" t="-263152" r="-6085" b="-263152"/>
              </a:stretch>
            </a:blipFill>
          </p:spPr>
        </p:sp>
        <p:sp>
          <p:nvSpPr>
            <p:cNvPr name="TextBox 49" id="49"/>
            <p:cNvSpPr txBox="true"/>
            <p:nvPr/>
          </p:nvSpPr>
          <p:spPr>
            <a:xfrm>
              <a:off x="0" y="-47625"/>
              <a:ext cx="10343388" cy="730377"/>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Trade Page — Buy/Sell/Retire with GST &amp; UPI</a:t>
              </a:r>
            </a:p>
          </p:txBody>
        </p:sp>
      </p:grpSp>
      <p:grpSp>
        <p:nvGrpSpPr>
          <p:cNvPr name="Group 50" id="50"/>
          <p:cNvGrpSpPr/>
          <p:nvPr/>
        </p:nvGrpSpPr>
        <p:grpSpPr>
          <a:xfrm rot="0">
            <a:off x="9446002" y="7430519"/>
            <a:ext cx="7813298" cy="537467"/>
            <a:chOff x="0" y="0"/>
            <a:chExt cx="10417731" cy="716623"/>
          </a:xfrm>
        </p:grpSpPr>
        <p:sp>
          <p:nvSpPr>
            <p:cNvPr name="Freeform 51" id="51"/>
            <p:cNvSpPr/>
            <p:nvPr/>
          </p:nvSpPr>
          <p:spPr>
            <a:xfrm flipH="false" flipV="false" rot="0">
              <a:off x="15987" y="16891"/>
              <a:ext cx="10385672" cy="682752"/>
            </a:xfrm>
            <a:custGeom>
              <a:avLst/>
              <a:gdLst/>
              <a:ahLst/>
              <a:cxnLst/>
              <a:rect r="r" b="b" t="t" l="l"/>
              <a:pathLst>
                <a:path h="682752" w="10385672">
                  <a:moveTo>
                    <a:pt x="0" y="0"/>
                  </a:moveTo>
                  <a:lnTo>
                    <a:pt x="10385673" y="0"/>
                  </a:lnTo>
                  <a:lnTo>
                    <a:pt x="10385673" y="682752"/>
                  </a:lnTo>
                  <a:lnTo>
                    <a:pt x="0" y="682752"/>
                  </a:lnTo>
                  <a:close/>
                </a:path>
              </a:pathLst>
            </a:custGeom>
            <a:solidFill>
              <a:srgbClr val="1B6B3A"/>
            </a:solidFill>
          </p:spPr>
        </p:sp>
        <p:sp>
          <p:nvSpPr>
            <p:cNvPr name="Freeform 52" id="52"/>
            <p:cNvSpPr/>
            <p:nvPr/>
          </p:nvSpPr>
          <p:spPr>
            <a:xfrm flipH="false" flipV="false" rot="0">
              <a:off x="0" y="0"/>
              <a:ext cx="10417646" cy="716536"/>
            </a:xfrm>
            <a:custGeom>
              <a:avLst/>
              <a:gdLst/>
              <a:ahLst/>
              <a:cxnLst/>
              <a:rect r="r" b="b" t="t" l="l"/>
              <a:pathLst>
                <a:path h="716536" w="10417646">
                  <a:moveTo>
                    <a:pt x="15987" y="0"/>
                  </a:moveTo>
                  <a:lnTo>
                    <a:pt x="10401660" y="0"/>
                  </a:lnTo>
                  <a:cubicBezTo>
                    <a:pt x="10410554" y="0"/>
                    <a:pt x="10417646" y="7620"/>
                    <a:pt x="10417646" y="16891"/>
                  </a:cubicBezTo>
                  <a:lnTo>
                    <a:pt x="10417646" y="699643"/>
                  </a:lnTo>
                  <a:cubicBezTo>
                    <a:pt x="10417646" y="709041"/>
                    <a:pt x="10410434" y="716534"/>
                    <a:pt x="10401660" y="716534"/>
                  </a:cubicBezTo>
                  <a:lnTo>
                    <a:pt x="15987" y="716534"/>
                  </a:lnTo>
                  <a:cubicBezTo>
                    <a:pt x="7212" y="716661"/>
                    <a:pt x="0" y="709041"/>
                    <a:pt x="0" y="699643"/>
                  </a:cubicBezTo>
                  <a:lnTo>
                    <a:pt x="0" y="16891"/>
                  </a:lnTo>
                  <a:cubicBezTo>
                    <a:pt x="0" y="7620"/>
                    <a:pt x="7212" y="0"/>
                    <a:pt x="15987" y="0"/>
                  </a:cubicBezTo>
                  <a:moveTo>
                    <a:pt x="15987" y="33909"/>
                  </a:moveTo>
                  <a:lnTo>
                    <a:pt x="15987" y="16891"/>
                  </a:lnTo>
                  <a:lnTo>
                    <a:pt x="32095" y="16891"/>
                  </a:lnTo>
                  <a:lnTo>
                    <a:pt x="32095" y="699643"/>
                  </a:lnTo>
                  <a:lnTo>
                    <a:pt x="15987" y="699643"/>
                  </a:lnTo>
                  <a:lnTo>
                    <a:pt x="15987" y="682752"/>
                  </a:lnTo>
                  <a:lnTo>
                    <a:pt x="10401660" y="682752"/>
                  </a:lnTo>
                  <a:lnTo>
                    <a:pt x="10401660" y="699643"/>
                  </a:lnTo>
                  <a:lnTo>
                    <a:pt x="10385672" y="699643"/>
                  </a:lnTo>
                  <a:lnTo>
                    <a:pt x="10385672" y="16891"/>
                  </a:lnTo>
                  <a:lnTo>
                    <a:pt x="10401660" y="16891"/>
                  </a:lnTo>
                  <a:lnTo>
                    <a:pt x="10401660" y="33909"/>
                  </a:lnTo>
                  <a:lnTo>
                    <a:pt x="15987" y="33909"/>
                  </a:lnTo>
                  <a:close/>
                </a:path>
              </a:pathLst>
            </a:custGeom>
            <a:solidFill>
              <a:srgbClr val="1B6B3A"/>
            </a:solidFill>
          </p:spPr>
        </p:sp>
      </p:grpSp>
      <p:grpSp>
        <p:nvGrpSpPr>
          <p:cNvPr name="Group 53" id="53"/>
          <p:cNvGrpSpPr/>
          <p:nvPr/>
        </p:nvGrpSpPr>
        <p:grpSpPr>
          <a:xfrm rot="0">
            <a:off x="9446002" y="7443216"/>
            <a:ext cx="7749547" cy="512064"/>
            <a:chOff x="0" y="0"/>
            <a:chExt cx="10332730" cy="682752"/>
          </a:xfrm>
        </p:grpSpPr>
        <p:sp>
          <p:nvSpPr>
            <p:cNvPr name="Freeform 54" id="54"/>
            <p:cNvSpPr/>
            <p:nvPr/>
          </p:nvSpPr>
          <p:spPr>
            <a:xfrm flipH="false" flipV="false" rot="0">
              <a:off x="0" y="0"/>
              <a:ext cx="10332730" cy="682752"/>
            </a:xfrm>
            <a:custGeom>
              <a:avLst/>
              <a:gdLst/>
              <a:ahLst/>
              <a:cxnLst/>
              <a:rect r="r" b="b" t="t" l="l"/>
              <a:pathLst>
                <a:path h="682752" w="10332730">
                  <a:moveTo>
                    <a:pt x="0" y="0"/>
                  </a:moveTo>
                  <a:lnTo>
                    <a:pt x="10332730" y="0"/>
                  </a:lnTo>
                  <a:lnTo>
                    <a:pt x="10332730" y="682752"/>
                  </a:lnTo>
                  <a:lnTo>
                    <a:pt x="0" y="682752"/>
                  </a:lnTo>
                  <a:close/>
                </a:path>
              </a:pathLst>
            </a:custGeom>
            <a:blipFill>
              <a:blip r:embed="rId3">
                <a:alphaModFix amt="0"/>
              </a:blip>
              <a:stretch>
                <a:fillRect l="0" t="-263152" r="-6194" b="-263152"/>
              </a:stretch>
            </a:blipFill>
          </p:spPr>
        </p:sp>
        <p:sp>
          <p:nvSpPr>
            <p:cNvPr name="TextBox 55" id="55"/>
            <p:cNvSpPr txBox="true"/>
            <p:nvPr/>
          </p:nvSpPr>
          <p:spPr>
            <a:xfrm>
              <a:off x="0" y="-47625"/>
              <a:ext cx="10332730" cy="730377"/>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Portfolio — 2,840 tCO₂ offset · ₹9,180 invested</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297437" y="213846"/>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59656" y="239245"/>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9875272"/>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16816" y="9900671"/>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Dataset Used</a:t>
              </a:r>
            </a:p>
          </p:txBody>
        </p:sp>
      </p:grpSp>
      <p:grpSp>
        <p:nvGrpSpPr>
          <p:cNvPr name="Group 37" id="37"/>
          <p:cNvGrpSpPr/>
          <p:nvPr/>
        </p:nvGrpSpPr>
        <p:grpSpPr>
          <a:xfrm rot="0">
            <a:off x="1188720" y="2011680"/>
            <a:ext cx="15910560" cy="640080"/>
            <a:chOff x="0" y="0"/>
            <a:chExt cx="21214080" cy="853440"/>
          </a:xfrm>
        </p:grpSpPr>
        <p:sp>
          <p:nvSpPr>
            <p:cNvPr name="Freeform 38" id="38"/>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9" id="39"/>
            <p:cNvSpPr txBox="true"/>
            <p:nvPr/>
          </p:nvSpPr>
          <p:spPr>
            <a:xfrm>
              <a:off x="0" y="-47625"/>
              <a:ext cx="2121408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Dataset Name: </a:t>
              </a:r>
              <a:r>
                <a:rPr lang="en-US" sz="2799" b="true">
                  <a:solidFill>
                    <a:srgbClr val="1A1A1A"/>
                  </a:solidFill>
                  <a:latin typeface="Calibri (MS) Bold"/>
                  <a:ea typeface="Calibri (MS) Bold"/>
                  <a:cs typeface="Calibri (MS) Bold"/>
                  <a:sym typeface="Calibri (MS) Bold"/>
                </a:rPr>
                <a:t>Carbon Trading Transactions Dataset</a:t>
              </a:r>
            </a:p>
          </p:txBody>
        </p:sp>
      </p:grpSp>
      <p:grpSp>
        <p:nvGrpSpPr>
          <p:cNvPr name="Group 40" id="40"/>
          <p:cNvGrpSpPr/>
          <p:nvPr/>
        </p:nvGrpSpPr>
        <p:grpSpPr>
          <a:xfrm rot="0">
            <a:off x="1188720" y="2743200"/>
            <a:ext cx="15910560" cy="640080"/>
            <a:chOff x="0" y="0"/>
            <a:chExt cx="21214080" cy="853440"/>
          </a:xfrm>
        </p:grpSpPr>
        <p:sp>
          <p:nvSpPr>
            <p:cNvPr name="Freeform 41" id="41"/>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42" id="42"/>
            <p:cNvSpPr txBox="true"/>
            <p:nvPr/>
          </p:nvSpPr>
          <p:spPr>
            <a:xfrm>
              <a:off x="0" y="-47625"/>
              <a:ext cx="2121408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Source: </a:t>
              </a:r>
              <a:r>
                <a:rPr lang="en-US" sz="2799" b="true">
                  <a:solidFill>
                    <a:srgbClr val="1A1A1A"/>
                  </a:solidFill>
                  <a:latin typeface="Calibri (MS) Bold"/>
                  <a:ea typeface="Calibri (MS) Bold"/>
                  <a:cs typeface="Calibri (MS) Bold"/>
                  <a:sym typeface="Calibri (MS) Bold"/>
                </a:rPr>
                <a:t>Kaggle  |  5,000 records  |  15 variables  |  2024–2025 data</a:t>
              </a:r>
            </a:p>
          </p:txBody>
        </p:sp>
      </p:grpSp>
      <p:grpSp>
        <p:nvGrpSpPr>
          <p:cNvPr name="Group 43" id="43"/>
          <p:cNvGrpSpPr/>
          <p:nvPr/>
        </p:nvGrpSpPr>
        <p:grpSpPr>
          <a:xfrm rot="0">
            <a:off x="1188720" y="3657600"/>
            <a:ext cx="7315200" cy="640080"/>
            <a:chOff x="0" y="0"/>
            <a:chExt cx="9753600" cy="853440"/>
          </a:xfrm>
        </p:grpSpPr>
        <p:sp>
          <p:nvSpPr>
            <p:cNvPr name="Freeform 44" id="44"/>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45" id="45"/>
            <p:cNvSpPr txBox="true"/>
            <p:nvPr/>
          </p:nvSpPr>
          <p:spPr>
            <a:xfrm>
              <a:off x="0" y="-47625"/>
              <a:ext cx="975360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Key Variables Used:</a:t>
              </a:r>
            </a:p>
          </p:txBody>
        </p:sp>
      </p:grpSp>
      <p:grpSp>
        <p:nvGrpSpPr>
          <p:cNvPr name="Group 46" id="46"/>
          <p:cNvGrpSpPr/>
          <p:nvPr/>
        </p:nvGrpSpPr>
        <p:grpSpPr>
          <a:xfrm rot="0">
            <a:off x="1188720" y="4389120"/>
            <a:ext cx="15910560" cy="3840480"/>
            <a:chOff x="0" y="0"/>
            <a:chExt cx="21214080" cy="5120640"/>
          </a:xfrm>
        </p:grpSpPr>
        <p:sp>
          <p:nvSpPr>
            <p:cNvPr name="Freeform 47" id="47"/>
            <p:cNvSpPr/>
            <p:nvPr/>
          </p:nvSpPr>
          <p:spPr>
            <a:xfrm flipH="false" flipV="false" rot="0">
              <a:off x="0" y="0"/>
              <a:ext cx="21214080" cy="5120640"/>
            </a:xfrm>
            <a:custGeom>
              <a:avLst/>
              <a:gdLst/>
              <a:ahLst/>
              <a:cxnLst/>
              <a:rect r="r" b="b" t="t" l="l"/>
              <a:pathLst>
                <a:path h="5120640" w="21214080">
                  <a:moveTo>
                    <a:pt x="0" y="0"/>
                  </a:moveTo>
                  <a:lnTo>
                    <a:pt x="21214080" y="0"/>
                  </a:lnTo>
                  <a:lnTo>
                    <a:pt x="21214080" y="5120640"/>
                  </a:lnTo>
                  <a:lnTo>
                    <a:pt x="0" y="5120640"/>
                  </a:lnTo>
                  <a:close/>
                </a:path>
              </a:pathLst>
            </a:custGeom>
            <a:blipFill>
              <a:blip r:embed="rId3">
                <a:alphaModFix amt="0"/>
              </a:blip>
              <a:stretch>
                <a:fillRect l="0" t="-30723" r="0" b="-30723"/>
              </a:stretch>
            </a:blipFill>
          </p:spPr>
        </p:sp>
        <p:sp>
          <p:nvSpPr>
            <p:cNvPr name="TextBox 48" id="48"/>
            <p:cNvSpPr txBox="true"/>
            <p:nvPr/>
          </p:nvSpPr>
          <p:spPr>
            <a:xfrm>
              <a:off x="0" y="-57150"/>
              <a:ext cx="21214080" cy="5177790"/>
            </a:xfrm>
            <a:prstGeom prst="rect">
              <a:avLst/>
            </a:prstGeom>
          </p:spPr>
          <p:txBody>
            <a:bodyPr anchor="ctr" rtlCol="false" tIns="0" lIns="0" bIns="0" rIns="0"/>
            <a:lstStyle/>
            <a:p>
              <a:pPr algn="l" marL="627380" indent="-313690" lvl="1">
                <a:lnSpc>
                  <a:spcPts val="3120"/>
                </a:lnSpc>
                <a:buFont typeface="Arial"/>
                <a:buChar char="•"/>
              </a:pPr>
              <a:r>
                <a:rPr lang="en-US" sz="2600">
                  <a:solidFill>
                    <a:srgbClr val="1A1A1A"/>
                  </a:solidFill>
                  <a:latin typeface="Calibri (MS)"/>
                  <a:ea typeface="Calibri (MS)"/>
                  <a:cs typeface="Calibri (MS)"/>
                  <a:sym typeface="Calibri (MS)"/>
                </a:rPr>
                <a:t>Date (2024–2025)</a:t>
              </a:r>
            </a:p>
            <a:p>
              <a:pPr algn="l" marL="627380" indent="-313690" lvl="1">
                <a:lnSpc>
                  <a:spcPts val="3120"/>
                </a:lnSpc>
                <a:buFont typeface="Arial"/>
                <a:buChar char="•"/>
              </a:pPr>
              <a:r>
                <a:rPr lang="en-US" sz="2600">
                  <a:solidFill>
                    <a:srgbClr val="1A1A1A"/>
                  </a:solidFill>
                  <a:latin typeface="Calibri (MS)"/>
                  <a:ea typeface="Calibri (MS)"/>
                  <a:cs typeface="Calibri (MS)"/>
                  <a:sym typeface="Calibri (MS)"/>
                </a:rPr>
                <a:t>Carbon Price (USD/tCO₂) — range $20–$35</a:t>
              </a:r>
            </a:p>
            <a:p>
              <a:pPr algn="l" marL="627380" indent="-313690" lvl="1">
                <a:lnSpc>
                  <a:spcPts val="3120"/>
                </a:lnSpc>
                <a:buFont typeface="Arial"/>
                <a:buChar char="•"/>
              </a:pPr>
              <a:r>
                <a:rPr lang="en-US" sz="2600">
                  <a:solidFill>
                    <a:srgbClr val="1A1A1A"/>
                  </a:solidFill>
                  <a:latin typeface="Calibri (MS)"/>
                  <a:ea typeface="Calibri (MS)"/>
                  <a:cs typeface="Calibri (MS)"/>
                  <a:sym typeface="Calibri (MS)"/>
                </a:rPr>
                <a:t>Industry Type (Steel, Energy, Cement, Manufacturing)</a:t>
              </a:r>
            </a:p>
            <a:p>
              <a:pPr algn="l" marL="627380" indent="-313690" lvl="1">
                <a:lnSpc>
                  <a:spcPts val="3120"/>
                </a:lnSpc>
                <a:buFont typeface="Arial"/>
                <a:buChar char="•"/>
              </a:pPr>
              <a:r>
                <a:rPr lang="en-US" sz="2600">
                  <a:solidFill>
                    <a:srgbClr val="1A1A1A"/>
                  </a:solidFill>
                  <a:latin typeface="Calibri (MS)"/>
                  <a:ea typeface="Calibri (MS)"/>
                  <a:cs typeface="Calibri (MS)"/>
                  <a:sym typeface="Calibri (MS)"/>
                </a:rPr>
                <a:t>Emission Produced &amp; Allowance (tCO₂)</a:t>
              </a:r>
            </a:p>
            <a:p>
              <a:pPr algn="l" marL="627380" indent="-313690" lvl="1">
                <a:lnSpc>
                  <a:spcPts val="3120"/>
                </a:lnSpc>
                <a:buFont typeface="Arial"/>
                <a:buChar char="•"/>
              </a:pPr>
              <a:r>
                <a:rPr lang="en-US" sz="2600">
                  <a:solidFill>
                    <a:srgbClr val="1A1A1A"/>
                  </a:solidFill>
                  <a:latin typeface="Calibri (MS)"/>
                  <a:ea typeface="Calibri (MS)"/>
                  <a:cs typeface="Calibri (MS)"/>
                  <a:sym typeface="Calibri (MS)"/>
                </a:rPr>
                <a:t>Transaction Type (Buy/Sell), Credits Traded, Verification Status</a:t>
              </a:r>
            </a:p>
            <a:p>
              <a:pPr algn="l" marL="627380" indent="-313690" lvl="1">
                <a:lnSpc>
                  <a:spcPts val="3120"/>
                </a:lnSpc>
                <a:buFont typeface="Arial"/>
                <a:buChar char="•"/>
              </a:pPr>
              <a:r>
                <a:rPr lang="en-US" sz="2600">
                  <a:solidFill>
                    <a:srgbClr val="1A1A1A"/>
                  </a:solidFill>
                  <a:latin typeface="Calibri (MS)"/>
                  <a:ea typeface="Calibri (MS)"/>
                  <a:cs typeface="Calibri (MS)"/>
                  <a:sym typeface="Calibri (MS)"/>
                </a:rPr>
                <a:t>Compliance Cost &amp; Carbon Cost Savings (USD)</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1711957"/>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0453" y="1711957"/>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8387077"/>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10453" y="8387077"/>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38100"/>
              <a:ext cx="21945600" cy="1379220"/>
            </a:xfrm>
            <a:prstGeom prst="rect">
              <a:avLst/>
            </a:prstGeom>
          </p:spPr>
          <p:txBody>
            <a:bodyPr anchor="ctr" rtlCol="false" tIns="0" lIns="0" bIns="0" rIns="0"/>
            <a:lstStyle/>
            <a:p>
              <a:pPr algn="l">
                <a:lnSpc>
                  <a:spcPts val="6719"/>
                </a:lnSpc>
              </a:pPr>
              <a:r>
                <a:rPr lang="en-US" b="true" sz="5599" u="sng">
                  <a:solidFill>
                    <a:srgbClr val="1A1A1A"/>
                  </a:solidFill>
                  <a:latin typeface="Arial Bold"/>
                  <a:ea typeface="Arial Bold"/>
                  <a:cs typeface="Arial Bold"/>
                  <a:sym typeface="Arial Bold"/>
                </a:rPr>
                <a:t>Tools and Technologies</a:t>
              </a:r>
            </a:p>
          </p:txBody>
        </p:sp>
      </p:grpSp>
      <p:grpSp>
        <p:nvGrpSpPr>
          <p:cNvPr name="Group 37" id="37"/>
          <p:cNvGrpSpPr/>
          <p:nvPr/>
        </p:nvGrpSpPr>
        <p:grpSpPr>
          <a:xfrm rot="0">
            <a:off x="993143" y="2072135"/>
            <a:ext cx="482603" cy="482603"/>
            <a:chOff x="0" y="0"/>
            <a:chExt cx="643471" cy="643471"/>
          </a:xfrm>
        </p:grpSpPr>
        <p:sp>
          <p:nvSpPr>
            <p:cNvPr name="Freeform 38" id="38"/>
            <p:cNvSpPr/>
            <p:nvPr/>
          </p:nvSpPr>
          <p:spPr>
            <a:xfrm flipH="false" flipV="false" rot="0">
              <a:off x="16891" y="16891"/>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1B6B3A"/>
            </a:solidFill>
          </p:spPr>
        </p:sp>
        <p:sp>
          <p:nvSpPr>
            <p:cNvPr name="Freeform 39" id="39"/>
            <p:cNvSpPr/>
            <p:nvPr/>
          </p:nvSpPr>
          <p:spPr>
            <a:xfrm flipH="false" flipV="false" rot="0">
              <a:off x="0" y="0"/>
              <a:ext cx="643509" cy="643382"/>
            </a:xfrm>
            <a:custGeom>
              <a:avLst/>
              <a:gdLst/>
              <a:ahLst/>
              <a:cxnLst/>
              <a:rect r="r" b="b" t="t" l="l"/>
              <a:pathLst>
                <a:path h="643382" w="643509">
                  <a:moveTo>
                    <a:pt x="0" y="321691"/>
                  </a:moveTo>
                  <a:cubicBezTo>
                    <a:pt x="0" y="144018"/>
                    <a:pt x="144018" y="0"/>
                    <a:pt x="321691" y="0"/>
                  </a:cubicBezTo>
                  <a:lnTo>
                    <a:pt x="321691" y="16891"/>
                  </a:lnTo>
                  <a:lnTo>
                    <a:pt x="321691" y="0"/>
                  </a:lnTo>
                  <a:cubicBezTo>
                    <a:pt x="499364" y="0"/>
                    <a:pt x="643509" y="144018"/>
                    <a:pt x="643509" y="321691"/>
                  </a:cubicBezTo>
                  <a:lnTo>
                    <a:pt x="626491" y="321691"/>
                  </a:lnTo>
                  <a:lnTo>
                    <a:pt x="643382" y="321691"/>
                  </a:lnTo>
                  <a:cubicBezTo>
                    <a:pt x="643382" y="499364"/>
                    <a:pt x="499364" y="643382"/>
                    <a:pt x="321691" y="643382"/>
                  </a:cubicBezTo>
                  <a:lnTo>
                    <a:pt x="321691" y="626491"/>
                  </a:lnTo>
                  <a:lnTo>
                    <a:pt x="321691" y="643382"/>
                  </a:lnTo>
                  <a:cubicBezTo>
                    <a:pt x="144018" y="643509"/>
                    <a:pt x="0" y="499364"/>
                    <a:pt x="0" y="321691"/>
                  </a:cubicBezTo>
                  <a:lnTo>
                    <a:pt x="16891" y="321691"/>
                  </a:lnTo>
                  <a:lnTo>
                    <a:pt x="33909" y="321691"/>
                  </a:lnTo>
                  <a:lnTo>
                    <a:pt x="16891" y="321691"/>
                  </a:lnTo>
                  <a:lnTo>
                    <a:pt x="0" y="321691"/>
                  </a:lnTo>
                  <a:moveTo>
                    <a:pt x="33909" y="321691"/>
                  </a:moveTo>
                  <a:cubicBezTo>
                    <a:pt x="33909" y="331089"/>
                    <a:pt x="26289" y="338582"/>
                    <a:pt x="17018" y="338582"/>
                  </a:cubicBezTo>
                  <a:cubicBezTo>
                    <a:pt x="7747" y="338582"/>
                    <a:pt x="0" y="331089"/>
                    <a:pt x="0" y="321691"/>
                  </a:cubicBezTo>
                  <a:cubicBezTo>
                    <a:pt x="0" y="312293"/>
                    <a:pt x="7620" y="304800"/>
                    <a:pt x="16891" y="304800"/>
                  </a:cubicBezTo>
                  <a:cubicBezTo>
                    <a:pt x="26162" y="304800"/>
                    <a:pt x="33782" y="312420"/>
                    <a:pt x="33782" y="321691"/>
                  </a:cubicBezTo>
                  <a:cubicBezTo>
                    <a:pt x="33909" y="480695"/>
                    <a:pt x="162687" y="609600"/>
                    <a:pt x="321691" y="609600"/>
                  </a:cubicBezTo>
                  <a:cubicBezTo>
                    <a:pt x="480695" y="609600"/>
                    <a:pt x="609600" y="480695"/>
                    <a:pt x="609600" y="321691"/>
                  </a:cubicBezTo>
                  <a:cubicBezTo>
                    <a:pt x="609600" y="162687"/>
                    <a:pt x="480695" y="33909"/>
                    <a:pt x="321691" y="33909"/>
                  </a:cubicBezTo>
                  <a:lnTo>
                    <a:pt x="321691" y="16891"/>
                  </a:lnTo>
                  <a:lnTo>
                    <a:pt x="321691" y="33909"/>
                  </a:lnTo>
                  <a:cubicBezTo>
                    <a:pt x="162687" y="33909"/>
                    <a:pt x="33909" y="162687"/>
                    <a:pt x="33909" y="321691"/>
                  </a:cubicBezTo>
                  <a:close/>
                </a:path>
              </a:pathLst>
            </a:custGeom>
            <a:solidFill>
              <a:srgbClr val="1B6B3A"/>
            </a:solidFill>
          </p:spPr>
        </p:sp>
      </p:grpSp>
      <p:grpSp>
        <p:nvGrpSpPr>
          <p:cNvPr name="Group 40" id="40"/>
          <p:cNvGrpSpPr/>
          <p:nvPr/>
        </p:nvGrpSpPr>
        <p:grpSpPr>
          <a:xfrm rot="0">
            <a:off x="1737360" y="2011680"/>
            <a:ext cx="5120640" cy="640080"/>
            <a:chOff x="0" y="0"/>
            <a:chExt cx="6827520" cy="853440"/>
          </a:xfrm>
        </p:grpSpPr>
        <p:sp>
          <p:nvSpPr>
            <p:cNvPr name="Freeform 41" id="41"/>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42" id="42"/>
            <p:cNvSpPr txBox="true"/>
            <p:nvPr/>
          </p:nvSpPr>
          <p:spPr>
            <a:xfrm>
              <a:off x="0" y="-57150"/>
              <a:ext cx="682752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HTML / CSS / JavaScript</a:t>
              </a:r>
            </a:p>
          </p:txBody>
        </p:sp>
      </p:grpSp>
      <p:grpSp>
        <p:nvGrpSpPr>
          <p:cNvPr name="Group 43" id="43"/>
          <p:cNvGrpSpPr/>
          <p:nvPr/>
        </p:nvGrpSpPr>
        <p:grpSpPr>
          <a:xfrm rot="0">
            <a:off x="6858000" y="2011680"/>
            <a:ext cx="10424160" cy="640080"/>
            <a:chOff x="0" y="0"/>
            <a:chExt cx="13898880" cy="853440"/>
          </a:xfrm>
        </p:grpSpPr>
        <p:sp>
          <p:nvSpPr>
            <p:cNvPr name="Freeform 44" id="44"/>
            <p:cNvSpPr/>
            <p:nvPr/>
          </p:nvSpPr>
          <p:spPr>
            <a:xfrm flipH="false" flipV="false" rot="0">
              <a:off x="0" y="0"/>
              <a:ext cx="13898880" cy="853440"/>
            </a:xfrm>
            <a:custGeom>
              <a:avLst/>
              <a:gdLst/>
              <a:ahLst/>
              <a:cxnLst/>
              <a:rect r="r" b="b" t="t" l="l"/>
              <a:pathLst>
                <a:path h="853440" w="13898880">
                  <a:moveTo>
                    <a:pt x="0" y="0"/>
                  </a:moveTo>
                  <a:lnTo>
                    <a:pt x="13898880" y="0"/>
                  </a:lnTo>
                  <a:lnTo>
                    <a:pt x="13898880" y="853440"/>
                  </a:lnTo>
                  <a:lnTo>
                    <a:pt x="0" y="853440"/>
                  </a:lnTo>
                  <a:close/>
                </a:path>
              </a:pathLst>
            </a:custGeom>
            <a:blipFill>
              <a:blip r:embed="rId3">
                <a:alphaModFix amt="0"/>
              </a:blip>
              <a:stretch>
                <a:fillRect l="0" t="-267327" r="0" b="-267327"/>
              </a:stretch>
            </a:blipFill>
          </p:spPr>
        </p:sp>
        <p:sp>
          <p:nvSpPr>
            <p:cNvPr name="TextBox 45" id="45"/>
            <p:cNvSpPr txBox="true"/>
            <p:nvPr/>
          </p:nvSpPr>
          <p:spPr>
            <a:xfrm>
              <a:off x="0" y="-57150"/>
              <a:ext cx="13898880" cy="910590"/>
            </a:xfrm>
            <a:prstGeom prst="rect">
              <a:avLst/>
            </a:prstGeom>
          </p:spPr>
          <p:txBody>
            <a:bodyPr anchor="ctr" rtlCol="false" tIns="0" lIns="0" bIns="0" rIns="0"/>
            <a:lstStyle/>
            <a:p>
              <a:pPr algn="l">
                <a:lnSpc>
                  <a:spcPts val="3120"/>
                </a:lnSpc>
              </a:pPr>
              <a:r>
                <a:rPr lang="en-US" sz="2600">
                  <a:solidFill>
                    <a:srgbClr val="666666"/>
                  </a:solidFill>
                  <a:latin typeface="Calibri (MS)"/>
                  <a:ea typeface="Calibri (MS)"/>
                  <a:cs typeface="Calibri (MS)"/>
                  <a:sym typeface="Calibri (MS)"/>
                </a:rPr>
                <a:t>—  Website development — fully interactive 6-page marketplace</a:t>
              </a:r>
            </a:p>
          </p:txBody>
        </p:sp>
      </p:grpSp>
      <p:grpSp>
        <p:nvGrpSpPr>
          <p:cNvPr name="Group 46" id="46"/>
          <p:cNvGrpSpPr/>
          <p:nvPr/>
        </p:nvGrpSpPr>
        <p:grpSpPr>
          <a:xfrm rot="0">
            <a:off x="993143" y="3260855"/>
            <a:ext cx="482603" cy="482603"/>
            <a:chOff x="0" y="0"/>
            <a:chExt cx="643471" cy="643471"/>
          </a:xfrm>
        </p:grpSpPr>
        <p:sp>
          <p:nvSpPr>
            <p:cNvPr name="Freeform 47" id="47"/>
            <p:cNvSpPr/>
            <p:nvPr/>
          </p:nvSpPr>
          <p:spPr>
            <a:xfrm flipH="false" flipV="false" rot="0">
              <a:off x="16891" y="16891"/>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1B6B3A"/>
            </a:solidFill>
          </p:spPr>
        </p:sp>
        <p:sp>
          <p:nvSpPr>
            <p:cNvPr name="Freeform 48" id="48"/>
            <p:cNvSpPr/>
            <p:nvPr/>
          </p:nvSpPr>
          <p:spPr>
            <a:xfrm flipH="false" flipV="false" rot="0">
              <a:off x="0" y="0"/>
              <a:ext cx="643509" cy="643382"/>
            </a:xfrm>
            <a:custGeom>
              <a:avLst/>
              <a:gdLst/>
              <a:ahLst/>
              <a:cxnLst/>
              <a:rect r="r" b="b" t="t" l="l"/>
              <a:pathLst>
                <a:path h="643382" w="643509">
                  <a:moveTo>
                    <a:pt x="0" y="321691"/>
                  </a:moveTo>
                  <a:cubicBezTo>
                    <a:pt x="0" y="144018"/>
                    <a:pt x="144018" y="0"/>
                    <a:pt x="321691" y="0"/>
                  </a:cubicBezTo>
                  <a:lnTo>
                    <a:pt x="321691" y="16891"/>
                  </a:lnTo>
                  <a:lnTo>
                    <a:pt x="321691" y="0"/>
                  </a:lnTo>
                  <a:cubicBezTo>
                    <a:pt x="499364" y="0"/>
                    <a:pt x="643509" y="144018"/>
                    <a:pt x="643509" y="321691"/>
                  </a:cubicBezTo>
                  <a:lnTo>
                    <a:pt x="626491" y="321691"/>
                  </a:lnTo>
                  <a:lnTo>
                    <a:pt x="643382" y="321691"/>
                  </a:lnTo>
                  <a:cubicBezTo>
                    <a:pt x="643382" y="499364"/>
                    <a:pt x="499364" y="643382"/>
                    <a:pt x="321691" y="643382"/>
                  </a:cubicBezTo>
                  <a:lnTo>
                    <a:pt x="321691" y="626491"/>
                  </a:lnTo>
                  <a:lnTo>
                    <a:pt x="321691" y="643382"/>
                  </a:lnTo>
                  <a:cubicBezTo>
                    <a:pt x="144018" y="643509"/>
                    <a:pt x="0" y="499364"/>
                    <a:pt x="0" y="321691"/>
                  </a:cubicBezTo>
                  <a:lnTo>
                    <a:pt x="16891" y="321691"/>
                  </a:lnTo>
                  <a:lnTo>
                    <a:pt x="33909" y="321691"/>
                  </a:lnTo>
                  <a:lnTo>
                    <a:pt x="16891" y="321691"/>
                  </a:lnTo>
                  <a:lnTo>
                    <a:pt x="0" y="321691"/>
                  </a:lnTo>
                  <a:moveTo>
                    <a:pt x="33909" y="321691"/>
                  </a:moveTo>
                  <a:cubicBezTo>
                    <a:pt x="33909" y="331089"/>
                    <a:pt x="26289" y="338582"/>
                    <a:pt x="17018" y="338582"/>
                  </a:cubicBezTo>
                  <a:cubicBezTo>
                    <a:pt x="7747" y="338582"/>
                    <a:pt x="0" y="331089"/>
                    <a:pt x="0" y="321691"/>
                  </a:cubicBezTo>
                  <a:cubicBezTo>
                    <a:pt x="0" y="312293"/>
                    <a:pt x="7620" y="304800"/>
                    <a:pt x="16891" y="304800"/>
                  </a:cubicBezTo>
                  <a:cubicBezTo>
                    <a:pt x="26162" y="304800"/>
                    <a:pt x="33782" y="312420"/>
                    <a:pt x="33782" y="321691"/>
                  </a:cubicBezTo>
                  <a:cubicBezTo>
                    <a:pt x="33909" y="480695"/>
                    <a:pt x="162687" y="609600"/>
                    <a:pt x="321691" y="609600"/>
                  </a:cubicBezTo>
                  <a:cubicBezTo>
                    <a:pt x="480695" y="609600"/>
                    <a:pt x="609600" y="480695"/>
                    <a:pt x="609600" y="321691"/>
                  </a:cubicBezTo>
                  <a:cubicBezTo>
                    <a:pt x="609600" y="162687"/>
                    <a:pt x="480695" y="33909"/>
                    <a:pt x="321691" y="33909"/>
                  </a:cubicBezTo>
                  <a:lnTo>
                    <a:pt x="321691" y="16891"/>
                  </a:lnTo>
                  <a:lnTo>
                    <a:pt x="321691" y="33909"/>
                  </a:lnTo>
                  <a:cubicBezTo>
                    <a:pt x="162687" y="33909"/>
                    <a:pt x="33909" y="162687"/>
                    <a:pt x="33909" y="321691"/>
                  </a:cubicBezTo>
                  <a:close/>
                </a:path>
              </a:pathLst>
            </a:custGeom>
            <a:solidFill>
              <a:srgbClr val="1B6B3A"/>
            </a:solidFill>
          </p:spPr>
        </p:sp>
      </p:grpSp>
      <p:grpSp>
        <p:nvGrpSpPr>
          <p:cNvPr name="Group 49" id="49"/>
          <p:cNvGrpSpPr/>
          <p:nvPr/>
        </p:nvGrpSpPr>
        <p:grpSpPr>
          <a:xfrm rot="0">
            <a:off x="1737360" y="3200400"/>
            <a:ext cx="5120640" cy="640080"/>
            <a:chOff x="0" y="0"/>
            <a:chExt cx="6827520" cy="853440"/>
          </a:xfrm>
        </p:grpSpPr>
        <p:sp>
          <p:nvSpPr>
            <p:cNvPr name="Freeform 50" id="50"/>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51" id="51"/>
            <p:cNvSpPr txBox="true"/>
            <p:nvPr/>
          </p:nvSpPr>
          <p:spPr>
            <a:xfrm>
              <a:off x="0" y="-57150"/>
              <a:ext cx="682752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Netlify</a:t>
              </a:r>
            </a:p>
          </p:txBody>
        </p:sp>
      </p:grpSp>
      <p:grpSp>
        <p:nvGrpSpPr>
          <p:cNvPr name="Group 52" id="52"/>
          <p:cNvGrpSpPr/>
          <p:nvPr/>
        </p:nvGrpSpPr>
        <p:grpSpPr>
          <a:xfrm rot="0">
            <a:off x="6858000" y="3200400"/>
            <a:ext cx="10424160" cy="640080"/>
            <a:chOff x="0" y="0"/>
            <a:chExt cx="13898880" cy="853440"/>
          </a:xfrm>
        </p:grpSpPr>
        <p:sp>
          <p:nvSpPr>
            <p:cNvPr name="Freeform 53" id="53"/>
            <p:cNvSpPr/>
            <p:nvPr/>
          </p:nvSpPr>
          <p:spPr>
            <a:xfrm flipH="false" flipV="false" rot="0">
              <a:off x="0" y="0"/>
              <a:ext cx="13898880" cy="853440"/>
            </a:xfrm>
            <a:custGeom>
              <a:avLst/>
              <a:gdLst/>
              <a:ahLst/>
              <a:cxnLst/>
              <a:rect r="r" b="b" t="t" l="l"/>
              <a:pathLst>
                <a:path h="853440" w="13898880">
                  <a:moveTo>
                    <a:pt x="0" y="0"/>
                  </a:moveTo>
                  <a:lnTo>
                    <a:pt x="13898880" y="0"/>
                  </a:lnTo>
                  <a:lnTo>
                    <a:pt x="13898880" y="853440"/>
                  </a:lnTo>
                  <a:lnTo>
                    <a:pt x="0" y="853440"/>
                  </a:lnTo>
                  <a:close/>
                </a:path>
              </a:pathLst>
            </a:custGeom>
            <a:blipFill>
              <a:blip r:embed="rId3">
                <a:alphaModFix amt="0"/>
              </a:blip>
              <a:stretch>
                <a:fillRect l="0" t="-267327" r="0" b="-267327"/>
              </a:stretch>
            </a:blipFill>
          </p:spPr>
        </p:sp>
        <p:sp>
          <p:nvSpPr>
            <p:cNvPr name="TextBox 54" id="54"/>
            <p:cNvSpPr txBox="true"/>
            <p:nvPr/>
          </p:nvSpPr>
          <p:spPr>
            <a:xfrm>
              <a:off x="0" y="-57150"/>
              <a:ext cx="13898880" cy="910590"/>
            </a:xfrm>
            <a:prstGeom prst="rect">
              <a:avLst/>
            </a:prstGeom>
          </p:spPr>
          <p:txBody>
            <a:bodyPr anchor="ctr" rtlCol="false" tIns="0" lIns="0" bIns="0" rIns="0"/>
            <a:lstStyle/>
            <a:p>
              <a:pPr algn="l">
                <a:lnSpc>
                  <a:spcPts val="3120"/>
                </a:lnSpc>
              </a:pPr>
              <a:r>
                <a:rPr lang="en-US" sz="2600">
                  <a:solidFill>
                    <a:srgbClr val="666666"/>
                  </a:solidFill>
                  <a:latin typeface="Calibri (MS)"/>
                  <a:ea typeface="Calibri (MS)"/>
                  <a:cs typeface="Calibri (MS)"/>
                  <a:sym typeface="Calibri (MS)"/>
                </a:rPr>
                <a:t>—  Website deployment — live public URL, free hosting</a:t>
              </a:r>
            </a:p>
          </p:txBody>
        </p:sp>
      </p:grpSp>
      <p:grpSp>
        <p:nvGrpSpPr>
          <p:cNvPr name="Group 55" id="55"/>
          <p:cNvGrpSpPr/>
          <p:nvPr/>
        </p:nvGrpSpPr>
        <p:grpSpPr>
          <a:xfrm rot="0">
            <a:off x="993143" y="4449575"/>
            <a:ext cx="482603" cy="482603"/>
            <a:chOff x="0" y="0"/>
            <a:chExt cx="643471" cy="643471"/>
          </a:xfrm>
        </p:grpSpPr>
        <p:sp>
          <p:nvSpPr>
            <p:cNvPr name="Freeform 56" id="56"/>
            <p:cNvSpPr/>
            <p:nvPr/>
          </p:nvSpPr>
          <p:spPr>
            <a:xfrm flipH="false" flipV="false" rot="0">
              <a:off x="16891" y="16891"/>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1B6B3A"/>
            </a:solidFill>
          </p:spPr>
        </p:sp>
        <p:sp>
          <p:nvSpPr>
            <p:cNvPr name="Freeform 57" id="57"/>
            <p:cNvSpPr/>
            <p:nvPr/>
          </p:nvSpPr>
          <p:spPr>
            <a:xfrm flipH="false" flipV="false" rot="0">
              <a:off x="0" y="0"/>
              <a:ext cx="643509" cy="643382"/>
            </a:xfrm>
            <a:custGeom>
              <a:avLst/>
              <a:gdLst/>
              <a:ahLst/>
              <a:cxnLst/>
              <a:rect r="r" b="b" t="t" l="l"/>
              <a:pathLst>
                <a:path h="643382" w="643509">
                  <a:moveTo>
                    <a:pt x="0" y="321691"/>
                  </a:moveTo>
                  <a:cubicBezTo>
                    <a:pt x="0" y="144018"/>
                    <a:pt x="144018" y="0"/>
                    <a:pt x="321691" y="0"/>
                  </a:cubicBezTo>
                  <a:lnTo>
                    <a:pt x="321691" y="16891"/>
                  </a:lnTo>
                  <a:lnTo>
                    <a:pt x="321691" y="0"/>
                  </a:lnTo>
                  <a:cubicBezTo>
                    <a:pt x="499364" y="0"/>
                    <a:pt x="643509" y="144018"/>
                    <a:pt x="643509" y="321691"/>
                  </a:cubicBezTo>
                  <a:lnTo>
                    <a:pt x="626491" y="321691"/>
                  </a:lnTo>
                  <a:lnTo>
                    <a:pt x="643382" y="321691"/>
                  </a:lnTo>
                  <a:cubicBezTo>
                    <a:pt x="643382" y="499364"/>
                    <a:pt x="499364" y="643382"/>
                    <a:pt x="321691" y="643382"/>
                  </a:cubicBezTo>
                  <a:lnTo>
                    <a:pt x="321691" y="626491"/>
                  </a:lnTo>
                  <a:lnTo>
                    <a:pt x="321691" y="643382"/>
                  </a:lnTo>
                  <a:cubicBezTo>
                    <a:pt x="144018" y="643509"/>
                    <a:pt x="0" y="499364"/>
                    <a:pt x="0" y="321691"/>
                  </a:cubicBezTo>
                  <a:lnTo>
                    <a:pt x="16891" y="321691"/>
                  </a:lnTo>
                  <a:lnTo>
                    <a:pt x="33909" y="321691"/>
                  </a:lnTo>
                  <a:lnTo>
                    <a:pt x="16891" y="321691"/>
                  </a:lnTo>
                  <a:lnTo>
                    <a:pt x="0" y="321691"/>
                  </a:lnTo>
                  <a:moveTo>
                    <a:pt x="33909" y="321691"/>
                  </a:moveTo>
                  <a:cubicBezTo>
                    <a:pt x="33909" y="331089"/>
                    <a:pt x="26289" y="338582"/>
                    <a:pt x="17018" y="338582"/>
                  </a:cubicBezTo>
                  <a:cubicBezTo>
                    <a:pt x="7747" y="338582"/>
                    <a:pt x="0" y="331089"/>
                    <a:pt x="0" y="321691"/>
                  </a:cubicBezTo>
                  <a:cubicBezTo>
                    <a:pt x="0" y="312293"/>
                    <a:pt x="7620" y="304800"/>
                    <a:pt x="16891" y="304800"/>
                  </a:cubicBezTo>
                  <a:cubicBezTo>
                    <a:pt x="26162" y="304800"/>
                    <a:pt x="33782" y="312420"/>
                    <a:pt x="33782" y="321691"/>
                  </a:cubicBezTo>
                  <a:cubicBezTo>
                    <a:pt x="33909" y="480695"/>
                    <a:pt x="162687" y="609600"/>
                    <a:pt x="321691" y="609600"/>
                  </a:cubicBezTo>
                  <a:cubicBezTo>
                    <a:pt x="480695" y="609600"/>
                    <a:pt x="609600" y="480695"/>
                    <a:pt x="609600" y="321691"/>
                  </a:cubicBezTo>
                  <a:cubicBezTo>
                    <a:pt x="609600" y="162687"/>
                    <a:pt x="480695" y="33909"/>
                    <a:pt x="321691" y="33909"/>
                  </a:cubicBezTo>
                  <a:lnTo>
                    <a:pt x="321691" y="16891"/>
                  </a:lnTo>
                  <a:lnTo>
                    <a:pt x="321691" y="33909"/>
                  </a:lnTo>
                  <a:cubicBezTo>
                    <a:pt x="162687" y="33909"/>
                    <a:pt x="33909" y="162687"/>
                    <a:pt x="33909" y="321691"/>
                  </a:cubicBezTo>
                  <a:close/>
                </a:path>
              </a:pathLst>
            </a:custGeom>
            <a:solidFill>
              <a:srgbClr val="1B6B3A"/>
            </a:solidFill>
          </p:spPr>
        </p:sp>
      </p:grpSp>
      <p:grpSp>
        <p:nvGrpSpPr>
          <p:cNvPr name="Group 58" id="58"/>
          <p:cNvGrpSpPr/>
          <p:nvPr/>
        </p:nvGrpSpPr>
        <p:grpSpPr>
          <a:xfrm rot="0">
            <a:off x="1737360" y="4389120"/>
            <a:ext cx="5120640" cy="640080"/>
            <a:chOff x="0" y="0"/>
            <a:chExt cx="6827520" cy="853440"/>
          </a:xfrm>
        </p:grpSpPr>
        <p:sp>
          <p:nvSpPr>
            <p:cNvPr name="Freeform 59" id="59"/>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60" id="60"/>
            <p:cNvSpPr txBox="true"/>
            <p:nvPr/>
          </p:nvSpPr>
          <p:spPr>
            <a:xfrm>
              <a:off x="0" y="-57150"/>
              <a:ext cx="682752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Tableau Public</a:t>
              </a:r>
            </a:p>
          </p:txBody>
        </p:sp>
      </p:grpSp>
      <p:grpSp>
        <p:nvGrpSpPr>
          <p:cNvPr name="Group 61" id="61"/>
          <p:cNvGrpSpPr/>
          <p:nvPr/>
        </p:nvGrpSpPr>
        <p:grpSpPr>
          <a:xfrm rot="0">
            <a:off x="6858000" y="4389120"/>
            <a:ext cx="10424160" cy="640080"/>
            <a:chOff x="0" y="0"/>
            <a:chExt cx="13898880" cy="853440"/>
          </a:xfrm>
        </p:grpSpPr>
        <p:sp>
          <p:nvSpPr>
            <p:cNvPr name="Freeform 62" id="62"/>
            <p:cNvSpPr/>
            <p:nvPr/>
          </p:nvSpPr>
          <p:spPr>
            <a:xfrm flipH="false" flipV="false" rot="0">
              <a:off x="0" y="0"/>
              <a:ext cx="13898880" cy="853440"/>
            </a:xfrm>
            <a:custGeom>
              <a:avLst/>
              <a:gdLst/>
              <a:ahLst/>
              <a:cxnLst/>
              <a:rect r="r" b="b" t="t" l="l"/>
              <a:pathLst>
                <a:path h="853440" w="13898880">
                  <a:moveTo>
                    <a:pt x="0" y="0"/>
                  </a:moveTo>
                  <a:lnTo>
                    <a:pt x="13898880" y="0"/>
                  </a:lnTo>
                  <a:lnTo>
                    <a:pt x="13898880" y="853440"/>
                  </a:lnTo>
                  <a:lnTo>
                    <a:pt x="0" y="853440"/>
                  </a:lnTo>
                  <a:close/>
                </a:path>
              </a:pathLst>
            </a:custGeom>
            <a:blipFill>
              <a:blip r:embed="rId3">
                <a:alphaModFix amt="0"/>
              </a:blip>
              <a:stretch>
                <a:fillRect l="0" t="-267327" r="0" b="-267327"/>
              </a:stretch>
            </a:blipFill>
          </p:spPr>
        </p:sp>
        <p:sp>
          <p:nvSpPr>
            <p:cNvPr name="TextBox 63" id="63"/>
            <p:cNvSpPr txBox="true"/>
            <p:nvPr/>
          </p:nvSpPr>
          <p:spPr>
            <a:xfrm>
              <a:off x="0" y="-57150"/>
              <a:ext cx="13898880" cy="910590"/>
            </a:xfrm>
            <a:prstGeom prst="rect">
              <a:avLst/>
            </a:prstGeom>
          </p:spPr>
          <p:txBody>
            <a:bodyPr anchor="ctr" rtlCol="false" tIns="0" lIns="0" bIns="0" rIns="0"/>
            <a:lstStyle/>
            <a:p>
              <a:pPr algn="l">
                <a:lnSpc>
                  <a:spcPts val="3120"/>
                </a:lnSpc>
              </a:pPr>
              <a:r>
                <a:rPr lang="en-US" sz="2600">
                  <a:solidFill>
                    <a:srgbClr val="666666"/>
                  </a:solidFill>
                  <a:latin typeface="Calibri (MS)"/>
                  <a:ea typeface="Calibri (MS)"/>
                  <a:cs typeface="Calibri (MS)"/>
                  <a:sym typeface="Calibri (MS)"/>
                </a:rPr>
                <a:t>—  Data visualization and dashboard development</a:t>
              </a:r>
            </a:p>
          </p:txBody>
        </p:sp>
      </p:grpSp>
      <p:grpSp>
        <p:nvGrpSpPr>
          <p:cNvPr name="Group 64" id="64"/>
          <p:cNvGrpSpPr/>
          <p:nvPr/>
        </p:nvGrpSpPr>
        <p:grpSpPr>
          <a:xfrm rot="0">
            <a:off x="993143" y="5638295"/>
            <a:ext cx="482603" cy="482603"/>
            <a:chOff x="0" y="0"/>
            <a:chExt cx="643471" cy="643471"/>
          </a:xfrm>
        </p:grpSpPr>
        <p:sp>
          <p:nvSpPr>
            <p:cNvPr name="Freeform 65" id="65"/>
            <p:cNvSpPr/>
            <p:nvPr/>
          </p:nvSpPr>
          <p:spPr>
            <a:xfrm flipH="false" flipV="false" rot="0">
              <a:off x="16891" y="16891"/>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1B6B3A"/>
            </a:solidFill>
          </p:spPr>
        </p:sp>
        <p:sp>
          <p:nvSpPr>
            <p:cNvPr name="Freeform 66" id="66"/>
            <p:cNvSpPr/>
            <p:nvPr/>
          </p:nvSpPr>
          <p:spPr>
            <a:xfrm flipH="false" flipV="false" rot="0">
              <a:off x="0" y="0"/>
              <a:ext cx="643509" cy="643382"/>
            </a:xfrm>
            <a:custGeom>
              <a:avLst/>
              <a:gdLst/>
              <a:ahLst/>
              <a:cxnLst/>
              <a:rect r="r" b="b" t="t" l="l"/>
              <a:pathLst>
                <a:path h="643382" w="643509">
                  <a:moveTo>
                    <a:pt x="0" y="321691"/>
                  </a:moveTo>
                  <a:cubicBezTo>
                    <a:pt x="0" y="144018"/>
                    <a:pt x="144018" y="0"/>
                    <a:pt x="321691" y="0"/>
                  </a:cubicBezTo>
                  <a:lnTo>
                    <a:pt x="321691" y="16891"/>
                  </a:lnTo>
                  <a:lnTo>
                    <a:pt x="321691" y="0"/>
                  </a:lnTo>
                  <a:cubicBezTo>
                    <a:pt x="499364" y="0"/>
                    <a:pt x="643509" y="144018"/>
                    <a:pt x="643509" y="321691"/>
                  </a:cubicBezTo>
                  <a:lnTo>
                    <a:pt x="626491" y="321691"/>
                  </a:lnTo>
                  <a:lnTo>
                    <a:pt x="643382" y="321691"/>
                  </a:lnTo>
                  <a:cubicBezTo>
                    <a:pt x="643382" y="499364"/>
                    <a:pt x="499364" y="643382"/>
                    <a:pt x="321691" y="643382"/>
                  </a:cubicBezTo>
                  <a:lnTo>
                    <a:pt x="321691" y="626491"/>
                  </a:lnTo>
                  <a:lnTo>
                    <a:pt x="321691" y="643382"/>
                  </a:lnTo>
                  <a:cubicBezTo>
                    <a:pt x="144018" y="643509"/>
                    <a:pt x="0" y="499364"/>
                    <a:pt x="0" y="321691"/>
                  </a:cubicBezTo>
                  <a:lnTo>
                    <a:pt x="16891" y="321691"/>
                  </a:lnTo>
                  <a:lnTo>
                    <a:pt x="33909" y="321691"/>
                  </a:lnTo>
                  <a:lnTo>
                    <a:pt x="16891" y="321691"/>
                  </a:lnTo>
                  <a:lnTo>
                    <a:pt x="0" y="321691"/>
                  </a:lnTo>
                  <a:moveTo>
                    <a:pt x="33909" y="321691"/>
                  </a:moveTo>
                  <a:cubicBezTo>
                    <a:pt x="33909" y="331089"/>
                    <a:pt x="26289" y="338582"/>
                    <a:pt x="17018" y="338582"/>
                  </a:cubicBezTo>
                  <a:cubicBezTo>
                    <a:pt x="7747" y="338582"/>
                    <a:pt x="0" y="331089"/>
                    <a:pt x="0" y="321691"/>
                  </a:cubicBezTo>
                  <a:cubicBezTo>
                    <a:pt x="0" y="312293"/>
                    <a:pt x="7620" y="304800"/>
                    <a:pt x="16891" y="304800"/>
                  </a:cubicBezTo>
                  <a:cubicBezTo>
                    <a:pt x="26162" y="304800"/>
                    <a:pt x="33782" y="312420"/>
                    <a:pt x="33782" y="321691"/>
                  </a:cubicBezTo>
                  <a:cubicBezTo>
                    <a:pt x="33909" y="480695"/>
                    <a:pt x="162687" y="609600"/>
                    <a:pt x="321691" y="609600"/>
                  </a:cubicBezTo>
                  <a:cubicBezTo>
                    <a:pt x="480695" y="609600"/>
                    <a:pt x="609600" y="480695"/>
                    <a:pt x="609600" y="321691"/>
                  </a:cubicBezTo>
                  <a:cubicBezTo>
                    <a:pt x="609600" y="162687"/>
                    <a:pt x="480695" y="33909"/>
                    <a:pt x="321691" y="33909"/>
                  </a:cubicBezTo>
                  <a:lnTo>
                    <a:pt x="321691" y="16891"/>
                  </a:lnTo>
                  <a:lnTo>
                    <a:pt x="321691" y="33909"/>
                  </a:lnTo>
                  <a:cubicBezTo>
                    <a:pt x="162687" y="33909"/>
                    <a:pt x="33909" y="162687"/>
                    <a:pt x="33909" y="321691"/>
                  </a:cubicBezTo>
                  <a:close/>
                </a:path>
              </a:pathLst>
            </a:custGeom>
            <a:solidFill>
              <a:srgbClr val="1B6B3A"/>
            </a:solidFill>
          </p:spPr>
        </p:sp>
      </p:grpSp>
      <p:grpSp>
        <p:nvGrpSpPr>
          <p:cNvPr name="Group 67" id="67"/>
          <p:cNvGrpSpPr/>
          <p:nvPr/>
        </p:nvGrpSpPr>
        <p:grpSpPr>
          <a:xfrm rot="0">
            <a:off x="1737360" y="5577840"/>
            <a:ext cx="5120640" cy="640080"/>
            <a:chOff x="0" y="0"/>
            <a:chExt cx="6827520" cy="853440"/>
          </a:xfrm>
        </p:grpSpPr>
        <p:sp>
          <p:nvSpPr>
            <p:cNvPr name="Freeform 68" id="68"/>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69" id="69"/>
            <p:cNvSpPr txBox="true"/>
            <p:nvPr/>
          </p:nvSpPr>
          <p:spPr>
            <a:xfrm>
              <a:off x="0" y="-57150"/>
              <a:ext cx="682752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Excel / CSV Dataset</a:t>
              </a:r>
            </a:p>
          </p:txBody>
        </p:sp>
      </p:grpSp>
      <p:grpSp>
        <p:nvGrpSpPr>
          <p:cNvPr name="Group 70" id="70"/>
          <p:cNvGrpSpPr/>
          <p:nvPr/>
        </p:nvGrpSpPr>
        <p:grpSpPr>
          <a:xfrm rot="0">
            <a:off x="6858000" y="5577840"/>
            <a:ext cx="10424160" cy="640080"/>
            <a:chOff x="0" y="0"/>
            <a:chExt cx="13898880" cy="853440"/>
          </a:xfrm>
        </p:grpSpPr>
        <p:sp>
          <p:nvSpPr>
            <p:cNvPr name="Freeform 71" id="71"/>
            <p:cNvSpPr/>
            <p:nvPr/>
          </p:nvSpPr>
          <p:spPr>
            <a:xfrm flipH="false" flipV="false" rot="0">
              <a:off x="0" y="0"/>
              <a:ext cx="13898880" cy="853440"/>
            </a:xfrm>
            <a:custGeom>
              <a:avLst/>
              <a:gdLst/>
              <a:ahLst/>
              <a:cxnLst/>
              <a:rect r="r" b="b" t="t" l="l"/>
              <a:pathLst>
                <a:path h="853440" w="13898880">
                  <a:moveTo>
                    <a:pt x="0" y="0"/>
                  </a:moveTo>
                  <a:lnTo>
                    <a:pt x="13898880" y="0"/>
                  </a:lnTo>
                  <a:lnTo>
                    <a:pt x="13898880" y="853440"/>
                  </a:lnTo>
                  <a:lnTo>
                    <a:pt x="0" y="853440"/>
                  </a:lnTo>
                  <a:close/>
                </a:path>
              </a:pathLst>
            </a:custGeom>
            <a:blipFill>
              <a:blip r:embed="rId3">
                <a:alphaModFix amt="0"/>
              </a:blip>
              <a:stretch>
                <a:fillRect l="0" t="-267327" r="0" b="-267327"/>
              </a:stretch>
            </a:blipFill>
          </p:spPr>
        </p:sp>
        <p:sp>
          <p:nvSpPr>
            <p:cNvPr name="TextBox 72" id="72"/>
            <p:cNvSpPr txBox="true"/>
            <p:nvPr/>
          </p:nvSpPr>
          <p:spPr>
            <a:xfrm>
              <a:off x="0" y="-57150"/>
              <a:ext cx="13898880" cy="910590"/>
            </a:xfrm>
            <a:prstGeom prst="rect">
              <a:avLst/>
            </a:prstGeom>
          </p:spPr>
          <p:txBody>
            <a:bodyPr anchor="ctr" rtlCol="false" tIns="0" lIns="0" bIns="0" rIns="0"/>
            <a:lstStyle/>
            <a:p>
              <a:pPr algn="l">
                <a:lnSpc>
                  <a:spcPts val="3120"/>
                </a:lnSpc>
              </a:pPr>
              <a:r>
                <a:rPr lang="en-US" sz="2600">
                  <a:solidFill>
                    <a:srgbClr val="666666"/>
                  </a:solidFill>
                  <a:latin typeface="Calibri (MS)"/>
                  <a:ea typeface="Calibri (MS)"/>
                  <a:cs typeface="Calibri (MS)"/>
                  <a:sym typeface="Calibri (MS)"/>
                </a:rPr>
                <a:t>—  Data storage and preparation — 5,000 transaction records</a:t>
              </a:r>
            </a:p>
          </p:txBody>
        </p:sp>
      </p:grpSp>
      <p:grpSp>
        <p:nvGrpSpPr>
          <p:cNvPr name="Group 73" id="73"/>
          <p:cNvGrpSpPr/>
          <p:nvPr/>
        </p:nvGrpSpPr>
        <p:grpSpPr>
          <a:xfrm rot="0">
            <a:off x="993143" y="6827015"/>
            <a:ext cx="482603" cy="482603"/>
            <a:chOff x="0" y="0"/>
            <a:chExt cx="643471" cy="643471"/>
          </a:xfrm>
        </p:grpSpPr>
        <p:sp>
          <p:nvSpPr>
            <p:cNvPr name="Freeform 74" id="74"/>
            <p:cNvSpPr/>
            <p:nvPr/>
          </p:nvSpPr>
          <p:spPr>
            <a:xfrm flipH="false" flipV="false" rot="0">
              <a:off x="16891" y="16891"/>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1B6B3A"/>
            </a:solidFill>
          </p:spPr>
        </p:sp>
        <p:sp>
          <p:nvSpPr>
            <p:cNvPr name="Freeform 75" id="75"/>
            <p:cNvSpPr/>
            <p:nvPr/>
          </p:nvSpPr>
          <p:spPr>
            <a:xfrm flipH="false" flipV="false" rot="0">
              <a:off x="0" y="0"/>
              <a:ext cx="643509" cy="643382"/>
            </a:xfrm>
            <a:custGeom>
              <a:avLst/>
              <a:gdLst/>
              <a:ahLst/>
              <a:cxnLst/>
              <a:rect r="r" b="b" t="t" l="l"/>
              <a:pathLst>
                <a:path h="643382" w="643509">
                  <a:moveTo>
                    <a:pt x="0" y="321691"/>
                  </a:moveTo>
                  <a:cubicBezTo>
                    <a:pt x="0" y="144018"/>
                    <a:pt x="144018" y="0"/>
                    <a:pt x="321691" y="0"/>
                  </a:cubicBezTo>
                  <a:lnTo>
                    <a:pt x="321691" y="16891"/>
                  </a:lnTo>
                  <a:lnTo>
                    <a:pt x="321691" y="0"/>
                  </a:lnTo>
                  <a:cubicBezTo>
                    <a:pt x="499364" y="0"/>
                    <a:pt x="643509" y="144018"/>
                    <a:pt x="643509" y="321691"/>
                  </a:cubicBezTo>
                  <a:lnTo>
                    <a:pt x="626491" y="321691"/>
                  </a:lnTo>
                  <a:lnTo>
                    <a:pt x="643382" y="321691"/>
                  </a:lnTo>
                  <a:cubicBezTo>
                    <a:pt x="643382" y="499364"/>
                    <a:pt x="499364" y="643382"/>
                    <a:pt x="321691" y="643382"/>
                  </a:cubicBezTo>
                  <a:lnTo>
                    <a:pt x="321691" y="626491"/>
                  </a:lnTo>
                  <a:lnTo>
                    <a:pt x="321691" y="643382"/>
                  </a:lnTo>
                  <a:cubicBezTo>
                    <a:pt x="144018" y="643509"/>
                    <a:pt x="0" y="499364"/>
                    <a:pt x="0" y="321691"/>
                  </a:cubicBezTo>
                  <a:lnTo>
                    <a:pt x="16891" y="321691"/>
                  </a:lnTo>
                  <a:lnTo>
                    <a:pt x="33909" y="321691"/>
                  </a:lnTo>
                  <a:lnTo>
                    <a:pt x="16891" y="321691"/>
                  </a:lnTo>
                  <a:lnTo>
                    <a:pt x="0" y="321691"/>
                  </a:lnTo>
                  <a:moveTo>
                    <a:pt x="33909" y="321691"/>
                  </a:moveTo>
                  <a:cubicBezTo>
                    <a:pt x="33909" y="331089"/>
                    <a:pt x="26289" y="338582"/>
                    <a:pt x="17018" y="338582"/>
                  </a:cubicBezTo>
                  <a:cubicBezTo>
                    <a:pt x="7747" y="338582"/>
                    <a:pt x="0" y="331089"/>
                    <a:pt x="0" y="321691"/>
                  </a:cubicBezTo>
                  <a:cubicBezTo>
                    <a:pt x="0" y="312293"/>
                    <a:pt x="7620" y="304800"/>
                    <a:pt x="16891" y="304800"/>
                  </a:cubicBezTo>
                  <a:cubicBezTo>
                    <a:pt x="26162" y="304800"/>
                    <a:pt x="33782" y="312420"/>
                    <a:pt x="33782" y="321691"/>
                  </a:cubicBezTo>
                  <a:cubicBezTo>
                    <a:pt x="33909" y="480695"/>
                    <a:pt x="162687" y="609600"/>
                    <a:pt x="321691" y="609600"/>
                  </a:cubicBezTo>
                  <a:cubicBezTo>
                    <a:pt x="480695" y="609600"/>
                    <a:pt x="609600" y="480695"/>
                    <a:pt x="609600" y="321691"/>
                  </a:cubicBezTo>
                  <a:cubicBezTo>
                    <a:pt x="609600" y="162687"/>
                    <a:pt x="480695" y="33909"/>
                    <a:pt x="321691" y="33909"/>
                  </a:cubicBezTo>
                  <a:lnTo>
                    <a:pt x="321691" y="16891"/>
                  </a:lnTo>
                  <a:lnTo>
                    <a:pt x="321691" y="33909"/>
                  </a:lnTo>
                  <a:cubicBezTo>
                    <a:pt x="162687" y="33909"/>
                    <a:pt x="33909" y="162687"/>
                    <a:pt x="33909" y="321691"/>
                  </a:cubicBezTo>
                  <a:close/>
                </a:path>
              </a:pathLst>
            </a:custGeom>
            <a:solidFill>
              <a:srgbClr val="1B6B3A"/>
            </a:solidFill>
          </p:spPr>
        </p:sp>
      </p:grpSp>
      <p:grpSp>
        <p:nvGrpSpPr>
          <p:cNvPr name="Group 76" id="76"/>
          <p:cNvGrpSpPr/>
          <p:nvPr/>
        </p:nvGrpSpPr>
        <p:grpSpPr>
          <a:xfrm rot="0">
            <a:off x="1737360" y="6766560"/>
            <a:ext cx="5120640" cy="640080"/>
            <a:chOff x="0" y="0"/>
            <a:chExt cx="6827520" cy="853440"/>
          </a:xfrm>
        </p:grpSpPr>
        <p:sp>
          <p:nvSpPr>
            <p:cNvPr name="Freeform 77" id="77"/>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78" id="78"/>
            <p:cNvSpPr txBox="true"/>
            <p:nvPr/>
          </p:nvSpPr>
          <p:spPr>
            <a:xfrm>
              <a:off x="0" y="-57150"/>
              <a:ext cx="682752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Google Forms</a:t>
              </a:r>
            </a:p>
          </p:txBody>
        </p:sp>
      </p:grpSp>
      <p:grpSp>
        <p:nvGrpSpPr>
          <p:cNvPr name="Group 79" id="79"/>
          <p:cNvGrpSpPr/>
          <p:nvPr/>
        </p:nvGrpSpPr>
        <p:grpSpPr>
          <a:xfrm rot="0">
            <a:off x="6858000" y="6766560"/>
            <a:ext cx="10424160" cy="640080"/>
            <a:chOff x="0" y="0"/>
            <a:chExt cx="13898880" cy="853440"/>
          </a:xfrm>
        </p:grpSpPr>
        <p:sp>
          <p:nvSpPr>
            <p:cNvPr name="Freeform 80" id="80"/>
            <p:cNvSpPr/>
            <p:nvPr/>
          </p:nvSpPr>
          <p:spPr>
            <a:xfrm flipH="false" flipV="false" rot="0">
              <a:off x="0" y="0"/>
              <a:ext cx="13898880" cy="853440"/>
            </a:xfrm>
            <a:custGeom>
              <a:avLst/>
              <a:gdLst/>
              <a:ahLst/>
              <a:cxnLst/>
              <a:rect r="r" b="b" t="t" l="l"/>
              <a:pathLst>
                <a:path h="853440" w="13898880">
                  <a:moveTo>
                    <a:pt x="0" y="0"/>
                  </a:moveTo>
                  <a:lnTo>
                    <a:pt x="13898880" y="0"/>
                  </a:lnTo>
                  <a:lnTo>
                    <a:pt x="13898880" y="853440"/>
                  </a:lnTo>
                  <a:lnTo>
                    <a:pt x="0" y="853440"/>
                  </a:lnTo>
                  <a:close/>
                </a:path>
              </a:pathLst>
            </a:custGeom>
            <a:blipFill>
              <a:blip r:embed="rId3">
                <a:alphaModFix amt="0"/>
              </a:blip>
              <a:stretch>
                <a:fillRect l="0" t="-267327" r="0" b="-267327"/>
              </a:stretch>
            </a:blipFill>
          </p:spPr>
        </p:sp>
        <p:sp>
          <p:nvSpPr>
            <p:cNvPr name="TextBox 81" id="81"/>
            <p:cNvSpPr txBox="true"/>
            <p:nvPr/>
          </p:nvSpPr>
          <p:spPr>
            <a:xfrm>
              <a:off x="0" y="-57150"/>
              <a:ext cx="13898880" cy="910590"/>
            </a:xfrm>
            <a:prstGeom prst="rect">
              <a:avLst/>
            </a:prstGeom>
          </p:spPr>
          <p:txBody>
            <a:bodyPr anchor="ctr" rtlCol="false" tIns="0" lIns="0" bIns="0" rIns="0"/>
            <a:lstStyle/>
            <a:p>
              <a:pPr algn="l">
                <a:lnSpc>
                  <a:spcPts val="3120"/>
                </a:lnSpc>
              </a:pPr>
              <a:r>
                <a:rPr lang="en-US" sz="2600">
                  <a:solidFill>
                    <a:srgbClr val="666666"/>
                  </a:solidFill>
                  <a:latin typeface="Calibri (MS)"/>
                  <a:ea typeface="Calibri (MS)"/>
                  <a:cs typeface="Calibri (MS)"/>
                  <a:sym typeface="Calibri (MS)"/>
                </a:rPr>
                <a:t>—  Stakeholder survey collection — 17 respondents</a:t>
              </a:r>
            </a:p>
          </p:txBody>
        </p:sp>
      </p:grpSp>
      <p:grpSp>
        <p:nvGrpSpPr>
          <p:cNvPr name="Group 82" id="82"/>
          <p:cNvGrpSpPr/>
          <p:nvPr/>
        </p:nvGrpSpPr>
        <p:grpSpPr>
          <a:xfrm rot="0">
            <a:off x="993143" y="8015735"/>
            <a:ext cx="482603" cy="482603"/>
            <a:chOff x="0" y="0"/>
            <a:chExt cx="643471" cy="643471"/>
          </a:xfrm>
        </p:grpSpPr>
        <p:sp>
          <p:nvSpPr>
            <p:cNvPr name="Freeform 83" id="83"/>
            <p:cNvSpPr/>
            <p:nvPr/>
          </p:nvSpPr>
          <p:spPr>
            <a:xfrm flipH="false" flipV="false" rot="0">
              <a:off x="16891" y="16891"/>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1B6B3A"/>
            </a:solidFill>
          </p:spPr>
        </p:sp>
        <p:sp>
          <p:nvSpPr>
            <p:cNvPr name="Freeform 84" id="84"/>
            <p:cNvSpPr/>
            <p:nvPr/>
          </p:nvSpPr>
          <p:spPr>
            <a:xfrm flipH="false" flipV="false" rot="0">
              <a:off x="0" y="0"/>
              <a:ext cx="643509" cy="643382"/>
            </a:xfrm>
            <a:custGeom>
              <a:avLst/>
              <a:gdLst/>
              <a:ahLst/>
              <a:cxnLst/>
              <a:rect r="r" b="b" t="t" l="l"/>
              <a:pathLst>
                <a:path h="643382" w="643509">
                  <a:moveTo>
                    <a:pt x="0" y="321691"/>
                  </a:moveTo>
                  <a:cubicBezTo>
                    <a:pt x="0" y="144018"/>
                    <a:pt x="144018" y="0"/>
                    <a:pt x="321691" y="0"/>
                  </a:cubicBezTo>
                  <a:lnTo>
                    <a:pt x="321691" y="16891"/>
                  </a:lnTo>
                  <a:lnTo>
                    <a:pt x="321691" y="0"/>
                  </a:lnTo>
                  <a:cubicBezTo>
                    <a:pt x="499364" y="0"/>
                    <a:pt x="643509" y="144018"/>
                    <a:pt x="643509" y="321691"/>
                  </a:cubicBezTo>
                  <a:lnTo>
                    <a:pt x="626491" y="321691"/>
                  </a:lnTo>
                  <a:lnTo>
                    <a:pt x="643382" y="321691"/>
                  </a:lnTo>
                  <a:cubicBezTo>
                    <a:pt x="643382" y="499364"/>
                    <a:pt x="499364" y="643382"/>
                    <a:pt x="321691" y="643382"/>
                  </a:cubicBezTo>
                  <a:lnTo>
                    <a:pt x="321691" y="626491"/>
                  </a:lnTo>
                  <a:lnTo>
                    <a:pt x="321691" y="643382"/>
                  </a:lnTo>
                  <a:cubicBezTo>
                    <a:pt x="144018" y="643509"/>
                    <a:pt x="0" y="499364"/>
                    <a:pt x="0" y="321691"/>
                  </a:cubicBezTo>
                  <a:lnTo>
                    <a:pt x="16891" y="321691"/>
                  </a:lnTo>
                  <a:lnTo>
                    <a:pt x="33909" y="321691"/>
                  </a:lnTo>
                  <a:lnTo>
                    <a:pt x="16891" y="321691"/>
                  </a:lnTo>
                  <a:lnTo>
                    <a:pt x="0" y="321691"/>
                  </a:lnTo>
                  <a:moveTo>
                    <a:pt x="33909" y="321691"/>
                  </a:moveTo>
                  <a:cubicBezTo>
                    <a:pt x="33909" y="331089"/>
                    <a:pt x="26289" y="338582"/>
                    <a:pt x="17018" y="338582"/>
                  </a:cubicBezTo>
                  <a:cubicBezTo>
                    <a:pt x="7747" y="338582"/>
                    <a:pt x="0" y="331089"/>
                    <a:pt x="0" y="321691"/>
                  </a:cubicBezTo>
                  <a:cubicBezTo>
                    <a:pt x="0" y="312293"/>
                    <a:pt x="7620" y="304800"/>
                    <a:pt x="16891" y="304800"/>
                  </a:cubicBezTo>
                  <a:cubicBezTo>
                    <a:pt x="26162" y="304800"/>
                    <a:pt x="33782" y="312420"/>
                    <a:pt x="33782" y="321691"/>
                  </a:cubicBezTo>
                  <a:cubicBezTo>
                    <a:pt x="33909" y="480695"/>
                    <a:pt x="162687" y="609600"/>
                    <a:pt x="321691" y="609600"/>
                  </a:cubicBezTo>
                  <a:cubicBezTo>
                    <a:pt x="480695" y="609600"/>
                    <a:pt x="609600" y="480695"/>
                    <a:pt x="609600" y="321691"/>
                  </a:cubicBezTo>
                  <a:cubicBezTo>
                    <a:pt x="609600" y="162687"/>
                    <a:pt x="480695" y="33909"/>
                    <a:pt x="321691" y="33909"/>
                  </a:cubicBezTo>
                  <a:lnTo>
                    <a:pt x="321691" y="16891"/>
                  </a:lnTo>
                  <a:lnTo>
                    <a:pt x="321691" y="33909"/>
                  </a:lnTo>
                  <a:cubicBezTo>
                    <a:pt x="162687" y="33909"/>
                    <a:pt x="33909" y="162687"/>
                    <a:pt x="33909" y="321691"/>
                  </a:cubicBezTo>
                  <a:close/>
                </a:path>
              </a:pathLst>
            </a:custGeom>
            <a:solidFill>
              <a:srgbClr val="1B6B3A"/>
            </a:solidFill>
          </p:spPr>
        </p:sp>
      </p:grpSp>
      <p:grpSp>
        <p:nvGrpSpPr>
          <p:cNvPr name="Group 85" id="85"/>
          <p:cNvGrpSpPr/>
          <p:nvPr/>
        </p:nvGrpSpPr>
        <p:grpSpPr>
          <a:xfrm rot="0">
            <a:off x="1737360" y="7955280"/>
            <a:ext cx="5120640" cy="640080"/>
            <a:chOff x="0" y="0"/>
            <a:chExt cx="6827520" cy="853440"/>
          </a:xfrm>
        </p:grpSpPr>
        <p:sp>
          <p:nvSpPr>
            <p:cNvPr name="Freeform 86" id="86"/>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87" id="87"/>
            <p:cNvSpPr txBox="true"/>
            <p:nvPr/>
          </p:nvSpPr>
          <p:spPr>
            <a:xfrm>
              <a:off x="0" y="-57150"/>
              <a:ext cx="682752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Canva / Claude AI</a:t>
              </a:r>
            </a:p>
          </p:txBody>
        </p:sp>
      </p:grpSp>
      <p:grpSp>
        <p:nvGrpSpPr>
          <p:cNvPr name="Group 88" id="88"/>
          <p:cNvGrpSpPr/>
          <p:nvPr/>
        </p:nvGrpSpPr>
        <p:grpSpPr>
          <a:xfrm rot="0">
            <a:off x="6858000" y="7955280"/>
            <a:ext cx="10424160" cy="640080"/>
            <a:chOff x="0" y="0"/>
            <a:chExt cx="13898880" cy="853440"/>
          </a:xfrm>
        </p:grpSpPr>
        <p:sp>
          <p:nvSpPr>
            <p:cNvPr name="Freeform 89" id="89"/>
            <p:cNvSpPr/>
            <p:nvPr/>
          </p:nvSpPr>
          <p:spPr>
            <a:xfrm flipH="false" flipV="false" rot="0">
              <a:off x="0" y="0"/>
              <a:ext cx="13898880" cy="853440"/>
            </a:xfrm>
            <a:custGeom>
              <a:avLst/>
              <a:gdLst/>
              <a:ahLst/>
              <a:cxnLst/>
              <a:rect r="r" b="b" t="t" l="l"/>
              <a:pathLst>
                <a:path h="853440" w="13898880">
                  <a:moveTo>
                    <a:pt x="0" y="0"/>
                  </a:moveTo>
                  <a:lnTo>
                    <a:pt x="13898880" y="0"/>
                  </a:lnTo>
                  <a:lnTo>
                    <a:pt x="13898880" y="853440"/>
                  </a:lnTo>
                  <a:lnTo>
                    <a:pt x="0" y="853440"/>
                  </a:lnTo>
                  <a:close/>
                </a:path>
              </a:pathLst>
            </a:custGeom>
            <a:blipFill>
              <a:blip r:embed="rId3">
                <a:alphaModFix amt="0"/>
              </a:blip>
              <a:stretch>
                <a:fillRect l="0" t="-267327" r="0" b="-267327"/>
              </a:stretch>
            </a:blipFill>
          </p:spPr>
        </p:sp>
        <p:sp>
          <p:nvSpPr>
            <p:cNvPr name="TextBox 90" id="90"/>
            <p:cNvSpPr txBox="true"/>
            <p:nvPr/>
          </p:nvSpPr>
          <p:spPr>
            <a:xfrm>
              <a:off x="0" y="-57150"/>
              <a:ext cx="13898880" cy="910590"/>
            </a:xfrm>
            <a:prstGeom prst="rect">
              <a:avLst/>
            </a:prstGeom>
          </p:spPr>
          <p:txBody>
            <a:bodyPr anchor="ctr" rtlCol="false" tIns="0" lIns="0" bIns="0" rIns="0"/>
            <a:lstStyle/>
            <a:p>
              <a:pPr algn="l">
                <a:lnSpc>
                  <a:spcPts val="3120"/>
                </a:lnSpc>
              </a:pPr>
              <a:r>
                <a:rPr lang="en-US" sz="2600">
                  <a:solidFill>
                    <a:srgbClr val="666666"/>
                  </a:solidFill>
                  <a:latin typeface="Calibri (MS)"/>
                  <a:ea typeface="Calibri (MS)"/>
                  <a:cs typeface="Calibri (MS)"/>
                  <a:sym typeface="Calibri (MS)"/>
                </a:rPr>
                <a:t>—  Presentation design and content generation</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402336"/>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85054" y="427734"/>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7472677"/>
            <a:ext cx="50797" cy="965197"/>
            <a:chOff x="0" y="0"/>
            <a:chExt cx="67729" cy="1286929"/>
          </a:xfrm>
        </p:grpSpPr>
        <p:sp>
          <p:nvSpPr>
            <p:cNvPr name="Freeform 17" id="17"/>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18" id="18"/>
          <p:cNvGrpSpPr/>
          <p:nvPr/>
        </p:nvGrpSpPr>
        <p:grpSpPr>
          <a:xfrm rot="0">
            <a:off x="17933413"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297437" y="5271773"/>
            <a:ext cx="795023" cy="63503"/>
            <a:chOff x="0" y="0"/>
            <a:chExt cx="1060031" cy="84671"/>
          </a:xfrm>
        </p:grpSpPr>
        <p:sp>
          <p:nvSpPr>
            <p:cNvPr name="Freeform 21" id="21"/>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2" id="22"/>
          <p:cNvGrpSpPr/>
          <p:nvPr/>
        </p:nvGrpSpPr>
        <p:grpSpPr>
          <a:xfrm rot="0">
            <a:off x="17195549" y="5271773"/>
            <a:ext cx="795023" cy="63503"/>
            <a:chOff x="0" y="0"/>
            <a:chExt cx="1060031" cy="84671"/>
          </a:xfrm>
        </p:grpSpPr>
        <p:sp>
          <p:nvSpPr>
            <p:cNvPr name="Freeform 23" id="23"/>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4" id="24"/>
          <p:cNvGrpSpPr/>
          <p:nvPr/>
        </p:nvGrpSpPr>
        <p:grpSpPr>
          <a:xfrm rot="0">
            <a:off x="-12697" y="9643367"/>
            <a:ext cx="18313403" cy="656339"/>
            <a:chOff x="0" y="0"/>
            <a:chExt cx="24417871" cy="875119"/>
          </a:xfrm>
        </p:grpSpPr>
        <p:sp>
          <p:nvSpPr>
            <p:cNvPr name="Freeform 25" id="25"/>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26" id="26"/>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27" id="27"/>
          <p:cNvGrpSpPr/>
          <p:nvPr/>
        </p:nvGrpSpPr>
        <p:grpSpPr>
          <a:xfrm rot="0">
            <a:off x="-12697" y="9643367"/>
            <a:ext cx="18313403" cy="98555"/>
            <a:chOff x="0" y="0"/>
            <a:chExt cx="24417871" cy="131407"/>
          </a:xfrm>
        </p:grpSpPr>
        <p:sp>
          <p:nvSpPr>
            <p:cNvPr name="Freeform 28" id="28"/>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29" id="29"/>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0" id="30"/>
          <p:cNvGrpSpPr/>
          <p:nvPr/>
        </p:nvGrpSpPr>
        <p:grpSpPr>
          <a:xfrm rot="0">
            <a:off x="914400" y="402336"/>
            <a:ext cx="16459200" cy="1005840"/>
            <a:chOff x="0" y="0"/>
            <a:chExt cx="21945600" cy="1341120"/>
          </a:xfrm>
        </p:grpSpPr>
        <p:sp>
          <p:nvSpPr>
            <p:cNvPr name="Freeform 31" id="31"/>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2" id="32"/>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Dashboard Visualization (Tableau)</a:t>
              </a:r>
            </a:p>
          </p:txBody>
        </p:sp>
      </p:grpSp>
      <p:grpSp>
        <p:nvGrpSpPr>
          <p:cNvPr name="Group 33" id="33"/>
          <p:cNvGrpSpPr/>
          <p:nvPr/>
        </p:nvGrpSpPr>
        <p:grpSpPr>
          <a:xfrm rot="0">
            <a:off x="1188720" y="1920240"/>
            <a:ext cx="8229600" cy="640080"/>
            <a:chOff x="0" y="0"/>
            <a:chExt cx="10972800" cy="853440"/>
          </a:xfrm>
        </p:grpSpPr>
        <p:sp>
          <p:nvSpPr>
            <p:cNvPr name="Freeform 34" id="34"/>
            <p:cNvSpPr/>
            <p:nvPr/>
          </p:nvSpPr>
          <p:spPr>
            <a:xfrm flipH="false" flipV="false" rot="0">
              <a:off x="0" y="0"/>
              <a:ext cx="10972800" cy="853440"/>
            </a:xfrm>
            <a:custGeom>
              <a:avLst/>
              <a:gdLst/>
              <a:ahLst/>
              <a:cxnLst/>
              <a:rect r="r" b="b" t="t" l="l"/>
              <a:pathLst>
                <a:path h="853440" w="10972800">
                  <a:moveTo>
                    <a:pt x="0" y="0"/>
                  </a:moveTo>
                  <a:lnTo>
                    <a:pt x="10972800" y="0"/>
                  </a:lnTo>
                  <a:lnTo>
                    <a:pt x="10972800" y="853440"/>
                  </a:lnTo>
                  <a:lnTo>
                    <a:pt x="0" y="853440"/>
                  </a:lnTo>
                  <a:close/>
                </a:path>
              </a:pathLst>
            </a:custGeom>
            <a:blipFill>
              <a:blip r:embed="rId3">
                <a:alphaModFix amt="0"/>
              </a:blip>
              <a:stretch>
                <a:fillRect l="0" t="-200521" r="0" b="-200521"/>
              </a:stretch>
            </a:blipFill>
          </p:spPr>
        </p:sp>
        <p:sp>
          <p:nvSpPr>
            <p:cNvPr name="TextBox 35" id="35"/>
            <p:cNvSpPr txBox="true"/>
            <p:nvPr/>
          </p:nvSpPr>
          <p:spPr>
            <a:xfrm>
              <a:off x="0" y="-47625"/>
              <a:ext cx="10972800" cy="901065"/>
            </a:xfrm>
            <a:prstGeom prst="rect">
              <a:avLst/>
            </a:prstGeom>
          </p:spPr>
          <p:txBody>
            <a:bodyPr anchor="ctr" rtlCol="false" tIns="0" lIns="0" bIns="0" rIns="0"/>
            <a:lstStyle/>
            <a:p>
              <a:pPr algn="l">
                <a:lnSpc>
                  <a:spcPts val="3359"/>
                </a:lnSpc>
              </a:pPr>
              <a:r>
                <a:rPr lang="en-US" sz="2799" b="true">
                  <a:solidFill>
                    <a:srgbClr val="1A1A1A"/>
                  </a:solidFill>
                  <a:latin typeface="Calibri (MS) Bold"/>
                  <a:ea typeface="Calibri (MS) Bold"/>
                  <a:cs typeface="Calibri (MS) Bold"/>
                  <a:sym typeface="Calibri (MS) Bold"/>
                </a:rPr>
                <a:t>Overall Purpose:</a:t>
              </a:r>
            </a:p>
          </p:txBody>
        </p:sp>
      </p:grpSp>
      <p:grpSp>
        <p:nvGrpSpPr>
          <p:cNvPr name="Group 36" id="36"/>
          <p:cNvGrpSpPr/>
          <p:nvPr/>
        </p:nvGrpSpPr>
        <p:grpSpPr>
          <a:xfrm rot="0">
            <a:off x="1188720" y="2651760"/>
            <a:ext cx="8046720" cy="4572000"/>
            <a:chOff x="0" y="0"/>
            <a:chExt cx="10728960" cy="6096000"/>
          </a:xfrm>
        </p:grpSpPr>
        <p:sp>
          <p:nvSpPr>
            <p:cNvPr name="Freeform 37" id="37"/>
            <p:cNvSpPr/>
            <p:nvPr/>
          </p:nvSpPr>
          <p:spPr>
            <a:xfrm flipH="false" flipV="false" rot="0">
              <a:off x="0" y="0"/>
              <a:ext cx="10728960" cy="6096000"/>
            </a:xfrm>
            <a:custGeom>
              <a:avLst/>
              <a:gdLst/>
              <a:ahLst/>
              <a:cxnLst/>
              <a:rect r="r" b="b" t="t" l="l"/>
              <a:pathLst>
                <a:path h="6096000" w="10728960">
                  <a:moveTo>
                    <a:pt x="0" y="0"/>
                  </a:moveTo>
                  <a:lnTo>
                    <a:pt x="10728960" y="0"/>
                  </a:lnTo>
                  <a:lnTo>
                    <a:pt x="10728960" y="6096000"/>
                  </a:lnTo>
                  <a:lnTo>
                    <a:pt x="0" y="6096000"/>
                  </a:lnTo>
                  <a:close/>
                </a:path>
              </a:pathLst>
            </a:custGeom>
            <a:blipFill>
              <a:blip r:embed="rId3">
                <a:alphaModFix amt="0"/>
              </a:blip>
              <a:stretch>
                <a:fillRect l="-22899" t="0" r="-22899" b="0"/>
              </a:stretch>
            </a:blipFill>
          </p:spPr>
        </p:sp>
        <p:sp>
          <p:nvSpPr>
            <p:cNvPr name="TextBox 38" id="38"/>
            <p:cNvSpPr txBox="true"/>
            <p:nvPr/>
          </p:nvSpPr>
          <p:spPr>
            <a:xfrm>
              <a:off x="0" y="-38100"/>
              <a:ext cx="10728960" cy="6134100"/>
            </a:xfrm>
            <a:prstGeom prst="rect">
              <a:avLst/>
            </a:prstGeom>
          </p:spPr>
          <p:txBody>
            <a:bodyPr anchor="ctr" rtlCol="false" tIns="0" lIns="0" bIns="0" rIns="0"/>
            <a:lstStyle/>
            <a:p>
              <a:pPr algn="l" marL="579120" indent="-289560" lvl="1">
                <a:lnSpc>
                  <a:spcPts val="2879"/>
                </a:lnSpc>
                <a:buFont typeface="Arial"/>
                <a:buChar char="•"/>
              </a:pPr>
              <a:r>
                <a:rPr lang="en-US" sz="2400">
                  <a:solidFill>
                    <a:srgbClr val="1A1A1A"/>
                  </a:solidFill>
                  <a:latin typeface="Calibri (MS)"/>
                  <a:ea typeface="Calibri (MS)"/>
                  <a:cs typeface="Calibri (MS)"/>
                  <a:sym typeface="Calibri (MS)"/>
                </a:rPr>
                <a:t>Support decision-making for carbon market participants, regulators, and environmental analysts.</a:t>
              </a:r>
            </a:p>
            <a:p>
              <a:pPr algn="l" marL="579120" indent="-289560" lvl="1">
                <a:lnSpc>
                  <a:spcPts val="2879"/>
                </a:lnSpc>
                <a:buFont typeface="Arial"/>
                <a:buChar char="•"/>
              </a:pPr>
              <a:r>
                <a:rPr lang="en-US" sz="2400">
                  <a:solidFill>
                    <a:srgbClr val="1A1A1A"/>
                  </a:solidFill>
                  <a:latin typeface="Calibri (MS)"/>
                  <a:ea typeface="Calibri (MS)"/>
                  <a:cs typeface="Calibri (MS)"/>
                  <a:sym typeface="Calibri (MS)"/>
                </a:rPr>
                <a:t>Help track emission compliance and market trends.</a:t>
              </a:r>
            </a:p>
            <a:p>
              <a:pPr algn="l" marL="579120" indent="-289560" lvl="1">
                <a:lnSpc>
                  <a:spcPts val="2879"/>
                </a:lnSpc>
                <a:buFont typeface="Arial"/>
                <a:buChar char="•"/>
              </a:pPr>
              <a:r>
                <a:rPr lang="en-US" sz="2400">
                  <a:solidFill>
                    <a:srgbClr val="1A1A1A"/>
                  </a:solidFill>
                  <a:latin typeface="Calibri (MS)"/>
                  <a:ea typeface="Calibri (MS)"/>
                  <a:cs typeface="Calibri (MS)"/>
                  <a:sym typeface="Calibri (MS)"/>
                </a:rPr>
                <a:t>Identify risk areas (disputed credits) and opportunities.</a:t>
              </a:r>
            </a:p>
            <a:p>
              <a:pPr algn="l" marL="579120" indent="-289560" lvl="1">
                <a:lnSpc>
                  <a:spcPts val="2879"/>
                </a:lnSpc>
                <a:buFont typeface="Arial"/>
                <a:buChar char="•"/>
              </a:pPr>
              <a:r>
                <a:rPr lang="en-US" sz="2400">
                  <a:solidFill>
                    <a:srgbClr val="1A1A1A"/>
                  </a:solidFill>
                  <a:latin typeface="Calibri (MS)"/>
                  <a:ea typeface="Calibri (MS)"/>
                  <a:cs typeface="Calibri (MS)"/>
                  <a:sym typeface="Calibri (MS)"/>
                </a:rPr>
                <a:t>Assist industries in managing their carbon footprint relative to allowances.</a:t>
              </a:r>
            </a:p>
          </p:txBody>
        </p:sp>
      </p:grpSp>
      <p:grpSp>
        <p:nvGrpSpPr>
          <p:cNvPr name="Group 39" id="39"/>
          <p:cNvGrpSpPr/>
          <p:nvPr/>
        </p:nvGrpSpPr>
        <p:grpSpPr>
          <a:xfrm rot="0">
            <a:off x="9513570" y="1828800"/>
            <a:ext cx="8046720" cy="5852160"/>
            <a:chOff x="0" y="0"/>
            <a:chExt cx="10728960" cy="7802880"/>
          </a:xfrm>
        </p:grpSpPr>
        <p:sp>
          <p:nvSpPr>
            <p:cNvPr name="Freeform 40" id="40"/>
            <p:cNvSpPr/>
            <p:nvPr/>
          </p:nvSpPr>
          <p:spPr>
            <a:xfrm flipH="false" flipV="false" rot="0">
              <a:off x="0" y="0"/>
              <a:ext cx="10728960" cy="7802880"/>
            </a:xfrm>
            <a:custGeom>
              <a:avLst/>
              <a:gdLst/>
              <a:ahLst/>
              <a:cxnLst/>
              <a:rect r="r" b="b" t="t" l="l"/>
              <a:pathLst>
                <a:path h="7802880" w="10728960">
                  <a:moveTo>
                    <a:pt x="0" y="0"/>
                  </a:moveTo>
                  <a:lnTo>
                    <a:pt x="10728960" y="0"/>
                  </a:lnTo>
                  <a:lnTo>
                    <a:pt x="10728960" y="7802880"/>
                  </a:lnTo>
                  <a:lnTo>
                    <a:pt x="0" y="7802880"/>
                  </a:lnTo>
                  <a:lnTo>
                    <a:pt x="0" y="0"/>
                  </a:lnTo>
                  <a:close/>
                </a:path>
              </a:pathLst>
            </a:custGeom>
            <a:blipFill>
              <a:blip r:embed="rId4"/>
              <a:stretch>
                <a:fillRect l="-1126" t="0" r="-1126"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376938"/>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85054" y="351539"/>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9895342"/>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099280" y="9920740"/>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0"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586698"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Real Data Insights from Dataset</a:t>
              </a:r>
            </a:p>
          </p:txBody>
        </p:sp>
      </p:grpSp>
      <p:grpSp>
        <p:nvGrpSpPr>
          <p:cNvPr name="Group 37" id="37"/>
          <p:cNvGrpSpPr/>
          <p:nvPr/>
        </p:nvGrpSpPr>
        <p:grpSpPr>
          <a:xfrm rot="0">
            <a:off x="1188720" y="1499616"/>
            <a:ext cx="15910560" cy="640080"/>
            <a:chOff x="0" y="0"/>
            <a:chExt cx="21214080" cy="853440"/>
          </a:xfrm>
        </p:grpSpPr>
        <p:sp>
          <p:nvSpPr>
            <p:cNvPr name="Freeform 38" id="38"/>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9" id="39"/>
            <p:cNvSpPr txBox="true"/>
            <p:nvPr/>
          </p:nvSpPr>
          <p:spPr>
            <a:xfrm>
              <a:off x="0" y="-38100"/>
              <a:ext cx="21214080" cy="891540"/>
            </a:xfrm>
            <a:prstGeom prst="rect">
              <a:avLst/>
            </a:prstGeom>
          </p:spPr>
          <p:txBody>
            <a:bodyPr anchor="ctr" rtlCol="false" tIns="0" lIns="0" bIns="0" rIns="0"/>
            <a:lstStyle/>
            <a:p>
              <a:pPr algn="ctr">
                <a:lnSpc>
                  <a:spcPts val="2879"/>
                </a:lnSpc>
              </a:pPr>
              <a:r>
                <a:rPr lang="en-US" sz="2400">
                  <a:solidFill>
                    <a:srgbClr val="666666"/>
                  </a:solidFill>
                  <a:latin typeface="Calibri (MS)"/>
                  <a:ea typeface="Calibri (MS)"/>
                  <a:cs typeface="Calibri (MS)"/>
                  <a:sym typeface="Calibri (MS)"/>
                </a:rPr>
                <a:t>5,000 actual transaction records · carbon_trading_dataset.csv · Kaggle</a:t>
              </a:r>
            </a:p>
          </p:txBody>
        </p:sp>
      </p:grpSp>
      <p:grpSp>
        <p:nvGrpSpPr>
          <p:cNvPr name="Group 40" id="40"/>
          <p:cNvGrpSpPr/>
          <p:nvPr/>
        </p:nvGrpSpPr>
        <p:grpSpPr>
          <a:xfrm rot="0">
            <a:off x="999487" y="2005327"/>
            <a:ext cx="3853177" cy="1841497"/>
            <a:chOff x="0" y="0"/>
            <a:chExt cx="5137569" cy="2455329"/>
          </a:xfrm>
        </p:grpSpPr>
        <p:sp>
          <p:nvSpPr>
            <p:cNvPr name="Freeform 41" id="41"/>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42" id="42"/>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43" id="43"/>
          <p:cNvGrpSpPr/>
          <p:nvPr/>
        </p:nvGrpSpPr>
        <p:grpSpPr>
          <a:xfrm rot="0">
            <a:off x="1005840" y="2103120"/>
            <a:ext cx="3840480" cy="1005840"/>
            <a:chOff x="0" y="0"/>
            <a:chExt cx="5120640" cy="1341120"/>
          </a:xfrm>
        </p:grpSpPr>
        <p:sp>
          <p:nvSpPr>
            <p:cNvPr name="Freeform 44" id="44"/>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45" id="45"/>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5,000</a:t>
              </a:r>
            </a:p>
          </p:txBody>
        </p:sp>
      </p:grpSp>
      <p:grpSp>
        <p:nvGrpSpPr>
          <p:cNvPr name="Group 46" id="46"/>
          <p:cNvGrpSpPr/>
          <p:nvPr/>
        </p:nvGrpSpPr>
        <p:grpSpPr>
          <a:xfrm rot="0">
            <a:off x="1005840" y="3108960"/>
            <a:ext cx="3840480" cy="548640"/>
            <a:chOff x="0" y="0"/>
            <a:chExt cx="5120640" cy="731520"/>
          </a:xfrm>
        </p:grpSpPr>
        <p:sp>
          <p:nvSpPr>
            <p:cNvPr name="Freeform 47" id="47"/>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48" id="48"/>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Total transactions</a:t>
              </a:r>
            </a:p>
          </p:txBody>
        </p:sp>
      </p:grpSp>
      <p:grpSp>
        <p:nvGrpSpPr>
          <p:cNvPr name="Group 49" id="49"/>
          <p:cNvGrpSpPr/>
          <p:nvPr/>
        </p:nvGrpSpPr>
        <p:grpSpPr>
          <a:xfrm rot="0">
            <a:off x="5114287" y="2005327"/>
            <a:ext cx="3853177" cy="1841497"/>
            <a:chOff x="0" y="0"/>
            <a:chExt cx="5137569" cy="2455329"/>
          </a:xfrm>
        </p:grpSpPr>
        <p:sp>
          <p:nvSpPr>
            <p:cNvPr name="Freeform 50" id="50"/>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51" id="51"/>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52" id="52"/>
          <p:cNvGrpSpPr/>
          <p:nvPr/>
        </p:nvGrpSpPr>
        <p:grpSpPr>
          <a:xfrm rot="0">
            <a:off x="5120640" y="2103120"/>
            <a:ext cx="3840480" cy="1005840"/>
            <a:chOff x="0" y="0"/>
            <a:chExt cx="5120640" cy="1341120"/>
          </a:xfrm>
        </p:grpSpPr>
        <p:sp>
          <p:nvSpPr>
            <p:cNvPr name="Freeform 53" id="53"/>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54" id="54"/>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$27.53</a:t>
              </a:r>
            </a:p>
          </p:txBody>
        </p:sp>
      </p:grpSp>
      <p:grpSp>
        <p:nvGrpSpPr>
          <p:cNvPr name="Group 55" id="55"/>
          <p:cNvGrpSpPr/>
          <p:nvPr/>
        </p:nvGrpSpPr>
        <p:grpSpPr>
          <a:xfrm rot="0">
            <a:off x="5120640" y="3108960"/>
            <a:ext cx="3840480" cy="548640"/>
            <a:chOff x="0" y="0"/>
            <a:chExt cx="5120640" cy="731520"/>
          </a:xfrm>
        </p:grpSpPr>
        <p:sp>
          <p:nvSpPr>
            <p:cNvPr name="Freeform 56" id="56"/>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57" id="57"/>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Avg price/tCO₂</a:t>
              </a:r>
            </a:p>
          </p:txBody>
        </p:sp>
      </p:grpSp>
      <p:grpSp>
        <p:nvGrpSpPr>
          <p:cNvPr name="Group 58" id="58"/>
          <p:cNvGrpSpPr/>
          <p:nvPr/>
        </p:nvGrpSpPr>
        <p:grpSpPr>
          <a:xfrm rot="0">
            <a:off x="9229087" y="2005327"/>
            <a:ext cx="3853177" cy="1841497"/>
            <a:chOff x="0" y="0"/>
            <a:chExt cx="5137569" cy="2455329"/>
          </a:xfrm>
        </p:grpSpPr>
        <p:sp>
          <p:nvSpPr>
            <p:cNvPr name="Freeform 59" id="59"/>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60" id="60"/>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61" id="61"/>
          <p:cNvGrpSpPr/>
          <p:nvPr/>
        </p:nvGrpSpPr>
        <p:grpSpPr>
          <a:xfrm rot="0">
            <a:off x="9235440" y="2103120"/>
            <a:ext cx="3840480" cy="1005840"/>
            <a:chOff x="0" y="0"/>
            <a:chExt cx="5120640" cy="1341120"/>
          </a:xfrm>
        </p:grpSpPr>
        <p:sp>
          <p:nvSpPr>
            <p:cNvPr name="Freeform 62" id="62"/>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63" id="63"/>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5,51,944</a:t>
              </a:r>
            </a:p>
          </p:txBody>
        </p:sp>
      </p:grpSp>
      <p:grpSp>
        <p:nvGrpSpPr>
          <p:cNvPr name="Group 64" id="64"/>
          <p:cNvGrpSpPr/>
          <p:nvPr/>
        </p:nvGrpSpPr>
        <p:grpSpPr>
          <a:xfrm rot="0">
            <a:off x="9235440" y="3108960"/>
            <a:ext cx="3840480" cy="548640"/>
            <a:chOff x="0" y="0"/>
            <a:chExt cx="5120640" cy="731520"/>
          </a:xfrm>
        </p:grpSpPr>
        <p:sp>
          <p:nvSpPr>
            <p:cNvPr name="Freeform 65" id="65"/>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66" id="66"/>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tCO₂ total traded</a:t>
              </a:r>
            </a:p>
          </p:txBody>
        </p:sp>
      </p:grpSp>
      <p:grpSp>
        <p:nvGrpSpPr>
          <p:cNvPr name="Group 67" id="67"/>
          <p:cNvGrpSpPr/>
          <p:nvPr/>
        </p:nvGrpSpPr>
        <p:grpSpPr>
          <a:xfrm rot="0">
            <a:off x="13343887" y="2005327"/>
            <a:ext cx="3853177" cy="1841497"/>
            <a:chOff x="0" y="0"/>
            <a:chExt cx="5137569" cy="2455329"/>
          </a:xfrm>
        </p:grpSpPr>
        <p:sp>
          <p:nvSpPr>
            <p:cNvPr name="Freeform 68" id="68"/>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69" id="69"/>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70" id="70"/>
          <p:cNvGrpSpPr/>
          <p:nvPr/>
        </p:nvGrpSpPr>
        <p:grpSpPr>
          <a:xfrm rot="0">
            <a:off x="13350240" y="2103120"/>
            <a:ext cx="3840480" cy="1005840"/>
            <a:chOff x="0" y="0"/>
            <a:chExt cx="5120640" cy="1341120"/>
          </a:xfrm>
        </p:grpSpPr>
        <p:sp>
          <p:nvSpPr>
            <p:cNvPr name="Freeform 71" id="71"/>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72" id="72"/>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50.5%</a:t>
              </a:r>
            </a:p>
          </p:txBody>
        </p:sp>
      </p:grpSp>
      <p:grpSp>
        <p:nvGrpSpPr>
          <p:cNvPr name="Group 73" id="73"/>
          <p:cNvGrpSpPr/>
          <p:nvPr/>
        </p:nvGrpSpPr>
        <p:grpSpPr>
          <a:xfrm rot="0">
            <a:off x="13350240" y="3108960"/>
            <a:ext cx="3840480" cy="548640"/>
            <a:chOff x="0" y="0"/>
            <a:chExt cx="5120640" cy="731520"/>
          </a:xfrm>
        </p:grpSpPr>
        <p:sp>
          <p:nvSpPr>
            <p:cNvPr name="Freeform 74" id="74"/>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75" id="75"/>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Verified trades</a:t>
              </a:r>
            </a:p>
          </p:txBody>
        </p:sp>
      </p:grpSp>
      <p:grpSp>
        <p:nvGrpSpPr>
          <p:cNvPr name="Group 76" id="76"/>
          <p:cNvGrpSpPr/>
          <p:nvPr/>
        </p:nvGrpSpPr>
        <p:grpSpPr>
          <a:xfrm rot="0">
            <a:off x="993143" y="4339847"/>
            <a:ext cx="354587" cy="354587"/>
            <a:chOff x="0" y="0"/>
            <a:chExt cx="472783" cy="472783"/>
          </a:xfrm>
        </p:grpSpPr>
        <p:sp>
          <p:nvSpPr>
            <p:cNvPr name="Freeform 77" id="77"/>
            <p:cNvSpPr/>
            <p:nvPr/>
          </p:nvSpPr>
          <p:spPr>
            <a:xfrm flipH="false" flipV="false" rot="0">
              <a:off x="16891" y="16891"/>
              <a:ext cx="438912" cy="438912"/>
            </a:xfrm>
            <a:custGeom>
              <a:avLst/>
              <a:gdLst/>
              <a:ahLst/>
              <a:cxnLst/>
              <a:rect r="r" b="b" t="t" l="l"/>
              <a:pathLst>
                <a:path h="438912" w="438912">
                  <a:moveTo>
                    <a:pt x="0" y="0"/>
                  </a:moveTo>
                  <a:lnTo>
                    <a:pt x="438912" y="0"/>
                  </a:lnTo>
                  <a:lnTo>
                    <a:pt x="438912" y="438912"/>
                  </a:lnTo>
                  <a:lnTo>
                    <a:pt x="0" y="438912"/>
                  </a:lnTo>
                  <a:close/>
                </a:path>
              </a:pathLst>
            </a:custGeom>
            <a:solidFill>
              <a:srgbClr val="1B6B3A"/>
            </a:solidFill>
          </p:spPr>
        </p:sp>
        <p:sp>
          <p:nvSpPr>
            <p:cNvPr name="Freeform 78" id="78"/>
            <p:cNvSpPr/>
            <p:nvPr/>
          </p:nvSpPr>
          <p:spPr>
            <a:xfrm flipH="false" flipV="false" rot="0">
              <a:off x="0" y="0"/>
              <a:ext cx="472694" cy="472696"/>
            </a:xfrm>
            <a:custGeom>
              <a:avLst/>
              <a:gdLst/>
              <a:ahLst/>
              <a:cxnLst/>
              <a:rect r="r" b="b" t="t" l="l"/>
              <a:pathLst>
                <a:path h="472696" w="472694">
                  <a:moveTo>
                    <a:pt x="16891" y="0"/>
                  </a:moveTo>
                  <a:lnTo>
                    <a:pt x="455803" y="0"/>
                  </a:lnTo>
                  <a:cubicBezTo>
                    <a:pt x="465201" y="0"/>
                    <a:pt x="472694" y="7620"/>
                    <a:pt x="472694" y="16891"/>
                  </a:cubicBezTo>
                  <a:lnTo>
                    <a:pt x="472694" y="455803"/>
                  </a:lnTo>
                  <a:cubicBezTo>
                    <a:pt x="472694" y="465201"/>
                    <a:pt x="465074" y="472694"/>
                    <a:pt x="455803"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455803" y="438912"/>
                  </a:lnTo>
                  <a:lnTo>
                    <a:pt x="455803" y="455803"/>
                  </a:lnTo>
                  <a:lnTo>
                    <a:pt x="438912" y="455803"/>
                  </a:lnTo>
                  <a:lnTo>
                    <a:pt x="438912" y="16891"/>
                  </a:lnTo>
                  <a:lnTo>
                    <a:pt x="455803" y="16891"/>
                  </a:lnTo>
                  <a:lnTo>
                    <a:pt x="455803" y="33909"/>
                  </a:lnTo>
                  <a:lnTo>
                    <a:pt x="16891" y="33909"/>
                  </a:lnTo>
                  <a:close/>
                </a:path>
              </a:pathLst>
            </a:custGeom>
            <a:solidFill>
              <a:srgbClr val="1B6B3A"/>
            </a:solidFill>
          </p:spPr>
        </p:sp>
      </p:grpSp>
      <p:grpSp>
        <p:nvGrpSpPr>
          <p:cNvPr name="Group 79" id="79"/>
          <p:cNvGrpSpPr/>
          <p:nvPr/>
        </p:nvGrpSpPr>
        <p:grpSpPr>
          <a:xfrm rot="0">
            <a:off x="1554480" y="4206240"/>
            <a:ext cx="4206240" cy="694944"/>
            <a:chOff x="0" y="0"/>
            <a:chExt cx="5608320" cy="926592"/>
          </a:xfrm>
        </p:grpSpPr>
        <p:sp>
          <p:nvSpPr>
            <p:cNvPr name="Freeform 80" id="80"/>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3">
                <a:alphaModFix amt="0"/>
              </a:blip>
              <a:stretch>
                <a:fillRect l="0" t="-67935" r="0" b="-67935"/>
              </a:stretch>
            </a:blipFill>
          </p:spPr>
        </p:sp>
        <p:sp>
          <p:nvSpPr>
            <p:cNvPr name="TextBox 81" id="81"/>
            <p:cNvSpPr txBox="true"/>
            <p:nvPr/>
          </p:nvSpPr>
          <p:spPr>
            <a:xfrm>
              <a:off x="0" y="-38100"/>
              <a:ext cx="5608320" cy="964692"/>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Manufacturing leads — </a:t>
              </a:r>
            </a:p>
          </p:txBody>
        </p:sp>
      </p:grpSp>
      <p:grpSp>
        <p:nvGrpSpPr>
          <p:cNvPr name="Group 82" id="82"/>
          <p:cNvGrpSpPr/>
          <p:nvPr/>
        </p:nvGrpSpPr>
        <p:grpSpPr>
          <a:xfrm rot="0">
            <a:off x="5760720" y="4206240"/>
            <a:ext cx="11521440" cy="694944"/>
            <a:chOff x="0" y="0"/>
            <a:chExt cx="15361920" cy="926592"/>
          </a:xfrm>
        </p:grpSpPr>
        <p:sp>
          <p:nvSpPr>
            <p:cNvPr name="Freeform 83" id="83"/>
            <p:cNvSpPr/>
            <p:nvPr/>
          </p:nvSpPr>
          <p:spPr>
            <a:xfrm flipH="false" flipV="false" rot="0">
              <a:off x="0" y="0"/>
              <a:ext cx="15361920" cy="926592"/>
            </a:xfrm>
            <a:custGeom>
              <a:avLst/>
              <a:gdLst/>
              <a:ahLst/>
              <a:cxnLst/>
              <a:rect r="r" b="b" t="t" l="l"/>
              <a:pathLst>
                <a:path h="926592" w="15361920">
                  <a:moveTo>
                    <a:pt x="0" y="0"/>
                  </a:moveTo>
                  <a:lnTo>
                    <a:pt x="15361920" y="0"/>
                  </a:lnTo>
                  <a:lnTo>
                    <a:pt x="15361920" y="926592"/>
                  </a:lnTo>
                  <a:lnTo>
                    <a:pt x="0" y="926592"/>
                  </a:lnTo>
                  <a:close/>
                </a:path>
              </a:pathLst>
            </a:custGeom>
            <a:blipFill>
              <a:blip r:embed="rId3">
                <a:alphaModFix amt="0"/>
              </a:blip>
              <a:stretch>
                <a:fillRect l="0" t="-273041" r="0" b="-273041"/>
              </a:stretch>
            </a:blipFill>
          </p:spPr>
        </p:sp>
        <p:sp>
          <p:nvSpPr>
            <p:cNvPr name="TextBox 84" id="84"/>
            <p:cNvSpPr txBox="true"/>
            <p:nvPr/>
          </p:nvSpPr>
          <p:spPr>
            <a:xfrm>
              <a:off x="0" y="-38100"/>
              <a:ext cx="15361920" cy="964692"/>
            </a:xfrm>
            <a:prstGeom prst="rect">
              <a:avLst/>
            </a:prstGeom>
          </p:spPr>
          <p:txBody>
            <a:bodyPr anchor="ctr" rtlCol="false" tIns="0" lIns="0" bIns="0" rIns="0"/>
            <a:lstStyle/>
            <a:p>
              <a:pPr algn="l">
                <a:lnSpc>
                  <a:spcPts val="2879"/>
                </a:lnSpc>
              </a:pPr>
              <a:r>
                <a:rPr lang="en-US" sz="2400">
                  <a:solidFill>
                    <a:srgbClr val="666666"/>
                  </a:solidFill>
                  <a:latin typeface="Calibri (MS)"/>
                  <a:ea typeface="Calibri (MS)"/>
                  <a:cs typeface="Calibri (MS)"/>
                  <a:sym typeface="Calibri (MS)"/>
                </a:rPr>
                <a:t>1,43,685 tCO₂ — highest trading volume across all 4 industries</a:t>
              </a:r>
            </a:p>
          </p:txBody>
        </p:sp>
      </p:grpSp>
      <p:grpSp>
        <p:nvGrpSpPr>
          <p:cNvPr name="Group 85" id="85"/>
          <p:cNvGrpSpPr/>
          <p:nvPr/>
        </p:nvGrpSpPr>
        <p:grpSpPr>
          <a:xfrm rot="0">
            <a:off x="993143" y="5290823"/>
            <a:ext cx="354587" cy="354587"/>
            <a:chOff x="0" y="0"/>
            <a:chExt cx="472783" cy="472783"/>
          </a:xfrm>
        </p:grpSpPr>
        <p:sp>
          <p:nvSpPr>
            <p:cNvPr name="Freeform 86" id="86"/>
            <p:cNvSpPr/>
            <p:nvPr/>
          </p:nvSpPr>
          <p:spPr>
            <a:xfrm flipH="false" flipV="false" rot="0">
              <a:off x="16891" y="16891"/>
              <a:ext cx="438912" cy="438912"/>
            </a:xfrm>
            <a:custGeom>
              <a:avLst/>
              <a:gdLst/>
              <a:ahLst/>
              <a:cxnLst/>
              <a:rect r="r" b="b" t="t" l="l"/>
              <a:pathLst>
                <a:path h="438912" w="438912">
                  <a:moveTo>
                    <a:pt x="0" y="0"/>
                  </a:moveTo>
                  <a:lnTo>
                    <a:pt x="438912" y="0"/>
                  </a:lnTo>
                  <a:lnTo>
                    <a:pt x="438912" y="438912"/>
                  </a:lnTo>
                  <a:lnTo>
                    <a:pt x="0" y="438912"/>
                  </a:lnTo>
                  <a:close/>
                </a:path>
              </a:pathLst>
            </a:custGeom>
            <a:solidFill>
              <a:srgbClr val="1B6B3A"/>
            </a:solidFill>
          </p:spPr>
        </p:sp>
        <p:sp>
          <p:nvSpPr>
            <p:cNvPr name="Freeform 87" id="87"/>
            <p:cNvSpPr/>
            <p:nvPr/>
          </p:nvSpPr>
          <p:spPr>
            <a:xfrm flipH="false" flipV="false" rot="0">
              <a:off x="0" y="0"/>
              <a:ext cx="472694" cy="472696"/>
            </a:xfrm>
            <a:custGeom>
              <a:avLst/>
              <a:gdLst/>
              <a:ahLst/>
              <a:cxnLst/>
              <a:rect r="r" b="b" t="t" l="l"/>
              <a:pathLst>
                <a:path h="472696" w="472694">
                  <a:moveTo>
                    <a:pt x="16891" y="0"/>
                  </a:moveTo>
                  <a:lnTo>
                    <a:pt x="455803" y="0"/>
                  </a:lnTo>
                  <a:cubicBezTo>
                    <a:pt x="465201" y="0"/>
                    <a:pt x="472694" y="7620"/>
                    <a:pt x="472694" y="16891"/>
                  </a:cubicBezTo>
                  <a:lnTo>
                    <a:pt x="472694" y="455803"/>
                  </a:lnTo>
                  <a:cubicBezTo>
                    <a:pt x="472694" y="465201"/>
                    <a:pt x="465074" y="472694"/>
                    <a:pt x="455803"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455803" y="438912"/>
                  </a:lnTo>
                  <a:lnTo>
                    <a:pt x="455803" y="455803"/>
                  </a:lnTo>
                  <a:lnTo>
                    <a:pt x="438912" y="455803"/>
                  </a:lnTo>
                  <a:lnTo>
                    <a:pt x="438912" y="16891"/>
                  </a:lnTo>
                  <a:lnTo>
                    <a:pt x="455803" y="16891"/>
                  </a:lnTo>
                  <a:lnTo>
                    <a:pt x="455803" y="33909"/>
                  </a:lnTo>
                  <a:lnTo>
                    <a:pt x="16891" y="33909"/>
                  </a:lnTo>
                  <a:close/>
                </a:path>
              </a:pathLst>
            </a:custGeom>
            <a:solidFill>
              <a:srgbClr val="1B6B3A"/>
            </a:solidFill>
          </p:spPr>
        </p:sp>
      </p:grpSp>
      <p:grpSp>
        <p:nvGrpSpPr>
          <p:cNvPr name="Group 88" id="88"/>
          <p:cNvGrpSpPr/>
          <p:nvPr/>
        </p:nvGrpSpPr>
        <p:grpSpPr>
          <a:xfrm rot="0">
            <a:off x="1554480" y="5157216"/>
            <a:ext cx="4206240" cy="694944"/>
            <a:chOff x="0" y="0"/>
            <a:chExt cx="5608320" cy="926592"/>
          </a:xfrm>
        </p:grpSpPr>
        <p:sp>
          <p:nvSpPr>
            <p:cNvPr name="Freeform 89" id="89"/>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3">
                <a:alphaModFix amt="0"/>
              </a:blip>
              <a:stretch>
                <a:fillRect l="0" t="-67935" r="0" b="-67935"/>
              </a:stretch>
            </a:blipFill>
          </p:spPr>
        </p:sp>
        <p:sp>
          <p:nvSpPr>
            <p:cNvPr name="TextBox 90" id="90"/>
            <p:cNvSpPr txBox="true"/>
            <p:nvPr/>
          </p:nvSpPr>
          <p:spPr>
            <a:xfrm>
              <a:off x="0" y="-38100"/>
              <a:ext cx="5608320" cy="964692"/>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Natural Gas top fuel — </a:t>
              </a:r>
            </a:p>
          </p:txBody>
        </p:sp>
      </p:grpSp>
      <p:grpSp>
        <p:nvGrpSpPr>
          <p:cNvPr name="Group 91" id="91"/>
          <p:cNvGrpSpPr/>
          <p:nvPr/>
        </p:nvGrpSpPr>
        <p:grpSpPr>
          <a:xfrm rot="0">
            <a:off x="5760720" y="5157216"/>
            <a:ext cx="11521440" cy="694944"/>
            <a:chOff x="0" y="0"/>
            <a:chExt cx="15361920" cy="926592"/>
          </a:xfrm>
        </p:grpSpPr>
        <p:sp>
          <p:nvSpPr>
            <p:cNvPr name="Freeform 92" id="92"/>
            <p:cNvSpPr/>
            <p:nvPr/>
          </p:nvSpPr>
          <p:spPr>
            <a:xfrm flipH="false" flipV="false" rot="0">
              <a:off x="0" y="0"/>
              <a:ext cx="15361920" cy="926592"/>
            </a:xfrm>
            <a:custGeom>
              <a:avLst/>
              <a:gdLst/>
              <a:ahLst/>
              <a:cxnLst/>
              <a:rect r="r" b="b" t="t" l="l"/>
              <a:pathLst>
                <a:path h="926592" w="15361920">
                  <a:moveTo>
                    <a:pt x="0" y="0"/>
                  </a:moveTo>
                  <a:lnTo>
                    <a:pt x="15361920" y="0"/>
                  </a:lnTo>
                  <a:lnTo>
                    <a:pt x="15361920" y="926592"/>
                  </a:lnTo>
                  <a:lnTo>
                    <a:pt x="0" y="926592"/>
                  </a:lnTo>
                  <a:close/>
                </a:path>
              </a:pathLst>
            </a:custGeom>
            <a:blipFill>
              <a:blip r:embed="rId3">
                <a:alphaModFix amt="0"/>
              </a:blip>
              <a:stretch>
                <a:fillRect l="0" t="-273041" r="0" b="-273041"/>
              </a:stretch>
            </a:blipFill>
          </p:spPr>
        </p:sp>
        <p:sp>
          <p:nvSpPr>
            <p:cNvPr name="TextBox 93" id="93"/>
            <p:cNvSpPr txBox="true"/>
            <p:nvPr/>
          </p:nvSpPr>
          <p:spPr>
            <a:xfrm>
              <a:off x="0" y="-38100"/>
              <a:ext cx="15361920" cy="964692"/>
            </a:xfrm>
            <a:prstGeom prst="rect">
              <a:avLst/>
            </a:prstGeom>
          </p:spPr>
          <p:txBody>
            <a:bodyPr anchor="ctr" rtlCol="false" tIns="0" lIns="0" bIns="0" rIns="0"/>
            <a:lstStyle/>
            <a:p>
              <a:pPr algn="l">
                <a:lnSpc>
                  <a:spcPts val="2879"/>
                </a:lnSpc>
              </a:pPr>
              <a:r>
                <a:rPr lang="en-US" sz="2400">
                  <a:solidFill>
                    <a:srgbClr val="666666"/>
                  </a:solidFill>
                  <a:latin typeface="Calibri (MS)"/>
                  <a:ea typeface="Calibri (MS)"/>
                  <a:cs typeface="Calibri (MS)"/>
                  <a:sym typeface="Calibri (MS)"/>
                </a:rPr>
                <a:t>1,281 trades — followed by Renewable (1,248) and Mixed (1,244)</a:t>
              </a:r>
            </a:p>
          </p:txBody>
        </p:sp>
      </p:grpSp>
      <p:grpSp>
        <p:nvGrpSpPr>
          <p:cNvPr name="Group 94" id="94"/>
          <p:cNvGrpSpPr/>
          <p:nvPr/>
        </p:nvGrpSpPr>
        <p:grpSpPr>
          <a:xfrm rot="0">
            <a:off x="993143" y="6241799"/>
            <a:ext cx="354587" cy="354587"/>
            <a:chOff x="0" y="0"/>
            <a:chExt cx="472783" cy="472783"/>
          </a:xfrm>
        </p:grpSpPr>
        <p:sp>
          <p:nvSpPr>
            <p:cNvPr name="Freeform 95" id="95"/>
            <p:cNvSpPr/>
            <p:nvPr/>
          </p:nvSpPr>
          <p:spPr>
            <a:xfrm flipH="false" flipV="false" rot="0">
              <a:off x="16891" y="16891"/>
              <a:ext cx="438912" cy="438912"/>
            </a:xfrm>
            <a:custGeom>
              <a:avLst/>
              <a:gdLst/>
              <a:ahLst/>
              <a:cxnLst/>
              <a:rect r="r" b="b" t="t" l="l"/>
              <a:pathLst>
                <a:path h="438912" w="438912">
                  <a:moveTo>
                    <a:pt x="0" y="0"/>
                  </a:moveTo>
                  <a:lnTo>
                    <a:pt x="438912" y="0"/>
                  </a:lnTo>
                  <a:lnTo>
                    <a:pt x="438912" y="438912"/>
                  </a:lnTo>
                  <a:lnTo>
                    <a:pt x="0" y="438912"/>
                  </a:lnTo>
                  <a:close/>
                </a:path>
              </a:pathLst>
            </a:custGeom>
            <a:solidFill>
              <a:srgbClr val="1B6B3A"/>
            </a:solidFill>
          </p:spPr>
        </p:sp>
        <p:sp>
          <p:nvSpPr>
            <p:cNvPr name="Freeform 96" id="96"/>
            <p:cNvSpPr/>
            <p:nvPr/>
          </p:nvSpPr>
          <p:spPr>
            <a:xfrm flipH="false" flipV="false" rot="0">
              <a:off x="0" y="0"/>
              <a:ext cx="472694" cy="472696"/>
            </a:xfrm>
            <a:custGeom>
              <a:avLst/>
              <a:gdLst/>
              <a:ahLst/>
              <a:cxnLst/>
              <a:rect r="r" b="b" t="t" l="l"/>
              <a:pathLst>
                <a:path h="472696" w="472694">
                  <a:moveTo>
                    <a:pt x="16891" y="0"/>
                  </a:moveTo>
                  <a:lnTo>
                    <a:pt x="455803" y="0"/>
                  </a:lnTo>
                  <a:cubicBezTo>
                    <a:pt x="465201" y="0"/>
                    <a:pt x="472694" y="7620"/>
                    <a:pt x="472694" y="16891"/>
                  </a:cubicBezTo>
                  <a:lnTo>
                    <a:pt x="472694" y="455803"/>
                  </a:lnTo>
                  <a:cubicBezTo>
                    <a:pt x="472694" y="465201"/>
                    <a:pt x="465074" y="472694"/>
                    <a:pt x="455803"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455803" y="438912"/>
                  </a:lnTo>
                  <a:lnTo>
                    <a:pt x="455803" y="455803"/>
                  </a:lnTo>
                  <a:lnTo>
                    <a:pt x="438912" y="455803"/>
                  </a:lnTo>
                  <a:lnTo>
                    <a:pt x="438912" y="16891"/>
                  </a:lnTo>
                  <a:lnTo>
                    <a:pt x="455803" y="16891"/>
                  </a:lnTo>
                  <a:lnTo>
                    <a:pt x="455803" y="33909"/>
                  </a:lnTo>
                  <a:lnTo>
                    <a:pt x="16891" y="33909"/>
                  </a:lnTo>
                  <a:close/>
                </a:path>
              </a:pathLst>
            </a:custGeom>
            <a:solidFill>
              <a:srgbClr val="1B6B3A"/>
            </a:solidFill>
          </p:spPr>
        </p:sp>
      </p:grpSp>
      <p:grpSp>
        <p:nvGrpSpPr>
          <p:cNvPr name="Group 97" id="97"/>
          <p:cNvGrpSpPr/>
          <p:nvPr/>
        </p:nvGrpSpPr>
        <p:grpSpPr>
          <a:xfrm rot="0">
            <a:off x="1554480" y="6108192"/>
            <a:ext cx="4206240" cy="694944"/>
            <a:chOff x="0" y="0"/>
            <a:chExt cx="5608320" cy="926592"/>
          </a:xfrm>
        </p:grpSpPr>
        <p:sp>
          <p:nvSpPr>
            <p:cNvPr name="Freeform 98" id="98"/>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3">
                <a:alphaModFix amt="0"/>
              </a:blip>
              <a:stretch>
                <a:fillRect l="0" t="-67935" r="0" b="-67935"/>
              </a:stretch>
            </a:blipFill>
          </p:spPr>
        </p:sp>
        <p:sp>
          <p:nvSpPr>
            <p:cNvPr name="TextBox 99" id="99"/>
            <p:cNvSpPr txBox="true"/>
            <p:nvPr/>
          </p:nvSpPr>
          <p:spPr>
            <a:xfrm>
              <a:off x="0" y="-38100"/>
              <a:ext cx="5608320" cy="964692"/>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Buy dominates — </a:t>
              </a:r>
            </a:p>
          </p:txBody>
        </p:sp>
      </p:grpSp>
      <p:grpSp>
        <p:nvGrpSpPr>
          <p:cNvPr name="Group 100" id="100"/>
          <p:cNvGrpSpPr/>
          <p:nvPr/>
        </p:nvGrpSpPr>
        <p:grpSpPr>
          <a:xfrm rot="0">
            <a:off x="5760720" y="6108192"/>
            <a:ext cx="11521440" cy="694944"/>
            <a:chOff x="0" y="0"/>
            <a:chExt cx="15361920" cy="926592"/>
          </a:xfrm>
        </p:grpSpPr>
        <p:sp>
          <p:nvSpPr>
            <p:cNvPr name="Freeform 101" id="101"/>
            <p:cNvSpPr/>
            <p:nvPr/>
          </p:nvSpPr>
          <p:spPr>
            <a:xfrm flipH="false" flipV="false" rot="0">
              <a:off x="0" y="0"/>
              <a:ext cx="15361920" cy="926592"/>
            </a:xfrm>
            <a:custGeom>
              <a:avLst/>
              <a:gdLst/>
              <a:ahLst/>
              <a:cxnLst/>
              <a:rect r="r" b="b" t="t" l="l"/>
              <a:pathLst>
                <a:path h="926592" w="15361920">
                  <a:moveTo>
                    <a:pt x="0" y="0"/>
                  </a:moveTo>
                  <a:lnTo>
                    <a:pt x="15361920" y="0"/>
                  </a:lnTo>
                  <a:lnTo>
                    <a:pt x="15361920" y="926592"/>
                  </a:lnTo>
                  <a:lnTo>
                    <a:pt x="0" y="926592"/>
                  </a:lnTo>
                  <a:close/>
                </a:path>
              </a:pathLst>
            </a:custGeom>
            <a:blipFill>
              <a:blip r:embed="rId3">
                <a:alphaModFix amt="0"/>
              </a:blip>
              <a:stretch>
                <a:fillRect l="0" t="-273041" r="0" b="-273041"/>
              </a:stretch>
            </a:blipFill>
          </p:spPr>
        </p:sp>
        <p:sp>
          <p:nvSpPr>
            <p:cNvPr name="TextBox 102" id="102"/>
            <p:cNvSpPr txBox="true"/>
            <p:nvPr/>
          </p:nvSpPr>
          <p:spPr>
            <a:xfrm>
              <a:off x="0" y="-38100"/>
              <a:ext cx="15361920" cy="964692"/>
            </a:xfrm>
            <a:prstGeom prst="rect">
              <a:avLst/>
            </a:prstGeom>
          </p:spPr>
          <p:txBody>
            <a:bodyPr anchor="ctr" rtlCol="false" tIns="0" lIns="0" bIns="0" rIns="0"/>
            <a:lstStyle/>
            <a:p>
              <a:pPr algn="l">
                <a:lnSpc>
                  <a:spcPts val="2879"/>
                </a:lnSpc>
              </a:pPr>
              <a:r>
                <a:rPr lang="en-US" sz="2400">
                  <a:solidFill>
                    <a:srgbClr val="666666"/>
                  </a:solidFill>
                  <a:latin typeface="Calibri (MS)"/>
                  <a:ea typeface="Calibri (MS)"/>
                  <a:cs typeface="Calibri (MS)"/>
                  <a:sym typeface="Calibri (MS)"/>
                </a:rPr>
                <a:t>2,531 Buy vs 2,469 Sell transactions — balanced market simulation</a:t>
              </a:r>
            </a:p>
          </p:txBody>
        </p:sp>
      </p:grpSp>
      <p:grpSp>
        <p:nvGrpSpPr>
          <p:cNvPr name="Group 103" id="103"/>
          <p:cNvGrpSpPr/>
          <p:nvPr/>
        </p:nvGrpSpPr>
        <p:grpSpPr>
          <a:xfrm rot="0">
            <a:off x="993143" y="7192775"/>
            <a:ext cx="354587" cy="354587"/>
            <a:chOff x="0" y="0"/>
            <a:chExt cx="472783" cy="472783"/>
          </a:xfrm>
        </p:grpSpPr>
        <p:sp>
          <p:nvSpPr>
            <p:cNvPr name="Freeform 104" id="104"/>
            <p:cNvSpPr/>
            <p:nvPr/>
          </p:nvSpPr>
          <p:spPr>
            <a:xfrm flipH="false" flipV="false" rot="0">
              <a:off x="16891" y="16891"/>
              <a:ext cx="438912" cy="438912"/>
            </a:xfrm>
            <a:custGeom>
              <a:avLst/>
              <a:gdLst/>
              <a:ahLst/>
              <a:cxnLst/>
              <a:rect r="r" b="b" t="t" l="l"/>
              <a:pathLst>
                <a:path h="438912" w="438912">
                  <a:moveTo>
                    <a:pt x="0" y="0"/>
                  </a:moveTo>
                  <a:lnTo>
                    <a:pt x="438912" y="0"/>
                  </a:lnTo>
                  <a:lnTo>
                    <a:pt x="438912" y="438912"/>
                  </a:lnTo>
                  <a:lnTo>
                    <a:pt x="0" y="438912"/>
                  </a:lnTo>
                  <a:close/>
                </a:path>
              </a:pathLst>
            </a:custGeom>
            <a:solidFill>
              <a:srgbClr val="1B6B3A"/>
            </a:solidFill>
          </p:spPr>
        </p:sp>
        <p:sp>
          <p:nvSpPr>
            <p:cNvPr name="Freeform 105" id="105"/>
            <p:cNvSpPr/>
            <p:nvPr/>
          </p:nvSpPr>
          <p:spPr>
            <a:xfrm flipH="false" flipV="false" rot="0">
              <a:off x="0" y="0"/>
              <a:ext cx="472694" cy="472696"/>
            </a:xfrm>
            <a:custGeom>
              <a:avLst/>
              <a:gdLst/>
              <a:ahLst/>
              <a:cxnLst/>
              <a:rect r="r" b="b" t="t" l="l"/>
              <a:pathLst>
                <a:path h="472696" w="472694">
                  <a:moveTo>
                    <a:pt x="16891" y="0"/>
                  </a:moveTo>
                  <a:lnTo>
                    <a:pt x="455803" y="0"/>
                  </a:lnTo>
                  <a:cubicBezTo>
                    <a:pt x="465201" y="0"/>
                    <a:pt x="472694" y="7620"/>
                    <a:pt x="472694" y="16891"/>
                  </a:cubicBezTo>
                  <a:lnTo>
                    <a:pt x="472694" y="455803"/>
                  </a:lnTo>
                  <a:cubicBezTo>
                    <a:pt x="472694" y="465201"/>
                    <a:pt x="465074" y="472694"/>
                    <a:pt x="455803"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455803" y="438912"/>
                  </a:lnTo>
                  <a:lnTo>
                    <a:pt x="455803" y="455803"/>
                  </a:lnTo>
                  <a:lnTo>
                    <a:pt x="438912" y="455803"/>
                  </a:lnTo>
                  <a:lnTo>
                    <a:pt x="438912" y="16891"/>
                  </a:lnTo>
                  <a:lnTo>
                    <a:pt x="455803" y="16891"/>
                  </a:lnTo>
                  <a:lnTo>
                    <a:pt x="455803" y="33909"/>
                  </a:lnTo>
                  <a:lnTo>
                    <a:pt x="16891" y="33909"/>
                  </a:lnTo>
                  <a:close/>
                </a:path>
              </a:pathLst>
            </a:custGeom>
            <a:solidFill>
              <a:srgbClr val="1B6B3A"/>
            </a:solidFill>
          </p:spPr>
        </p:sp>
      </p:grpSp>
      <p:grpSp>
        <p:nvGrpSpPr>
          <p:cNvPr name="Group 106" id="106"/>
          <p:cNvGrpSpPr/>
          <p:nvPr/>
        </p:nvGrpSpPr>
        <p:grpSpPr>
          <a:xfrm rot="0">
            <a:off x="1554480" y="7059168"/>
            <a:ext cx="4206240" cy="694944"/>
            <a:chOff x="0" y="0"/>
            <a:chExt cx="5608320" cy="926592"/>
          </a:xfrm>
        </p:grpSpPr>
        <p:sp>
          <p:nvSpPr>
            <p:cNvPr name="Freeform 107" id="10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3">
                <a:alphaModFix amt="0"/>
              </a:blip>
              <a:stretch>
                <a:fillRect l="0" t="-67935" r="0" b="-67935"/>
              </a:stretch>
            </a:blipFill>
          </p:spPr>
        </p:sp>
        <p:sp>
          <p:nvSpPr>
            <p:cNvPr name="TextBox 108" id="108"/>
            <p:cNvSpPr txBox="true"/>
            <p:nvPr/>
          </p:nvSpPr>
          <p:spPr>
            <a:xfrm>
              <a:off x="0" y="-38100"/>
              <a:ext cx="5608320" cy="964692"/>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3 market scenarios — </a:t>
              </a:r>
            </a:p>
          </p:txBody>
        </p:sp>
      </p:grpSp>
      <p:grpSp>
        <p:nvGrpSpPr>
          <p:cNvPr name="Group 109" id="109"/>
          <p:cNvGrpSpPr/>
          <p:nvPr/>
        </p:nvGrpSpPr>
        <p:grpSpPr>
          <a:xfrm rot="0">
            <a:off x="5760720" y="7059168"/>
            <a:ext cx="11521440" cy="694944"/>
            <a:chOff x="0" y="0"/>
            <a:chExt cx="15361920" cy="926592"/>
          </a:xfrm>
        </p:grpSpPr>
        <p:sp>
          <p:nvSpPr>
            <p:cNvPr name="Freeform 110" id="110"/>
            <p:cNvSpPr/>
            <p:nvPr/>
          </p:nvSpPr>
          <p:spPr>
            <a:xfrm flipH="false" flipV="false" rot="0">
              <a:off x="0" y="0"/>
              <a:ext cx="15361920" cy="926592"/>
            </a:xfrm>
            <a:custGeom>
              <a:avLst/>
              <a:gdLst/>
              <a:ahLst/>
              <a:cxnLst/>
              <a:rect r="r" b="b" t="t" l="l"/>
              <a:pathLst>
                <a:path h="926592" w="15361920">
                  <a:moveTo>
                    <a:pt x="0" y="0"/>
                  </a:moveTo>
                  <a:lnTo>
                    <a:pt x="15361920" y="0"/>
                  </a:lnTo>
                  <a:lnTo>
                    <a:pt x="15361920" y="926592"/>
                  </a:lnTo>
                  <a:lnTo>
                    <a:pt x="0" y="926592"/>
                  </a:lnTo>
                  <a:close/>
                </a:path>
              </a:pathLst>
            </a:custGeom>
            <a:blipFill>
              <a:blip r:embed="rId3">
                <a:alphaModFix amt="0"/>
              </a:blip>
              <a:stretch>
                <a:fillRect l="0" t="-273041" r="0" b="-273041"/>
              </a:stretch>
            </a:blipFill>
          </p:spPr>
        </p:sp>
        <p:sp>
          <p:nvSpPr>
            <p:cNvPr name="TextBox 111" id="111"/>
            <p:cNvSpPr txBox="true"/>
            <p:nvPr/>
          </p:nvSpPr>
          <p:spPr>
            <a:xfrm>
              <a:off x="0" y="-38100"/>
              <a:ext cx="15361920" cy="964692"/>
            </a:xfrm>
            <a:prstGeom prst="rect">
              <a:avLst/>
            </a:prstGeom>
          </p:spPr>
          <p:txBody>
            <a:bodyPr anchor="ctr" rtlCol="false" tIns="0" lIns="0" bIns="0" rIns="0"/>
            <a:lstStyle/>
            <a:p>
              <a:pPr algn="l">
                <a:lnSpc>
                  <a:spcPts val="2879"/>
                </a:lnSpc>
              </a:pPr>
              <a:r>
                <a:rPr lang="en-US" sz="2400">
                  <a:solidFill>
                    <a:srgbClr val="666666"/>
                  </a:solidFill>
                  <a:latin typeface="Calibri (MS)"/>
                  <a:ea typeface="Calibri (MS)"/>
                  <a:cs typeface="Calibri (MS)"/>
                  <a:sym typeface="Calibri (MS)"/>
                </a:rPr>
                <a:t>High Demand (1,675) · Price Surge (1,672) · Low Demand (1,653)</a:t>
              </a:r>
            </a:p>
          </p:txBody>
        </p:sp>
      </p:grpSp>
      <p:grpSp>
        <p:nvGrpSpPr>
          <p:cNvPr name="Group 112" id="112"/>
          <p:cNvGrpSpPr/>
          <p:nvPr/>
        </p:nvGrpSpPr>
        <p:grpSpPr>
          <a:xfrm rot="0">
            <a:off x="993143" y="8143751"/>
            <a:ext cx="354587" cy="354587"/>
            <a:chOff x="0" y="0"/>
            <a:chExt cx="472783" cy="472783"/>
          </a:xfrm>
        </p:grpSpPr>
        <p:sp>
          <p:nvSpPr>
            <p:cNvPr name="Freeform 113" id="113"/>
            <p:cNvSpPr/>
            <p:nvPr/>
          </p:nvSpPr>
          <p:spPr>
            <a:xfrm flipH="false" flipV="false" rot="0">
              <a:off x="16891" y="16891"/>
              <a:ext cx="438912" cy="438912"/>
            </a:xfrm>
            <a:custGeom>
              <a:avLst/>
              <a:gdLst/>
              <a:ahLst/>
              <a:cxnLst/>
              <a:rect r="r" b="b" t="t" l="l"/>
              <a:pathLst>
                <a:path h="438912" w="438912">
                  <a:moveTo>
                    <a:pt x="0" y="0"/>
                  </a:moveTo>
                  <a:lnTo>
                    <a:pt x="438912" y="0"/>
                  </a:lnTo>
                  <a:lnTo>
                    <a:pt x="438912" y="438912"/>
                  </a:lnTo>
                  <a:lnTo>
                    <a:pt x="0" y="438912"/>
                  </a:lnTo>
                  <a:close/>
                </a:path>
              </a:pathLst>
            </a:custGeom>
            <a:solidFill>
              <a:srgbClr val="1B6B3A"/>
            </a:solidFill>
          </p:spPr>
        </p:sp>
        <p:sp>
          <p:nvSpPr>
            <p:cNvPr name="Freeform 114" id="114"/>
            <p:cNvSpPr/>
            <p:nvPr/>
          </p:nvSpPr>
          <p:spPr>
            <a:xfrm flipH="false" flipV="false" rot="0">
              <a:off x="0" y="0"/>
              <a:ext cx="472694" cy="472696"/>
            </a:xfrm>
            <a:custGeom>
              <a:avLst/>
              <a:gdLst/>
              <a:ahLst/>
              <a:cxnLst/>
              <a:rect r="r" b="b" t="t" l="l"/>
              <a:pathLst>
                <a:path h="472696" w="472694">
                  <a:moveTo>
                    <a:pt x="16891" y="0"/>
                  </a:moveTo>
                  <a:lnTo>
                    <a:pt x="455803" y="0"/>
                  </a:lnTo>
                  <a:cubicBezTo>
                    <a:pt x="465201" y="0"/>
                    <a:pt x="472694" y="7620"/>
                    <a:pt x="472694" y="16891"/>
                  </a:cubicBezTo>
                  <a:lnTo>
                    <a:pt x="472694" y="455803"/>
                  </a:lnTo>
                  <a:cubicBezTo>
                    <a:pt x="472694" y="465201"/>
                    <a:pt x="465074" y="472694"/>
                    <a:pt x="455803"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455803" y="438912"/>
                  </a:lnTo>
                  <a:lnTo>
                    <a:pt x="455803" y="455803"/>
                  </a:lnTo>
                  <a:lnTo>
                    <a:pt x="438912" y="455803"/>
                  </a:lnTo>
                  <a:lnTo>
                    <a:pt x="438912" y="16891"/>
                  </a:lnTo>
                  <a:lnTo>
                    <a:pt x="455803" y="16891"/>
                  </a:lnTo>
                  <a:lnTo>
                    <a:pt x="455803" y="33909"/>
                  </a:lnTo>
                  <a:lnTo>
                    <a:pt x="16891" y="33909"/>
                  </a:lnTo>
                  <a:close/>
                </a:path>
              </a:pathLst>
            </a:custGeom>
            <a:solidFill>
              <a:srgbClr val="1B6B3A"/>
            </a:solidFill>
          </p:spPr>
        </p:sp>
      </p:grpSp>
      <p:grpSp>
        <p:nvGrpSpPr>
          <p:cNvPr name="Group 115" id="115"/>
          <p:cNvGrpSpPr/>
          <p:nvPr/>
        </p:nvGrpSpPr>
        <p:grpSpPr>
          <a:xfrm rot="0">
            <a:off x="1554480" y="8010144"/>
            <a:ext cx="4206240" cy="694944"/>
            <a:chOff x="0" y="0"/>
            <a:chExt cx="5608320" cy="926592"/>
          </a:xfrm>
        </p:grpSpPr>
        <p:sp>
          <p:nvSpPr>
            <p:cNvPr name="Freeform 116" id="116"/>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3">
                <a:alphaModFix amt="0"/>
              </a:blip>
              <a:stretch>
                <a:fillRect l="0" t="-67935" r="0" b="-67935"/>
              </a:stretch>
            </a:blipFill>
          </p:spPr>
        </p:sp>
        <p:sp>
          <p:nvSpPr>
            <p:cNvPr name="TextBox 117" id="117"/>
            <p:cNvSpPr txBox="true"/>
            <p:nvPr/>
          </p:nvSpPr>
          <p:spPr>
            <a:xfrm>
              <a:off x="0" y="-38100"/>
              <a:ext cx="5608320" cy="964692"/>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Avg compliance cost — </a:t>
              </a:r>
            </a:p>
          </p:txBody>
        </p:sp>
      </p:grpSp>
      <p:grpSp>
        <p:nvGrpSpPr>
          <p:cNvPr name="Group 118" id="118"/>
          <p:cNvGrpSpPr/>
          <p:nvPr/>
        </p:nvGrpSpPr>
        <p:grpSpPr>
          <a:xfrm rot="0">
            <a:off x="5760720" y="8010144"/>
            <a:ext cx="11521440" cy="694944"/>
            <a:chOff x="0" y="0"/>
            <a:chExt cx="15361920" cy="926592"/>
          </a:xfrm>
        </p:grpSpPr>
        <p:sp>
          <p:nvSpPr>
            <p:cNvPr name="Freeform 119" id="119"/>
            <p:cNvSpPr/>
            <p:nvPr/>
          </p:nvSpPr>
          <p:spPr>
            <a:xfrm flipH="false" flipV="false" rot="0">
              <a:off x="0" y="0"/>
              <a:ext cx="15361920" cy="926592"/>
            </a:xfrm>
            <a:custGeom>
              <a:avLst/>
              <a:gdLst/>
              <a:ahLst/>
              <a:cxnLst/>
              <a:rect r="r" b="b" t="t" l="l"/>
              <a:pathLst>
                <a:path h="926592" w="15361920">
                  <a:moveTo>
                    <a:pt x="0" y="0"/>
                  </a:moveTo>
                  <a:lnTo>
                    <a:pt x="15361920" y="0"/>
                  </a:lnTo>
                  <a:lnTo>
                    <a:pt x="15361920" y="926592"/>
                  </a:lnTo>
                  <a:lnTo>
                    <a:pt x="0" y="926592"/>
                  </a:lnTo>
                  <a:close/>
                </a:path>
              </a:pathLst>
            </a:custGeom>
            <a:blipFill>
              <a:blip r:embed="rId3">
                <a:alphaModFix amt="0"/>
              </a:blip>
              <a:stretch>
                <a:fillRect l="0" t="-273041" r="0" b="-273041"/>
              </a:stretch>
            </a:blipFill>
          </p:spPr>
        </p:sp>
        <p:sp>
          <p:nvSpPr>
            <p:cNvPr name="TextBox 120" id="120"/>
            <p:cNvSpPr txBox="true"/>
            <p:nvPr/>
          </p:nvSpPr>
          <p:spPr>
            <a:xfrm>
              <a:off x="0" y="-38100"/>
              <a:ext cx="15361920" cy="964692"/>
            </a:xfrm>
            <a:prstGeom prst="rect">
              <a:avLst/>
            </a:prstGeom>
          </p:spPr>
          <p:txBody>
            <a:bodyPr anchor="ctr" rtlCol="false" tIns="0" lIns="0" bIns="0" rIns="0"/>
            <a:lstStyle/>
            <a:p>
              <a:pPr algn="l">
                <a:lnSpc>
                  <a:spcPts val="2879"/>
                </a:lnSpc>
              </a:pPr>
              <a:r>
                <a:rPr lang="en-US" sz="2400">
                  <a:solidFill>
                    <a:srgbClr val="666666"/>
                  </a:solidFill>
                  <a:latin typeface="Calibri (MS)"/>
                  <a:ea typeface="Calibri (MS)"/>
                  <a:cs typeface="Calibri (MS)"/>
                  <a:sym typeface="Calibri (MS)"/>
                </a:rPr>
                <a:t>$12,480 per transaction · Avg carbon cost savings: $1,740</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54578" y="351539"/>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59656" y="402593"/>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14963" y="9971537"/>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56182" y="9920740"/>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Stakeholder Survey Results</a:t>
              </a:r>
            </a:p>
          </p:txBody>
        </p:sp>
      </p:grpSp>
      <p:grpSp>
        <p:nvGrpSpPr>
          <p:cNvPr name="Group 37" id="37"/>
          <p:cNvGrpSpPr/>
          <p:nvPr/>
        </p:nvGrpSpPr>
        <p:grpSpPr>
          <a:xfrm rot="0">
            <a:off x="1273807" y="1463040"/>
            <a:ext cx="15910560" cy="640080"/>
            <a:chOff x="0" y="0"/>
            <a:chExt cx="21214080" cy="853440"/>
          </a:xfrm>
        </p:grpSpPr>
        <p:sp>
          <p:nvSpPr>
            <p:cNvPr name="Freeform 38" id="38"/>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9" id="39"/>
            <p:cNvSpPr txBox="true"/>
            <p:nvPr/>
          </p:nvSpPr>
          <p:spPr>
            <a:xfrm>
              <a:off x="0" y="-38100"/>
              <a:ext cx="21214080" cy="891540"/>
            </a:xfrm>
            <a:prstGeom prst="rect">
              <a:avLst/>
            </a:prstGeom>
          </p:spPr>
          <p:txBody>
            <a:bodyPr anchor="ctr" rtlCol="false" tIns="0" lIns="0" bIns="0" rIns="0"/>
            <a:lstStyle/>
            <a:p>
              <a:pPr algn="ctr">
                <a:lnSpc>
                  <a:spcPts val="2879"/>
                </a:lnSpc>
              </a:pPr>
              <a:r>
                <a:rPr lang="en-US" sz="2400">
                  <a:solidFill>
                    <a:srgbClr val="666666"/>
                  </a:solidFill>
                  <a:latin typeface="Calibri (MS)"/>
                  <a:ea typeface="Calibri (MS)"/>
                  <a:cs typeface="Calibri (MS)"/>
                  <a:sym typeface="Calibri (MS)"/>
                </a:rPr>
                <a:t>Google Forms survey · 17 respondents · Alliance University · March 2026</a:t>
              </a:r>
            </a:p>
          </p:txBody>
        </p:sp>
      </p:grpSp>
      <p:grpSp>
        <p:nvGrpSpPr>
          <p:cNvPr name="Group 40" id="40"/>
          <p:cNvGrpSpPr/>
          <p:nvPr/>
        </p:nvGrpSpPr>
        <p:grpSpPr>
          <a:xfrm rot="0">
            <a:off x="999487" y="2005327"/>
            <a:ext cx="3853177" cy="1841497"/>
            <a:chOff x="0" y="0"/>
            <a:chExt cx="5137569" cy="2455329"/>
          </a:xfrm>
        </p:grpSpPr>
        <p:sp>
          <p:nvSpPr>
            <p:cNvPr name="Freeform 41" id="41"/>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42" id="42"/>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43" id="43"/>
          <p:cNvGrpSpPr/>
          <p:nvPr/>
        </p:nvGrpSpPr>
        <p:grpSpPr>
          <a:xfrm rot="0">
            <a:off x="1005840" y="2103120"/>
            <a:ext cx="3840480" cy="1005840"/>
            <a:chOff x="0" y="0"/>
            <a:chExt cx="5120640" cy="1341120"/>
          </a:xfrm>
        </p:grpSpPr>
        <p:sp>
          <p:nvSpPr>
            <p:cNvPr name="Freeform 44" id="44"/>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45" id="45"/>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17</a:t>
              </a:r>
            </a:p>
          </p:txBody>
        </p:sp>
      </p:grpSp>
      <p:grpSp>
        <p:nvGrpSpPr>
          <p:cNvPr name="Group 46" id="46"/>
          <p:cNvGrpSpPr/>
          <p:nvPr/>
        </p:nvGrpSpPr>
        <p:grpSpPr>
          <a:xfrm rot="0">
            <a:off x="1005840" y="3108960"/>
            <a:ext cx="3840480" cy="548640"/>
            <a:chOff x="0" y="0"/>
            <a:chExt cx="5120640" cy="731520"/>
          </a:xfrm>
        </p:grpSpPr>
        <p:sp>
          <p:nvSpPr>
            <p:cNvPr name="Freeform 47" id="47"/>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48" id="48"/>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Respondents</a:t>
              </a:r>
            </a:p>
          </p:txBody>
        </p:sp>
      </p:grpSp>
      <p:grpSp>
        <p:nvGrpSpPr>
          <p:cNvPr name="Group 49" id="49"/>
          <p:cNvGrpSpPr/>
          <p:nvPr/>
        </p:nvGrpSpPr>
        <p:grpSpPr>
          <a:xfrm rot="0">
            <a:off x="5114287" y="2005327"/>
            <a:ext cx="3853177" cy="1841497"/>
            <a:chOff x="0" y="0"/>
            <a:chExt cx="5137569" cy="2455329"/>
          </a:xfrm>
        </p:grpSpPr>
        <p:sp>
          <p:nvSpPr>
            <p:cNvPr name="Freeform 50" id="50"/>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51" id="51"/>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52" id="52"/>
          <p:cNvGrpSpPr/>
          <p:nvPr/>
        </p:nvGrpSpPr>
        <p:grpSpPr>
          <a:xfrm rot="0">
            <a:off x="5120640" y="2103120"/>
            <a:ext cx="3840480" cy="1005840"/>
            <a:chOff x="0" y="0"/>
            <a:chExt cx="5120640" cy="1341120"/>
          </a:xfrm>
        </p:grpSpPr>
        <p:sp>
          <p:nvSpPr>
            <p:cNvPr name="Freeform 53" id="53"/>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54" id="54"/>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92%</a:t>
              </a:r>
            </a:p>
          </p:txBody>
        </p:sp>
      </p:grpSp>
      <p:grpSp>
        <p:nvGrpSpPr>
          <p:cNvPr name="Group 55" id="55"/>
          <p:cNvGrpSpPr/>
          <p:nvPr/>
        </p:nvGrpSpPr>
        <p:grpSpPr>
          <a:xfrm rot="0">
            <a:off x="5120640" y="3108960"/>
            <a:ext cx="3840480" cy="548640"/>
            <a:chOff x="0" y="0"/>
            <a:chExt cx="5120640" cy="731520"/>
          </a:xfrm>
        </p:grpSpPr>
        <p:sp>
          <p:nvSpPr>
            <p:cNvPr name="Freeform 56" id="56"/>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57" id="57"/>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Rated platform important (5/5)</a:t>
              </a:r>
            </a:p>
          </p:txBody>
        </p:sp>
      </p:grpSp>
      <p:grpSp>
        <p:nvGrpSpPr>
          <p:cNvPr name="Group 58" id="58"/>
          <p:cNvGrpSpPr/>
          <p:nvPr/>
        </p:nvGrpSpPr>
        <p:grpSpPr>
          <a:xfrm rot="0">
            <a:off x="9229087" y="2005327"/>
            <a:ext cx="3853177" cy="1841497"/>
            <a:chOff x="0" y="0"/>
            <a:chExt cx="5137569" cy="2455329"/>
          </a:xfrm>
        </p:grpSpPr>
        <p:sp>
          <p:nvSpPr>
            <p:cNvPr name="Freeform 59" id="59"/>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60" id="60"/>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61" id="61"/>
          <p:cNvGrpSpPr/>
          <p:nvPr/>
        </p:nvGrpSpPr>
        <p:grpSpPr>
          <a:xfrm rot="0">
            <a:off x="9235440" y="2103120"/>
            <a:ext cx="3840480" cy="1005840"/>
            <a:chOff x="0" y="0"/>
            <a:chExt cx="5120640" cy="1341120"/>
          </a:xfrm>
        </p:grpSpPr>
        <p:sp>
          <p:nvSpPr>
            <p:cNvPr name="Freeform 62" id="62"/>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63" id="63"/>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100%</a:t>
              </a:r>
            </a:p>
          </p:txBody>
        </p:sp>
      </p:grpSp>
      <p:grpSp>
        <p:nvGrpSpPr>
          <p:cNvPr name="Group 64" id="64"/>
          <p:cNvGrpSpPr/>
          <p:nvPr/>
        </p:nvGrpSpPr>
        <p:grpSpPr>
          <a:xfrm rot="0">
            <a:off x="9235440" y="3108960"/>
            <a:ext cx="3840480" cy="548640"/>
            <a:chOff x="0" y="0"/>
            <a:chExt cx="5120640" cy="731520"/>
          </a:xfrm>
        </p:grpSpPr>
        <p:sp>
          <p:nvSpPr>
            <p:cNvPr name="Freeform 65" id="65"/>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66" id="66"/>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Aged 18–24 years</a:t>
              </a:r>
            </a:p>
          </p:txBody>
        </p:sp>
      </p:grpSp>
      <p:grpSp>
        <p:nvGrpSpPr>
          <p:cNvPr name="Group 67" id="67"/>
          <p:cNvGrpSpPr/>
          <p:nvPr/>
        </p:nvGrpSpPr>
        <p:grpSpPr>
          <a:xfrm rot="0">
            <a:off x="13343887" y="2005327"/>
            <a:ext cx="3853177" cy="1841497"/>
            <a:chOff x="0" y="0"/>
            <a:chExt cx="5137569" cy="2455329"/>
          </a:xfrm>
        </p:grpSpPr>
        <p:sp>
          <p:nvSpPr>
            <p:cNvPr name="Freeform 68" id="68"/>
            <p:cNvSpPr/>
            <p:nvPr/>
          </p:nvSpPr>
          <p:spPr>
            <a:xfrm flipH="false" flipV="false" rot="0">
              <a:off x="8509" y="8509"/>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E8F5EE"/>
            </a:solidFill>
          </p:spPr>
        </p:sp>
        <p:sp>
          <p:nvSpPr>
            <p:cNvPr name="Freeform 69" id="69"/>
            <p:cNvSpPr/>
            <p:nvPr/>
          </p:nvSpPr>
          <p:spPr>
            <a:xfrm flipH="false" flipV="false" rot="0">
              <a:off x="0" y="0"/>
              <a:ext cx="5137658" cy="2455418"/>
            </a:xfrm>
            <a:custGeom>
              <a:avLst/>
              <a:gdLst/>
              <a:ahLst/>
              <a:cxnLst/>
              <a:rect r="r" b="b" t="t" l="l"/>
              <a:pathLst>
                <a:path h="2455418" w="5137658">
                  <a:moveTo>
                    <a:pt x="8509" y="0"/>
                  </a:moveTo>
                  <a:lnTo>
                    <a:pt x="5129149" y="0"/>
                  </a:lnTo>
                  <a:cubicBezTo>
                    <a:pt x="5133848" y="0"/>
                    <a:pt x="5137658" y="3810"/>
                    <a:pt x="5137658" y="8509"/>
                  </a:cubicBezTo>
                  <a:lnTo>
                    <a:pt x="5137658" y="2446909"/>
                  </a:lnTo>
                  <a:cubicBezTo>
                    <a:pt x="5137658" y="2451608"/>
                    <a:pt x="5133848" y="2455418"/>
                    <a:pt x="512914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5129149" y="2438400"/>
                  </a:lnTo>
                  <a:lnTo>
                    <a:pt x="5129149" y="2446909"/>
                  </a:lnTo>
                  <a:lnTo>
                    <a:pt x="5120640" y="2446909"/>
                  </a:lnTo>
                  <a:lnTo>
                    <a:pt x="5120640" y="8509"/>
                  </a:lnTo>
                  <a:lnTo>
                    <a:pt x="5129149" y="8509"/>
                  </a:lnTo>
                  <a:lnTo>
                    <a:pt x="5129149" y="17018"/>
                  </a:lnTo>
                  <a:lnTo>
                    <a:pt x="8509" y="17018"/>
                  </a:lnTo>
                  <a:close/>
                </a:path>
              </a:pathLst>
            </a:custGeom>
            <a:solidFill>
              <a:srgbClr val="1B6B3A"/>
            </a:solidFill>
          </p:spPr>
        </p:sp>
      </p:grpSp>
      <p:grpSp>
        <p:nvGrpSpPr>
          <p:cNvPr name="Group 70" id="70"/>
          <p:cNvGrpSpPr/>
          <p:nvPr/>
        </p:nvGrpSpPr>
        <p:grpSpPr>
          <a:xfrm rot="0">
            <a:off x="13350240" y="2103120"/>
            <a:ext cx="3840480" cy="1005840"/>
            <a:chOff x="0" y="0"/>
            <a:chExt cx="5120640" cy="1341120"/>
          </a:xfrm>
        </p:grpSpPr>
        <p:sp>
          <p:nvSpPr>
            <p:cNvPr name="Freeform 71" id="71"/>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72" id="72"/>
            <p:cNvSpPr txBox="true"/>
            <p:nvPr/>
          </p:nvSpPr>
          <p:spPr>
            <a:xfrm>
              <a:off x="0" y="-19050"/>
              <a:ext cx="5120640" cy="1360170"/>
            </a:xfrm>
            <a:prstGeom prst="rect">
              <a:avLst/>
            </a:prstGeom>
          </p:spPr>
          <p:txBody>
            <a:bodyPr anchor="ctr" rtlCol="false" tIns="0" lIns="0" bIns="0" rIns="0"/>
            <a:lstStyle/>
            <a:p>
              <a:pPr algn="ctr">
                <a:lnSpc>
                  <a:spcPts val="5280"/>
                </a:lnSpc>
              </a:pPr>
              <a:r>
                <a:rPr lang="en-US" sz="4400" b="true">
                  <a:solidFill>
                    <a:srgbClr val="1B6B3A"/>
                  </a:solidFill>
                  <a:latin typeface="Arial Bold"/>
                  <a:ea typeface="Arial Bold"/>
                  <a:cs typeface="Arial Bold"/>
                  <a:sym typeface="Arial Bold"/>
                </a:rPr>
                <a:t>4.5/5</a:t>
              </a:r>
            </a:p>
          </p:txBody>
        </p:sp>
      </p:grpSp>
      <p:grpSp>
        <p:nvGrpSpPr>
          <p:cNvPr name="Group 73" id="73"/>
          <p:cNvGrpSpPr/>
          <p:nvPr/>
        </p:nvGrpSpPr>
        <p:grpSpPr>
          <a:xfrm rot="0">
            <a:off x="13350240" y="3108960"/>
            <a:ext cx="3840480" cy="548640"/>
            <a:chOff x="0" y="0"/>
            <a:chExt cx="5120640" cy="731520"/>
          </a:xfrm>
        </p:grpSpPr>
        <p:sp>
          <p:nvSpPr>
            <p:cNvPr name="Freeform 74" id="74"/>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75" id="75"/>
            <p:cNvSpPr txBox="true"/>
            <p:nvPr/>
          </p:nvSpPr>
          <p:spPr>
            <a:xfrm>
              <a:off x="0" y="-47625"/>
              <a:ext cx="5120640" cy="779145"/>
            </a:xfrm>
            <a:prstGeom prst="rect">
              <a:avLst/>
            </a:prstGeom>
          </p:spPr>
          <p:txBody>
            <a:bodyPr anchor="ctr" rtlCol="false" tIns="0" lIns="0" bIns="0" rIns="0"/>
            <a:lstStyle/>
            <a:p>
              <a:pPr algn="ctr">
                <a:lnSpc>
                  <a:spcPts val="2640"/>
                </a:lnSpc>
              </a:pPr>
              <a:r>
                <a:rPr lang="en-US" sz="2200">
                  <a:solidFill>
                    <a:srgbClr val="666666"/>
                  </a:solidFill>
                  <a:latin typeface="Calibri (MS)"/>
                  <a:ea typeface="Calibri (MS)"/>
                  <a:cs typeface="Calibri (MS)"/>
                  <a:sym typeface="Calibri (MS)"/>
                </a:rPr>
                <a:t>Avg overall rating</a:t>
              </a:r>
            </a:p>
          </p:txBody>
        </p:sp>
      </p:grpSp>
      <p:grpSp>
        <p:nvGrpSpPr>
          <p:cNvPr name="Group 76" id="76"/>
          <p:cNvGrpSpPr/>
          <p:nvPr/>
        </p:nvGrpSpPr>
        <p:grpSpPr>
          <a:xfrm rot="0">
            <a:off x="1188720" y="4206240"/>
            <a:ext cx="5486400" cy="640080"/>
            <a:chOff x="0" y="0"/>
            <a:chExt cx="7315200" cy="853440"/>
          </a:xfrm>
        </p:grpSpPr>
        <p:sp>
          <p:nvSpPr>
            <p:cNvPr name="Freeform 77" id="77"/>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78" id="78"/>
            <p:cNvSpPr txBox="true"/>
            <p:nvPr/>
          </p:nvSpPr>
          <p:spPr>
            <a:xfrm>
              <a:off x="0" y="-57150"/>
              <a:ext cx="7315200" cy="910590"/>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Key Findings:</a:t>
              </a:r>
            </a:p>
          </p:txBody>
        </p:sp>
      </p:grpSp>
      <p:grpSp>
        <p:nvGrpSpPr>
          <p:cNvPr name="Group 79" id="79"/>
          <p:cNvGrpSpPr/>
          <p:nvPr/>
        </p:nvGrpSpPr>
        <p:grpSpPr>
          <a:xfrm rot="0">
            <a:off x="1188720" y="4937760"/>
            <a:ext cx="15910560" cy="3657600"/>
            <a:chOff x="0" y="0"/>
            <a:chExt cx="21214080" cy="4876800"/>
          </a:xfrm>
        </p:grpSpPr>
        <p:sp>
          <p:nvSpPr>
            <p:cNvPr name="Freeform 80" id="80"/>
            <p:cNvSpPr/>
            <p:nvPr/>
          </p:nvSpPr>
          <p:spPr>
            <a:xfrm flipH="false" flipV="false" rot="0">
              <a:off x="0" y="0"/>
              <a:ext cx="21214080" cy="4876800"/>
            </a:xfrm>
            <a:custGeom>
              <a:avLst/>
              <a:gdLst/>
              <a:ahLst/>
              <a:cxnLst/>
              <a:rect r="r" b="b" t="t" l="l"/>
              <a:pathLst>
                <a:path h="4876800" w="21214080">
                  <a:moveTo>
                    <a:pt x="0" y="0"/>
                  </a:moveTo>
                  <a:lnTo>
                    <a:pt x="21214080" y="0"/>
                  </a:lnTo>
                  <a:lnTo>
                    <a:pt x="21214080" y="4876800"/>
                  </a:lnTo>
                  <a:lnTo>
                    <a:pt x="0" y="4876800"/>
                  </a:lnTo>
                  <a:close/>
                </a:path>
              </a:pathLst>
            </a:custGeom>
            <a:blipFill>
              <a:blip r:embed="rId3">
                <a:alphaModFix amt="0"/>
              </a:blip>
              <a:stretch>
                <a:fillRect l="0" t="-34759" r="0" b="-34759"/>
              </a:stretch>
            </a:blipFill>
          </p:spPr>
        </p:sp>
        <p:sp>
          <p:nvSpPr>
            <p:cNvPr name="TextBox 81" id="81"/>
            <p:cNvSpPr txBox="true"/>
            <p:nvPr/>
          </p:nvSpPr>
          <p:spPr>
            <a:xfrm>
              <a:off x="0" y="-38100"/>
              <a:ext cx="21214080" cy="4914900"/>
            </a:xfrm>
            <a:prstGeom prst="rect">
              <a:avLst/>
            </a:prstGeom>
          </p:spPr>
          <p:txBody>
            <a:bodyPr anchor="ctr" rtlCol="false" tIns="0" lIns="0" bIns="0" rIns="0"/>
            <a:lstStyle/>
            <a:p>
              <a:pPr algn="just" marL="579120" indent="-289560" lvl="1">
                <a:lnSpc>
                  <a:spcPts val="2879"/>
                </a:lnSpc>
                <a:buFont typeface="Arial"/>
                <a:buChar char="•"/>
              </a:pPr>
              <a:r>
                <a:rPr lang="en-US" sz="2400">
                  <a:solidFill>
                    <a:srgbClr val="1A1A1A"/>
                  </a:solidFill>
                  <a:latin typeface="Calibri (MS)"/>
                  <a:ea typeface="Calibri (MS)"/>
                  <a:cs typeface="Calibri (MS)"/>
                  <a:sym typeface="Calibri (MS)"/>
                </a:rPr>
                <a:t>71% of respondents have a basic idea of carbon credits — platform fills an education gap</a:t>
              </a:r>
            </a:p>
            <a:p>
              <a:pPr algn="just" marL="579120" indent="-289560" lvl="1">
                <a:lnSpc>
                  <a:spcPts val="2879"/>
                </a:lnSpc>
                <a:buFont typeface="Arial"/>
                <a:buChar char="•"/>
              </a:pPr>
              <a:r>
                <a:rPr lang="en-US" sz="2400">
                  <a:solidFill>
                    <a:srgbClr val="1A1A1A"/>
                  </a:solidFill>
                  <a:latin typeface="Calibri (MS)"/>
                  <a:ea typeface="Calibri (MS)"/>
                  <a:cs typeface="Calibri (MS)"/>
                  <a:sym typeface="Calibri (MS)"/>
                </a:rPr>
                <a:t>Top feature requested: Verified project listings with credibility scores (selected by all)</a:t>
              </a:r>
            </a:p>
            <a:p>
              <a:pPr algn="just" marL="579120" indent="-289560" lvl="1">
                <a:lnSpc>
                  <a:spcPts val="2879"/>
                </a:lnSpc>
                <a:buFont typeface="Arial"/>
                <a:buChar char="•"/>
              </a:pPr>
              <a:r>
                <a:rPr lang="en-US" sz="2400">
                  <a:solidFill>
                    <a:srgbClr val="1A1A1A"/>
                  </a:solidFill>
                  <a:latin typeface="Calibri (MS)"/>
                  <a:ea typeface="Calibri (MS)"/>
                  <a:cs typeface="Calibri (MS)"/>
                  <a:sym typeface="Calibri (MS)"/>
                </a:rPr>
                <a:t>Most preferred trading flow: Browse → Select → Confirm → Ledger updates (10/17 votes)</a:t>
              </a:r>
            </a:p>
            <a:p>
              <a:pPr algn="just" marL="579120" indent="-289560" lvl="1">
                <a:lnSpc>
                  <a:spcPts val="2879"/>
                </a:lnSpc>
                <a:buFont typeface="Arial"/>
                <a:buChar char="•"/>
              </a:pPr>
              <a:r>
                <a:rPr lang="en-US" sz="2400">
                  <a:solidFill>
                    <a:srgbClr val="1A1A1A"/>
                  </a:solidFill>
                  <a:latin typeface="Calibri (MS)"/>
                  <a:ea typeface="Calibri (MS)"/>
                  <a:cs typeface="Calibri (MS)"/>
                  <a:sym typeface="Calibri (MS)"/>
                </a:rPr>
                <a:t>Top improvement suggestion: Real-time carbon impact dashboard (60%+ respondents)</a:t>
              </a:r>
            </a:p>
            <a:p>
              <a:pPr algn="just" marL="579120" indent="-289560" lvl="1">
                <a:lnSpc>
                  <a:spcPts val="2879"/>
                </a:lnSpc>
                <a:buFont typeface="Arial"/>
                <a:buChar char="•"/>
              </a:pPr>
              <a:r>
                <a:rPr lang="en-US" sz="2400">
                  <a:solidFill>
                    <a:srgbClr val="1A1A1A"/>
                  </a:solidFill>
                  <a:latin typeface="Calibri (MS)"/>
                  <a:ea typeface="Calibri (MS)"/>
                  <a:cs typeface="Calibri (MS)"/>
                  <a:sym typeface="Calibri (MS)"/>
                </a:rPr>
                <a:t>Blockchain ledger preferred by 8/17 · Relational database by 5/17 respondents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14963" y="326141"/>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085054" y="351539"/>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9894322"/>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10453" y="9945119"/>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0"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492977"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Stakeholder List</a:t>
              </a:r>
            </a:p>
          </p:txBody>
        </p:sp>
      </p:grpSp>
      <p:grpSp>
        <p:nvGrpSpPr>
          <p:cNvPr name="Group 37" id="37"/>
          <p:cNvGrpSpPr/>
          <p:nvPr/>
        </p:nvGrpSpPr>
        <p:grpSpPr>
          <a:xfrm rot="0">
            <a:off x="1188720" y="1499616"/>
            <a:ext cx="15910560" cy="640080"/>
            <a:chOff x="0" y="0"/>
            <a:chExt cx="21214080" cy="853440"/>
          </a:xfrm>
        </p:grpSpPr>
        <p:sp>
          <p:nvSpPr>
            <p:cNvPr name="Freeform 38" id="38"/>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39" id="39"/>
            <p:cNvSpPr txBox="true"/>
            <p:nvPr/>
          </p:nvSpPr>
          <p:spPr>
            <a:xfrm>
              <a:off x="0" y="-38100"/>
              <a:ext cx="21214080" cy="891540"/>
            </a:xfrm>
            <a:prstGeom prst="rect">
              <a:avLst/>
            </a:prstGeom>
          </p:spPr>
          <p:txBody>
            <a:bodyPr anchor="ctr" rtlCol="false" tIns="0" lIns="0" bIns="0" rIns="0"/>
            <a:lstStyle/>
            <a:p>
              <a:pPr algn="ctr">
                <a:lnSpc>
                  <a:spcPts val="2879"/>
                </a:lnSpc>
              </a:pPr>
              <a:r>
                <a:rPr lang="en-US" sz="2400">
                  <a:solidFill>
                    <a:srgbClr val="666666"/>
                  </a:solidFill>
                  <a:latin typeface="Calibri (MS)"/>
                  <a:ea typeface="Calibri (MS)"/>
                  <a:cs typeface="Calibri (MS)"/>
                  <a:sym typeface="Calibri (MS)"/>
                </a:rPr>
                <a:t>17 respondents who participated voluntarily · Survey conducted 15 March 2026</a:t>
              </a:r>
            </a:p>
          </p:txBody>
        </p:sp>
      </p:grpSp>
      <p:grpSp>
        <p:nvGrpSpPr>
          <p:cNvPr name="Group 40" id="40"/>
          <p:cNvGrpSpPr/>
          <p:nvPr/>
        </p:nvGrpSpPr>
        <p:grpSpPr>
          <a:xfrm rot="0">
            <a:off x="999487" y="2096767"/>
            <a:ext cx="5316217" cy="890521"/>
            <a:chOff x="0" y="0"/>
            <a:chExt cx="7088289" cy="1187361"/>
          </a:xfrm>
        </p:grpSpPr>
        <p:sp>
          <p:nvSpPr>
            <p:cNvPr name="Freeform 41" id="41"/>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42" id="42"/>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43" id="43"/>
          <p:cNvGrpSpPr/>
          <p:nvPr/>
        </p:nvGrpSpPr>
        <p:grpSpPr>
          <a:xfrm rot="0">
            <a:off x="1176023" y="2200151"/>
            <a:ext cx="537467" cy="537467"/>
            <a:chOff x="0" y="0"/>
            <a:chExt cx="716623" cy="716623"/>
          </a:xfrm>
        </p:grpSpPr>
        <p:sp>
          <p:nvSpPr>
            <p:cNvPr name="Freeform 44" id="44"/>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45" id="45"/>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46" id="46"/>
          <p:cNvGrpSpPr/>
          <p:nvPr/>
        </p:nvGrpSpPr>
        <p:grpSpPr>
          <a:xfrm rot="0">
            <a:off x="1828800" y="2139696"/>
            <a:ext cx="4389120" cy="402336"/>
            <a:chOff x="0" y="0"/>
            <a:chExt cx="5852160" cy="536448"/>
          </a:xfrm>
        </p:grpSpPr>
        <p:sp>
          <p:nvSpPr>
            <p:cNvPr name="Freeform 47" id="47"/>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48" id="48"/>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Abhishek</a:t>
              </a:r>
            </a:p>
          </p:txBody>
        </p:sp>
      </p:grpSp>
      <p:grpSp>
        <p:nvGrpSpPr>
          <p:cNvPr name="Group 49" id="49"/>
          <p:cNvGrpSpPr/>
          <p:nvPr/>
        </p:nvGrpSpPr>
        <p:grpSpPr>
          <a:xfrm rot="0">
            <a:off x="1828800" y="2505456"/>
            <a:ext cx="4389120" cy="365760"/>
            <a:chOff x="0" y="0"/>
            <a:chExt cx="5852160" cy="487680"/>
          </a:xfrm>
        </p:grpSpPr>
        <p:sp>
          <p:nvSpPr>
            <p:cNvPr name="Freeform 50" id="50"/>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51" id="51"/>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BA - Political Science</a:t>
              </a:r>
            </a:p>
          </p:txBody>
        </p:sp>
      </p:grpSp>
      <p:grpSp>
        <p:nvGrpSpPr>
          <p:cNvPr name="Group 52" id="52"/>
          <p:cNvGrpSpPr/>
          <p:nvPr/>
        </p:nvGrpSpPr>
        <p:grpSpPr>
          <a:xfrm rot="0">
            <a:off x="6705343" y="2096767"/>
            <a:ext cx="5316217" cy="890521"/>
            <a:chOff x="0" y="0"/>
            <a:chExt cx="7088289" cy="1187361"/>
          </a:xfrm>
        </p:grpSpPr>
        <p:sp>
          <p:nvSpPr>
            <p:cNvPr name="Freeform 53" id="53"/>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54" id="54"/>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55" id="55"/>
          <p:cNvGrpSpPr/>
          <p:nvPr/>
        </p:nvGrpSpPr>
        <p:grpSpPr>
          <a:xfrm rot="0">
            <a:off x="6881879" y="2200151"/>
            <a:ext cx="537467" cy="537467"/>
            <a:chOff x="0" y="0"/>
            <a:chExt cx="716623" cy="716623"/>
          </a:xfrm>
        </p:grpSpPr>
        <p:sp>
          <p:nvSpPr>
            <p:cNvPr name="Freeform 56" id="56"/>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57" id="57"/>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58" id="58"/>
          <p:cNvGrpSpPr/>
          <p:nvPr/>
        </p:nvGrpSpPr>
        <p:grpSpPr>
          <a:xfrm rot="0">
            <a:off x="7534656" y="2139696"/>
            <a:ext cx="4389120" cy="402336"/>
            <a:chOff x="0" y="0"/>
            <a:chExt cx="5852160" cy="536448"/>
          </a:xfrm>
        </p:grpSpPr>
        <p:sp>
          <p:nvSpPr>
            <p:cNvPr name="Freeform 59" id="59"/>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60" id="60"/>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Tejas</a:t>
              </a:r>
            </a:p>
          </p:txBody>
        </p:sp>
      </p:grpSp>
      <p:grpSp>
        <p:nvGrpSpPr>
          <p:cNvPr name="Group 61" id="61"/>
          <p:cNvGrpSpPr/>
          <p:nvPr/>
        </p:nvGrpSpPr>
        <p:grpSpPr>
          <a:xfrm rot="0">
            <a:off x="7534656" y="2505456"/>
            <a:ext cx="4389120" cy="365760"/>
            <a:chOff x="0" y="0"/>
            <a:chExt cx="5852160" cy="487680"/>
          </a:xfrm>
        </p:grpSpPr>
        <p:sp>
          <p:nvSpPr>
            <p:cNvPr name="Freeform 62" id="62"/>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63" id="63"/>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64" id="64"/>
          <p:cNvGrpSpPr/>
          <p:nvPr/>
        </p:nvGrpSpPr>
        <p:grpSpPr>
          <a:xfrm rot="0">
            <a:off x="12411199" y="2096767"/>
            <a:ext cx="5316217" cy="890521"/>
            <a:chOff x="0" y="0"/>
            <a:chExt cx="7088289" cy="1187361"/>
          </a:xfrm>
        </p:grpSpPr>
        <p:sp>
          <p:nvSpPr>
            <p:cNvPr name="Freeform 65" id="65"/>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66" id="66"/>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67" id="67"/>
          <p:cNvGrpSpPr/>
          <p:nvPr/>
        </p:nvGrpSpPr>
        <p:grpSpPr>
          <a:xfrm rot="0">
            <a:off x="12587735" y="2200151"/>
            <a:ext cx="537467" cy="537467"/>
            <a:chOff x="0" y="0"/>
            <a:chExt cx="716623" cy="716623"/>
          </a:xfrm>
        </p:grpSpPr>
        <p:sp>
          <p:nvSpPr>
            <p:cNvPr name="Freeform 68" id="68"/>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69" id="69"/>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70" id="70"/>
          <p:cNvGrpSpPr/>
          <p:nvPr/>
        </p:nvGrpSpPr>
        <p:grpSpPr>
          <a:xfrm rot="0">
            <a:off x="13240512" y="2139696"/>
            <a:ext cx="4389120" cy="402336"/>
            <a:chOff x="0" y="0"/>
            <a:chExt cx="5852160" cy="536448"/>
          </a:xfrm>
        </p:grpSpPr>
        <p:sp>
          <p:nvSpPr>
            <p:cNvPr name="Freeform 71" id="71"/>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72" id="72"/>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Rajnandini</a:t>
              </a:r>
            </a:p>
          </p:txBody>
        </p:sp>
      </p:grpSp>
      <p:grpSp>
        <p:nvGrpSpPr>
          <p:cNvPr name="Group 73" id="73"/>
          <p:cNvGrpSpPr/>
          <p:nvPr/>
        </p:nvGrpSpPr>
        <p:grpSpPr>
          <a:xfrm rot="0">
            <a:off x="13240512" y="2505456"/>
            <a:ext cx="4389120" cy="365760"/>
            <a:chOff x="0" y="0"/>
            <a:chExt cx="5852160" cy="487680"/>
          </a:xfrm>
        </p:grpSpPr>
        <p:sp>
          <p:nvSpPr>
            <p:cNvPr name="Freeform 74" id="74"/>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75" id="75"/>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76" id="76"/>
          <p:cNvGrpSpPr/>
          <p:nvPr/>
        </p:nvGrpSpPr>
        <p:grpSpPr>
          <a:xfrm rot="0">
            <a:off x="999487" y="3194047"/>
            <a:ext cx="5316217" cy="890521"/>
            <a:chOff x="0" y="0"/>
            <a:chExt cx="7088289" cy="1187361"/>
          </a:xfrm>
        </p:grpSpPr>
        <p:sp>
          <p:nvSpPr>
            <p:cNvPr name="Freeform 77" id="77"/>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78" id="78"/>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79" id="79"/>
          <p:cNvGrpSpPr/>
          <p:nvPr/>
        </p:nvGrpSpPr>
        <p:grpSpPr>
          <a:xfrm rot="0">
            <a:off x="1176023" y="3297431"/>
            <a:ext cx="537467" cy="537467"/>
            <a:chOff x="0" y="0"/>
            <a:chExt cx="716623" cy="716623"/>
          </a:xfrm>
        </p:grpSpPr>
        <p:sp>
          <p:nvSpPr>
            <p:cNvPr name="Freeform 80" id="80"/>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81" id="81"/>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82" id="82"/>
          <p:cNvGrpSpPr/>
          <p:nvPr/>
        </p:nvGrpSpPr>
        <p:grpSpPr>
          <a:xfrm rot="0">
            <a:off x="1828800" y="3236976"/>
            <a:ext cx="4389120" cy="402336"/>
            <a:chOff x="0" y="0"/>
            <a:chExt cx="5852160" cy="536448"/>
          </a:xfrm>
        </p:grpSpPr>
        <p:sp>
          <p:nvSpPr>
            <p:cNvPr name="Freeform 83" id="83"/>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84" id="84"/>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Abhithsa</a:t>
              </a:r>
            </a:p>
          </p:txBody>
        </p:sp>
      </p:grpSp>
      <p:grpSp>
        <p:nvGrpSpPr>
          <p:cNvPr name="Group 85" id="85"/>
          <p:cNvGrpSpPr/>
          <p:nvPr/>
        </p:nvGrpSpPr>
        <p:grpSpPr>
          <a:xfrm rot="0">
            <a:off x="1828800" y="3602736"/>
            <a:ext cx="4389120" cy="365760"/>
            <a:chOff x="0" y="0"/>
            <a:chExt cx="5852160" cy="487680"/>
          </a:xfrm>
        </p:grpSpPr>
        <p:sp>
          <p:nvSpPr>
            <p:cNvPr name="Freeform 86" id="86"/>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87" id="87"/>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88" id="88"/>
          <p:cNvGrpSpPr/>
          <p:nvPr/>
        </p:nvGrpSpPr>
        <p:grpSpPr>
          <a:xfrm rot="0">
            <a:off x="6705343" y="3194047"/>
            <a:ext cx="5316217" cy="890521"/>
            <a:chOff x="0" y="0"/>
            <a:chExt cx="7088289" cy="1187361"/>
          </a:xfrm>
        </p:grpSpPr>
        <p:sp>
          <p:nvSpPr>
            <p:cNvPr name="Freeform 89" id="89"/>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90" id="90"/>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91" id="91"/>
          <p:cNvGrpSpPr/>
          <p:nvPr/>
        </p:nvGrpSpPr>
        <p:grpSpPr>
          <a:xfrm rot="0">
            <a:off x="6881879" y="3297431"/>
            <a:ext cx="537467" cy="537467"/>
            <a:chOff x="0" y="0"/>
            <a:chExt cx="716623" cy="716623"/>
          </a:xfrm>
        </p:grpSpPr>
        <p:sp>
          <p:nvSpPr>
            <p:cNvPr name="Freeform 92" id="92"/>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93" id="93"/>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94" id="94"/>
          <p:cNvGrpSpPr/>
          <p:nvPr/>
        </p:nvGrpSpPr>
        <p:grpSpPr>
          <a:xfrm rot="0">
            <a:off x="7534656" y="3236976"/>
            <a:ext cx="4389120" cy="402336"/>
            <a:chOff x="0" y="0"/>
            <a:chExt cx="5852160" cy="536448"/>
          </a:xfrm>
        </p:grpSpPr>
        <p:sp>
          <p:nvSpPr>
            <p:cNvPr name="Freeform 95" id="95"/>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96" id="96"/>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Dakshraj</a:t>
              </a:r>
            </a:p>
          </p:txBody>
        </p:sp>
      </p:grpSp>
      <p:grpSp>
        <p:nvGrpSpPr>
          <p:cNvPr name="Group 97" id="97"/>
          <p:cNvGrpSpPr/>
          <p:nvPr/>
        </p:nvGrpSpPr>
        <p:grpSpPr>
          <a:xfrm rot="0">
            <a:off x="7534656" y="3602736"/>
            <a:ext cx="4389120" cy="365760"/>
            <a:chOff x="0" y="0"/>
            <a:chExt cx="5852160" cy="487680"/>
          </a:xfrm>
        </p:grpSpPr>
        <p:sp>
          <p:nvSpPr>
            <p:cNvPr name="Freeform 98" id="98"/>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99" id="99"/>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BCA</a:t>
              </a:r>
            </a:p>
          </p:txBody>
        </p:sp>
      </p:grpSp>
      <p:grpSp>
        <p:nvGrpSpPr>
          <p:cNvPr name="Group 100" id="100"/>
          <p:cNvGrpSpPr/>
          <p:nvPr/>
        </p:nvGrpSpPr>
        <p:grpSpPr>
          <a:xfrm rot="0">
            <a:off x="12411199" y="3194047"/>
            <a:ext cx="5316217" cy="890521"/>
            <a:chOff x="0" y="0"/>
            <a:chExt cx="7088289" cy="1187361"/>
          </a:xfrm>
        </p:grpSpPr>
        <p:sp>
          <p:nvSpPr>
            <p:cNvPr name="Freeform 101" id="101"/>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02" id="102"/>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03" id="103"/>
          <p:cNvGrpSpPr/>
          <p:nvPr/>
        </p:nvGrpSpPr>
        <p:grpSpPr>
          <a:xfrm rot="0">
            <a:off x="12587735" y="3297431"/>
            <a:ext cx="537467" cy="537467"/>
            <a:chOff x="0" y="0"/>
            <a:chExt cx="716623" cy="716623"/>
          </a:xfrm>
        </p:grpSpPr>
        <p:sp>
          <p:nvSpPr>
            <p:cNvPr name="Freeform 104" id="104"/>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05" id="105"/>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06" id="106"/>
          <p:cNvGrpSpPr/>
          <p:nvPr/>
        </p:nvGrpSpPr>
        <p:grpSpPr>
          <a:xfrm rot="0">
            <a:off x="13240512" y="3236976"/>
            <a:ext cx="4389120" cy="402336"/>
            <a:chOff x="0" y="0"/>
            <a:chExt cx="5852160" cy="536448"/>
          </a:xfrm>
        </p:grpSpPr>
        <p:sp>
          <p:nvSpPr>
            <p:cNvPr name="Freeform 107" id="107"/>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08" id="108"/>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Shush</a:t>
              </a:r>
            </a:p>
          </p:txBody>
        </p:sp>
      </p:grpSp>
      <p:grpSp>
        <p:nvGrpSpPr>
          <p:cNvPr name="Group 109" id="109"/>
          <p:cNvGrpSpPr/>
          <p:nvPr/>
        </p:nvGrpSpPr>
        <p:grpSpPr>
          <a:xfrm rot="0">
            <a:off x="13240512" y="3602736"/>
            <a:ext cx="4389120" cy="365760"/>
            <a:chOff x="0" y="0"/>
            <a:chExt cx="5852160" cy="487680"/>
          </a:xfrm>
        </p:grpSpPr>
        <p:sp>
          <p:nvSpPr>
            <p:cNvPr name="Freeform 110" id="110"/>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11" id="111"/>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112" id="112"/>
          <p:cNvGrpSpPr/>
          <p:nvPr/>
        </p:nvGrpSpPr>
        <p:grpSpPr>
          <a:xfrm rot="0">
            <a:off x="999487" y="4291327"/>
            <a:ext cx="5316217" cy="890521"/>
            <a:chOff x="0" y="0"/>
            <a:chExt cx="7088289" cy="1187361"/>
          </a:xfrm>
        </p:grpSpPr>
        <p:sp>
          <p:nvSpPr>
            <p:cNvPr name="Freeform 113" id="113"/>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14" id="114"/>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15" id="115"/>
          <p:cNvGrpSpPr/>
          <p:nvPr/>
        </p:nvGrpSpPr>
        <p:grpSpPr>
          <a:xfrm rot="0">
            <a:off x="1176023" y="4394711"/>
            <a:ext cx="537467" cy="537467"/>
            <a:chOff x="0" y="0"/>
            <a:chExt cx="716623" cy="716623"/>
          </a:xfrm>
        </p:grpSpPr>
        <p:sp>
          <p:nvSpPr>
            <p:cNvPr name="Freeform 116" id="116"/>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17" id="117"/>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18" id="118"/>
          <p:cNvGrpSpPr/>
          <p:nvPr/>
        </p:nvGrpSpPr>
        <p:grpSpPr>
          <a:xfrm rot="0">
            <a:off x="1828800" y="4334256"/>
            <a:ext cx="4389120" cy="402336"/>
            <a:chOff x="0" y="0"/>
            <a:chExt cx="5852160" cy="536448"/>
          </a:xfrm>
        </p:grpSpPr>
        <p:sp>
          <p:nvSpPr>
            <p:cNvPr name="Freeform 119" id="119"/>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20" id="120"/>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Adarsh</a:t>
              </a:r>
            </a:p>
          </p:txBody>
        </p:sp>
      </p:grpSp>
      <p:grpSp>
        <p:nvGrpSpPr>
          <p:cNvPr name="Group 121" id="121"/>
          <p:cNvGrpSpPr/>
          <p:nvPr/>
        </p:nvGrpSpPr>
        <p:grpSpPr>
          <a:xfrm rot="0">
            <a:off x="1828800" y="4700016"/>
            <a:ext cx="4389120" cy="365760"/>
            <a:chOff x="0" y="0"/>
            <a:chExt cx="5852160" cy="487680"/>
          </a:xfrm>
        </p:grpSpPr>
        <p:sp>
          <p:nvSpPr>
            <p:cNvPr name="Freeform 122" id="122"/>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23" id="123"/>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BCA</a:t>
              </a:r>
            </a:p>
          </p:txBody>
        </p:sp>
      </p:grpSp>
      <p:grpSp>
        <p:nvGrpSpPr>
          <p:cNvPr name="Group 124" id="124"/>
          <p:cNvGrpSpPr/>
          <p:nvPr/>
        </p:nvGrpSpPr>
        <p:grpSpPr>
          <a:xfrm rot="0">
            <a:off x="6705343" y="4291327"/>
            <a:ext cx="5316217" cy="890521"/>
            <a:chOff x="0" y="0"/>
            <a:chExt cx="7088289" cy="1187361"/>
          </a:xfrm>
        </p:grpSpPr>
        <p:sp>
          <p:nvSpPr>
            <p:cNvPr name="Freeform 125" id="125"/>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26" id="126"/>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27" id="127"/>
          <p:cNvGrpSpPr/>
          <p:nvPr/>
        </p:nvGrpSpPr>
        <p:grpSpPr>
          <a:xfrm rot="0">
            <a:off x="6881879" y="4394711"/>
            <a:ext cx="537467" cy="537467"/>
            <a:chOff x="0" y="0"/>
            <a:chExt cx="716623" cy="716623"/>
          </a:xfrm>
        </p:grpSpPr>
        <p:sp>
          <p:nvSpPr>
            <p:cNvPr name="Freeform 128" id="128"/>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29" id="129"/>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30" id="130"/>
          <p:cNvGrpSpPr/>
          <p:nvPr/>
        </p:nvGrpSpPr>
        <p:grpSpPr>
          <a:xfrm rot="0">
            <a:off x="7534656" y="4334256"/>
            <a:ext cx="4389120" cy="402336"/>
            <a:chOff x="0" y="0"/>
            <a:chExt cx="5852160" cy="536448"/>
          </a:xfrm>
        </p:grpSpPr>
        <p:sp>
          <p:nvSpPr>
            <p:cNvPr name="Freeform 131" id="131"/>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32" id="132"/>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Nishkarsh</a:t>
              </a:r>
            </a:p>
          </p:txBody>
        </p:sp>
      </p:grpSp>
      <p:grpSp>
        <p:nvGrpSpPr>
          <p:cNvPr name="Group 133" id="133"/>
          <p:cNvGrpSpPr/>
          <p:nvPr/>
        </p:nvGrpSpPr>
        <p:grpSpPr>
          <a:xfrm rot="0">
            <a:off x="7534656" y="4700016"/>
            <a:ext cx="4389120" cy="365760"/>
            <a:chOff x="0" y="0"/>
            <a:chExt cx="5852160" cy="487680"/>
          </a:xfrm>
        </p:grpSpPr>
        <p:sp>
          <p:nvSpPr>
            <p:cNvPr name="Freeform 134" id="134"/>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35" id="135"/>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Aerospace Engineering</a:t>
              </a:r>
            </a:p>
          </p:txBody>
        </p:sp>
      </p:grpSp>
      <p:grpSp>
        <p:nvGrpSpPr>
          <p:cNvPr name="Group 136" id="136"/>
          <p:cNvGrpSpPr/>
          <p:nvPr/>
        </p:nvGrpSpPr>
        <p:grpSpPr>
          <a:xfrm rot="0">
            <a:off x="12411199" y="4291327"/>
            <a:ext cx="5316217" cy="890521"/>
            <a:chOff x="0" y="0"/>
            <a:chExt cx="7088289" cy="1187361"/>
          </a:xfrm>
        </p:grpSpPr>
        <p:sp>
          <p:nvSpPr>
            <p:cNvPr name="Freeform 137" id="137"/>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38" id="138"/>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39" id="139"/>
          <p:cNvGrpSpPr/>
          <p:nvPr/>
        </p:nvGrpSpPr>
        <p:grpSpPr>
          <a:xfrm rot="0">
            <a:off x="12587735" y="4394711"/>
            <a:ext cx="537467" cy="537467"/>
            <a:chOff x="0" y="0"/>
            <a:chExt cx="716623" cy="716623"/>
          </a:xfrm>
        </p:grpSpPr>
        <p:sp>
          <p:nvSpPr>
            <p:cNvPr name="Freeform 140" id="140"/>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41" id="141"/>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42" id="142"/>
          <p:cNvGrpSpPr/>
          <p:nvPr/>
        </p:nvGrpSpPr>
        <p:grpSpPr>
          <a:xfrm rot="0">
            <a:off x="13240512" y="4334256"/>
            <a:ext cx="4389120" cy="402336"/>
            <a:chOff x="0" y="0"/>
            <a:chExt cx="5852160" cy="536448"/>
          </a:xfrm>
        </p:grpSpPr>
        <p:sp>
          <p:nvSpPr>
            <p:cNvPr name="Freeform 143" id="143"/>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44" id="144"/>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Raghav</a:t>
              </a:r>
            </a:p>
          </p:txBody>
        </p:sp>
      </p:grpSp>
      <p:grpSp>
        <p:nvGrpSpPr>
          <p:cNvPr name="Group 145" id="145"/>
          <p:cNvGrpSpPr/>
          <p:nvPr/>
        </p:nvGrpSpPr>
        <p:grpSpPr>
          <a:xfrm rot="0">
            <a:off x="13240512" y="4700016"/>
            <a:ext cx="4389120" cy="365760"/>
            <a:chOff x="0" y="0"/>
            <a:chExt cx="5852160" cy="487680"/>
          </a:xfrm>
        </p:grpSpPr>
        <p:sp>
          <p:nvSpPr>
            <p:cNvPr name="Freeform 146" id="146"/>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47" id="147"/>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BA - LLB</a:t>
              </a:r>
            </a:p>
          </p:txBody>
        </p:sp>
      </p:grpSp>
      <p:grpSp>
        <p:nvGrpSpPr>
          <p:cNvPr name="Group 148" id="148"/>
          <p:cNvGrpSpPr/>
          <p:nvPr/>
        </p:nvGrpSpPr>
        <p:grpSpPr>
          <a:xfrm rot="0">
            <a:off x="999487" y="5388607"/>
            <a:ext cx="5316217" cy="890521"/>
            <a:chOff x="0" y="0"/>
            <a:chExt cx="7088289" cy="1187361"/>
          </a:xfrm>
        </p:grpSpPr>
        <p:sp>
          <p:nvSpPr>
            <p:cNvPr name="Freeform 149" id="149"/>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50" id="150"/>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51" id="151"/>
          <p:cNvGrpSpPr/>
          <p:nvPr/>
        </p:nvGrpSpPr>
        <p:grpSpPr>
          <a:xfrm rot="0">
            <a:off x="1176023" y="5491991"/>
            <a:ext cx="537467" cy="537467"/>
            <a:chOff x="0" y="0"/>
            <a:chExt cx="716623" cy="716623"/>
          </a:xfrm>
        </p:grpSpPr>
        <p:sp>
          <p:nvSpPr>
            <p:cNvPr name="Freeform 152" id="152"/>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53" id="153"/>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54" id="154"/>
          <p:cNvGrpSpPr/>
          <p:nvPr/>
        </p:nvGrpSpPr>
        <p:grpSpPr>
          <a:xfrm rot="0">
            <a:off x="1828800" y="5431536"/>
            <a:ext cx="4389120" cy="402336"/>
            <a:chOff x="0" y="0"/>
            <a:chExt cx="5852160" cy="536448"/>
          </a:xfrm>
        </p:grpSpPr>
        <p:sp>
          <p:nvSpPr>
            <p:cNvPr name="Freeform 155" id="155"/>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56" id="156"/>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Meet</a:t>
              </a:r>
            </a:p>
          </p:txBody>
        </p:sp>
      </p:grpSp>
      <p:grpSp>
        <p:nvGrpSpPr>
          <p:cNvPr name="Group 157" id="157"/>
          <p:cNvGrpSpPr/>
          <p:nvPr/>
        </p:nvGrpSpPr>
        <p:grpSpPr>
          <a:xfrm rot="0">
            <a:off x="1828800" y="5797296"/>
            <a:ext cx="4389120" cy="365760"/>
            <a:chOff x="0" y="0"/>
            <a:chExt cx="5852160" cy="487680"/>
          </a:xfrm>
        </p:grpSpPr>
        <p:sp>
          <p:nvSpPr>
            <p:cNvPr name="Freeform 158" id="158"/>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59" id="159"/>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160" id="160"/>
          <p:cNvGrpSpPr/>
          <p:nvPr/>
        </p:nvGrpSpPr>
        <p:grpSpPr>
          <a:xfrm rot="0">
            <a:off x="6705343" y="5388607"/>
            <a:ext cx="5316217" cy="890521"/>
            <a:chOff x="0" y="0"/>
            <a:chExt cx="7088289" cy="1187361"/>
          </a:xfrm>
        </p:grpSpPr>
        <p:sp>
          <p:nvSpPr>
            <p:cNvPr name="Freeform 161" id="161"/>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62" id="162"/>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63" id="163"/>
          <p:cNvGrpSpPr/>
          <p:nvPr/>
        </p:nvGrpSpPr>
        <p:grpSpPr>
          <a:xfrm rot="0">
            <a:off x="6881879" y="5491991"/>
            <a:ext cx="537467" cy="537467"/>
            <a:chOff x="0" y="0"/>
            <a:chExt cx="716623" cy="716623"/>
          </a:xfrm>
        </p:grpSpPr>
        <p:sp>
          <p:nvSpPr>
            <p:cNvPr name="Freeform 164" id="164"/>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65" id="165"/>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66" id="166"/>
          <p:cNvGrpSpPr/>
          <p:nvPr/>
        </p:nvGrpSpPr>
        <p:grpSpPr>
          <a:xfrm rot="0">
            <a:off x="7534656" y="5431536"/>
            <a:ext cx="4389120" cy="402336"/>
            <a:chOff x="0" y="0"/>
            <a:chExt cx="5852160" cy="536448"/>
          </a:xfrm>
        </p:grpSpPr>
        <p:sp>
          <p:nvSpPr>
            <p:cNvPr name="Freeform 167" id="167"/>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68" id="168"/>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Aastha</a:t>
              </a:r>
            </a:p>
          </p:txBody>
        </p:sp>
      </p:grpSp>
      <p:grpSp>
        <p:nvGrpSpPr>
          <p:cNvPr name="Group 169" id="169"/>
          <p:cNvGrpSpPr/>
          <p:nvPr/>
        </p:nvGrpSpPr>
        <p:grpSpPr>
          <a:xfrm rot="0">
            <a:off x="7534656" y="5797296"/>
            <a:ext cx="4389120" cy="365760"/>
            <a:chOff x="0" y="0"/>
            <a:chExt cx="5852160" cy="487680"/>
          </a:xfrm>
        </p:grpSpPr>
        <p:sp>
          <p:nvSpPr>
            <p:cNvPr name="Freeform 170" id="170"/>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71" id="171"/>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172" id="172"/>
          <p:cNvGrpSpPr/>
          <p:nvPr/>
        </p:nvGrpSpPr>
        <p:grpSpPr>
          <a:xfrm rot="0">
            <a:off x="12411199" y="5388607"/>
            <a:ext cx="5316217" cy="890521"/>
            <a:chOff x="0" y="0"/>
            <a:chExt cx="7088289" cy="1187361"/>
          </a:xfrm>
        </p:grpSpPr>
        <p:sp>
          <p:nvSpPr>
            <p:cNvPr name="Freeform 173" id="173"/>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74" id="174"/>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75" id="175"/>
          <p:cNvGrpSpPr/>
          <p:nvPr/>
        </p:nvGrpSpPr>
        <p:grpSpPr>
          <a:xfrm rot="0">
            <a:off x="12587735" y="5491991"/>
            <a:ext cx="537467" cy="537467"/>
            <a:chOff x="0" y="0"/>
            <a:chExt cx="716623" cy="716623"/>
          </a:xfrm>
        </p:grpSpPr>
        <p:sp>
          <p:nvSpPr>
            <p:cNvPr name="Freeform 176" id="176"/>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77" id="177"/>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78" id="178"/>
          <p:cNvGrpSpPr/>
          <p:nvPr/>
        </p:nvGrpSpPr>
        <p:grpSpPr>
          <a:xfrm rot="0">
            <a:off x="13240512" y="5431536"/>
            <a:ext cx="4389120" cy="402336"/>
            <a:chOff x="0" y="0"/>
            <a:chExt cx="5852160" cy="536448"/>
          </a:xfrm>
        </p:grpSpPr>
        <p:sp>
          <p:nvSpPr>
            <p:cNvPr name="Freeform 179" id="179"/>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80" id="180"/>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Rounit</a:t>
              </a:r>
            </a:p>
          </p:txBody>
        </p:sp>
      </p:grpSp>
      <p:grpSp>
        <p:nvGrpSpPr>
          <p:cNvPr name="Group 181" id="181"/>
          <p:cNvGrpSpPr/>
          <p:nvPr/>
        </p:nvGrpSpPr>
        <p:grpSpPr>
          <a:xfrm rot="0">
            <a:off x="13240512" y="5797296"/>
            <a:ext cx="4389120" cy="365760"/>
            <a:chOff x="0" y="0"/>
            <a:chExt cx="5852160" cy="487680"/>
          </a:xfrm>
        </p:grpSpPr>
        <p:sp>
          <p:nvSpPr>
            <p:cNvPr name="Freeform 182" id="182"/>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83" id="183"/>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BA - LLB</a:t>
              </a:r>
            </a:p>
          </p:txBody>
        </p:sp>
      </p:grpSp>
      <p:grpSp>
        <p:nvGrpSpPr>
          <p:cNvPr name="Group 184" id="184"/>
          <p:cNvGrpSpPr/>
          <p:nvPr/>
        </p:nvGrpSpPr>
        <p:grpSpPr>
          <a:xfrm rot="0">
            <a:off x="999487" y="6485887"/>
            <a:ext cx="5316217" cy="890521"/>
            <a:chOff x="0" y="0"/>
            <a:chExt cx="7088289" cy="1187361"/>
          </a:xfrm>
        </p:grpSpPr>
        <p:sp>
          <p:nvSpPr>
            <p:cNvPr name="Freeform 185" id="185"/>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86" id="186"/>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87" id="187"/>
          <p:cNvGrpSpPr/>
          <p:nvPr/>
        </p:nvGrpSpPr>
        <p:grpSpPr>
          <a:xfrm rot="0">
            <a:off x="1176023" y="6589271"/>
            <a:ext cx="537467" cy="537467"/>
            <a:chOff x="0" y="0"/>
            <a:chExt cx="716623" cy="716623"/>
          </a:xfrm>
        </p:grpSpPr>
        <p:sp>
          <p:nvSpPr>
            <p:cNvPr name="Freeform 188" id="188"/>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189" id="189"/>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190" id="190"/>
          <p:cNvGrpSpPr/>
          <p:nvPr/>
        </p:nvGrpSpPr>
        <p:grpSpPr>
          <a:xfrm rot="0">
            <a:off x="1828800" y="6528816"/>
            <a:ext cx="4389120" cy="402336"/>
            <a:chOff x="0" y="0"/>
            <a:chExt cx="5852160" cy="536448"/>
          </a:xfrm>
        </p:grpSpPr>
        <p:sp>
          <p:nvSpPr>
            <p:cNvPr name="Freeform 191" id="191"/>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192" id="192"/>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Prem</a:t>
              </a:r>
            </a:p>
          </p:txBody>
        </p:sp>
      </p:grpSp>
      <p:grpSp>
        <p:nvGrpSpPr>
          <p:cNvPr name="Group 193" id="193"/>
          <p:cNvGrpSpPr/>
          <p:nvPr/>
        </p:nvGrpSpPr>
        <p:grpSpPr>
          <a:xfrm rot="0">
            <a:off x="1828800" y="6894576"/>
            <a:ext cx="4389120" cy="365760"/>
            <a:chOff x="0" y="0"/>
            <a:chExt cx="5852160" cy="487680"/>
          </a:xfrm>
        </p:grpSpPr>
        <p:sp>
          <p:nvSpPr>
            <p:cNvPr name="Freeform 194" id="194"/>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195" id="195"/>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BCA</a:t>
              </a:r>
            </a:p>
          </p:txBody>
        </p:sp>
      </p:grpSp>
      <p:grpSp>
        <p:nvGrpSpPr>
          <p:cNvPr name="Group 196" id="196"/>
          <p:cNvGrpSpPr/>
          <p:nvPr/>
        </p:nvGrpSpPr>
        <p:grpSpPr>
          <a:xfrm rot="0">
            <a:off x="6705343" y="6485887"/>
            <a:ext cx="5316217" cy="890521"/>
            <a:chOff x="0" y="0"/>
            <a:chExt cx="7088289" cy="1187361"/>
          </a:xfrm>
        </p:grpSpPr>
        <p:sp>
          <p:nvSpPr>
            <p:cNvPr name="Freeform 197" id="197"/>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198" id="198"/>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199" id="199"/>
          <p:cNvGrpSpPr/>
          <p:nvPr/>
        </p:nvGrpSpPr>
        <p:grpSpPr>
          <a:xfrm rot="0">
            <a:off x="6881879" y="6589271"/>
            <a:ext cx="537467" cy="537467"/>
            <a:chOff x="0" y="0"/>
            <a:chExt cx="716623" cy="716623"/>
          </a:xfrm>
        </p:grpSpPr>
        <p:sp>
          <p:nvSpPr>
            <p:cNvPr name="Freeform 200" id="200"/>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201" id="201"/>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202" id="202"/>
          <p:cNvGrpSpPr/>
          <p:nvPr/>
        </p:nvGrpSpPr>
        <p:grpSpPr>
          <a:xfrm rot="0">
            <a:off x="7534656" y="6528816"/>
            <a:ext cx="4389120" cy="402336"/>
            <a:chOff x="0" y="0"/>
            <a:chExt cx="5852160" cy="536448"/>
          </a:xfrm>
        </p:grpSpPr>
        <p:sp>
          <p:nvSpPr>
            <p:cNvPr name="Freeform 203" id="203"/>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204" id="204"/>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Mahir</a:t>
              </a:r>
            </a:p>
          </p:txBody>
        </p:sp>
      </p:grpSp>
      <p:grpSp>
        <p:nvGrpSpPr>
          <p:cNvPr name="Group 205" id="205"/>
          <p:cNvGrpSpPr/>
          <p:nvPr/>
        </p:nvGrpSpPr>
        <p:grpSpPr>
          <a:xfrm rot="0">
            <a:off x="7534656" y="6894576"/>
            <a:ext cx="4389120" cy="365760"/>
            <a:chOff x="0" y="0"/>
            <a:chExt cx="5852160" cy="487680"/>
          </a:xfrm>
        </p:grpSpPr>
        <p:sp>
          <p:nvSpPr>
            <p:cNvPr name="Freeform 206" id="206"/>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207" id="207"/>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BCA</a:t>
              </a:r>
            </a:p>
          </p:txBody>
        </p:sp>
      </p:grpSp>
      <p:grpSp>
        <p:nvGrpSpPr>
          <p:cNvPr name="Group 208" id="208"/>
          <p:cNvGrpSpPr/>
          <p:nvPr/>
        </p:nvGrpSpPr>
        <p:grpSpPr>
          <a:xfrm rot="0">
            <a:off x="12411199" y="6485887"/>
            <a:ext cx="5316217" cy="890521"/>
            <a:chOff x="0" y="0"/>
            <a:chExt cx="7088289" cy="1187361"/>
          </a:xfrm>
        </p:grpSpPr>
        <p:sp>
          <p:nvSpPr>
            <p:cNvPr name="Freeform 209" id="209"/>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210" id="210"/>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211" id="211"/>
          <p:cNvGrpSpPr/>
          <p:nvPr/>
        </p:nvGrpSpPr>
        <p:grpSpPr>
          <a:xfrm rot="0">
            <a:off x="12587735" y="6589271"/>
            <a:ext cx="537467" cy="537467"/>
            <a:chOff x="0" y="0"/>
            <a:chExt cx="716623" cy="716623"/>
          </a:xfrm>
        </p:grpSpPr>
        <p:sp>
          <p:nvSpPr>
            <p:cNvPr name="Freeform 212" id="212"/>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213" id="213"/>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214" id="214"/>
          <p:cNvGrpSpPr/>
          <p:nvPr/>
        </p:nvGrpSpPr>
        <p:grpSpPr>
          <a:xfrm rot="0">
            <a:off x="13240512" y="6528816"/>
            <a:ext cx="4389120" cy="402336"/>
            <a:chOff x="0" y="0"/>
            <a:chExt cx="5852160" cy="536448"/>
          </a:xfrm>
        </p:grpSpPr>
        <p:sp>
          <p:nvSpPr>
            <p:cNvPr name="Freeform 215" id="215"/>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216" id="216"/>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Shivansh</a:t>
              </a:r>
            </a:p>
          </p:txBody>
        </p:sp>
      </p:grpSp>
      <p:grpSp>
        <p:nvGrpSpPr>
          <p:cNvPr name="Group 217" id="217"/>
          <p:cNvGrpSpPr/>
          <p:nvPr/>
        </p:nvGrpSpPr>
        <p:grpSpPr>
          <a:xfrm rot="0">
            <a:off x="13240512" y="6894576"/>
            <a:ext cx="4389120" cy="365760"/>
            <a:chOff x="0" y="0"/>
            <a:chExt cx="5852160" cy="487680"/>
          </a:xfrm>
        </p:grpSpPr>
        <p:sp>
          <p:nvSpPr>
            <p:cNvPr name="Freeform 218" id="218"/>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219" id="219"/>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BA - LLB</a:t>
              </a:r>
            </a:p>
          </p:txBody>
        </p:sp>
      </p:grpSp>
      <p:grpSp>
        <p:nvGrpSpPr>
          <p:cNvPr name="Group 220" id="220"/>
          <p:cNvGrpSpPr/>
          <p:nvPr/>
        </p:nvGrpSpPr>
        <p:grpSpPr>
          <a:xfrm rot="0">
            <a:off x="999487" y="7583167"/>
            <a:ext cx="5316217" cy="890521"/>
            <a:chOff x="0" y="0"/>
            <a:chExt cx="7088289" cy="1187361"/>
          </a:xfrm>
        </p:grpSpPr>
        <p:sp>
          <p:nvSpPr>
            <p:cNvPr name="Freeform 221" id="221"/>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222" id="222"/>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223" id="223"/>
          <p:cNvGrpSpPr/>
          <p:nvPr/>
        </p:nvGrpSpPr>
        <p:grpSpPr>
          <a:xfrm rot="0">
            <a:off x="1176023" y="7686551"/>
            <a:ext cx="537467" cy="537467"/>
            <a:chOff x="0" y="0"/>
            <a:chExt cx="716623" cy="716623"/>
          </a:xfrm>
        </p:grpSpPr>
        <p:sp>
          <p:nvSpPr>
            <p:cNvPr name="Freeform 224" id="224"/>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225" id="225"/>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226" id="226"/>
          <p:cNvGrpSpPr/>
          <p:nvPr/>
        </p:nvGrpSpPr>
        <p:grpSpPr>
          <a:xfrm rot="0">
            <a:off x="1828800" y="7626096"/>
            <a:ext cx="4389120" cy="402336"/>
            <a:chOff x="0" y="0"/>
            <a:chExt cx="5852160" cy="536448"/>
          </a:xfrm>
        </p:grpSpPr>
        <p:sp>
          <p:nvSpPr>
            <p:cNvPr name="Freeform 227" id="227"/>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228" id="228"/>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Kavit</a:t>
              </a:r>
            </a:p>
          </p:txBody>
        </p:sp>
      </p:grpSp>
      <p:grpSp>
        <p:nvGrpSpPr>
          <p:cNvPr name="Group 229" id="229"/>
          <p:cNvGrpSpPr/>
          <p:nvPr/>
        </p:nvGrpSpPr>
        <p:grpSpPr>
          <a:xfrm rot="0">
            <a:off x="1828800" y="7991856"/>
            <a:ext cx="4389120" cy="365760"/>
            <a:chOff x="0" y="0"/>
            <a:chExt cx="5852160" cy="487680"/>
          </a:xfrm>
        </p:grpSpPr>
        <p:sp>
          <p:nvSpPr>
            <p:cNvPr name="Freeform 230" id="230"/>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231" id="231"/>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BBA</a:t>
              </a:r>
            </a:p>
          </p:txBody>
        </p:sp>
      </p:grpSp>
      <p:grpSp>
        <p:nvGrpSpPr>
          <p:cNvPr name="Group 232" id="232"/>
          <p:cNvGrpSpPr/>
          <p:nvPr/>
        </p:nvGrpSpPr>
        <p:grpSpPr>
          <a:xfrm rot="0">
            <a:off x="6705343" y="7583167"/>
            <a:ext cx="5316217" cy="890521"/>
            <a:chOff x="0" y="0"/>
            <a:chExt cx="7088289" cy="1187361"/>
          </a:xfrm>
        </p:grpSpPr>
        <p:sp>
          <p:nvSpPr>
            <p:cNvPr name="Freeform 233" id="233"/>
            <p:cNvSpPr/>
            <p:nvPr/>
          </p:nvSpPr>
          <p:spPr>
            <a:xfrm flipH="false" flipV="false" rot="0">
              <a:off x="8509" y="8509"/>
              <a:ext cx="7071360" cy="1170432"/>
            </a:xfrm>
            <a:custGeom>
              <a:avLst/>
              <a:gdLst/>
              <a:ahLst/>
              <a:cxnLst/>
              <a:rect r="r" b="b" t="t" l="l"/>
              <a:pathLst>
                <a:path h="1170432" w="7071360">
                  <a:moveTo>
                    <a:pt x="0" y="0"/>
                  </a:moveTo>
                  <a:lnTo>
                    <a:pt x="7071360" y="0"/>
                  </a:lnTo>
                  <a:lnTo>
                    <a:pt x="7071360" y="1170432"/>
                  </a:lnTo>
                  <a:lnTo>
                    <a:pt x="0" y="1170432"/>
                  </a:lnTo>
                  <a:close/>
                </a:path>
              </a:pathLst>
            </a:custGeom>
            <a:solidFill>
              <a:srgbClr val="FFFFFF"/>
            </a:solidFill>
          </p:spPr>
        </p:sp>
        <p:sp>
          <p:nvSpPr>
            <p:cNvPr name="Freeform 234" id="234"/>
            <p:cNvSpPr/>
            <p:nvPr/>
          </p:nvSpPr>
          <p:spPr>
            <a:xfrm flipH="false" flipV="false" rot="0">
              <a:off x="0" y="0"/>
              <a:ext cx="7088378" cy="1187450"/>
            </a:xfrm>
            <a:custGeom>
              <a:avLst/>
              <a:gdLst/>
              <a:ahLst/>
              <a:cxnLst/>
              <a:rect r="r" b="b" t="t" l="l"/>
              <a:pathLst>
                <a:path h="1187450" w="7088378">
                  <a:moveTo>
                    <a:pt x="8509" y="0"/>
                  </a:moveTo>
                  <a:lnTo>
                    <a:pt x="7079869" y="0"/>
                  </a:lnTo>
                  <a:cubicBezTo>
                    <a:pt x="7084568" y="0"/>
                    <a:pt x="7088378" y="3810"/>
                    <a:pt x="7088378" y="8509"/>
                  </a:cubicBezTo>
                  <a:lnTo>
                    <a:pt x="7088378" y="1178941"/>
                  </a:lnTo>
                  <a:cubicBezTo>
                    <a:pt x="7088378" y="1183640"/>
                    <a:pt x="7084568" y="1187450"/>
                    <a:pt x="707986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7079869" y="1170432"/>
                  </a:lnTo>
                  <a:lnTo>
                    <a:pt x="7079869" y="1178941"/>
                  </a:lnTo>
                  <a:lnTo>
                    <a:pt x="7071360" y="1178941"/>
                  </a:lnTo>
                  <a:lnTo>
                    <a:pt x="7071360" y="8509"/>
                  </a:lnTo>
                  <a:lnTo>
                    <a:pt x="7079869" y="8509"/>
                  </a:lnTo>
                  <a:lnTo>
                    <a:pt x="7079869" y="17018"/>
                  </a:lnTo>
                  <a:lnTo>
                    <a:pt x="8509" y="17018"/>
                  </a:lnTo>
                  <a:close/>
                </a:path>
              </a:pathLst>
            </a:custGeom>
            <a:solidFill>
              <a:srgbClr val="E0E0E0"/>
            </a:solidFill>
          </p:spPr>
        </p:sp>
      </p:grpSp>
      <p:grpSp>
        <p:nvGrpSpPr>
          <p:cNvPr name="Group 235" id="235"/>
          <p:cNvGrpSpPr/>
          <p:nvPr/>
        </p:nvGrpSpPr>
        <p:grpSpPr>
          <a:xfrm rot="0">
            <a:off x="6881879" y="7686551"/>
            <a:ext cx="537467" cy="537467"/>
            <a:chOff x="0" y="0"/>
            <a:chExt cx="716623" cy="716623"/>
          </a:xfrm>
        </p:grpSpPr>
        <p:sp>
          <p:nvSpPr>
            <p:cNvPr name="Freeform 236" id="236"/>
            <p:cNvSpPr/>
            <p:nvPr/>
          </p:nvSpPr>
          <p:spPr>
            <a:xfrm flipH="false" flipV="false" rot="0">
              <a:off x="16891" y="16891"/>
              <a:ext cx="682752" cy="682752"/>
            </a:xfrm>
            <a:custGeom>
              <a:avLst/>
              <a:gdLst/>
              <a:ahLst/>
              <a:cxnLst/>
              <a:rect r="r" b="b" t="t" l="l"/>
              <a:pathLst>
                <a:path h="682752" w="682752">
                  <a:moveTo>
                    <a:pt x="0" y="341376"/>
                  </a:moveTo>
                  <a:cubicBezTo>
                    <a:pt x="0" y="152781"/>
                    <a:pt x="152781" y="0"/>
                    <a:pt x="341376" y="0"/>
                  </a:cubicBezTo>
                  <a:cubicBezTo>
                    <a:pt x="529971" y="0"/>
                    <a:pt x="682752" y="152908"/>
                    <a:pt x="682752" y="341376"/>
                  </a:cubicBezTo>
                  <a:cubicBezTo>
                    <a:pt x="682752" y="529844"/>
                    <a:pt x="529971" y="682752"/>
                    <a:pt x="341376" y="682752"/>
                  </a:cubicBezTo>
                  <a:cubicBezTo>
                    <a:pt x="152781" y="682752"/>
                    <a:pt x="0" y="529971"/>
                    <a:pt x="0" y="341376"/>
                  </a:cubicBezTo>
                  <a:close/>
                </a:path>
              </a:pathLst>
            </a:custGeom>
            <a:solidFill>
              <a:srgbClr val="1B6B3A"/>
            </a:solidFill>
          </p:spPr>
        </p:sp>
        <p:sp>
          <p:nvSpPr>
            <p:cNvPr name="Freeform 237" id="237"/>
            <p:cNvSpPr/>
            <p:nvPr/>
          </p:nvSpPr>
          <p:spPr>
            <a:xfrm flipH="false" flipV="false" rot="0">
              <a:off x="0" y="0"/>
              <a:ext cx="716661" cy="716534"/>
            </a:xfrm>
            <a:custGeom>
              <a:avLst/>
              <a:gdLst/>
              <a:ahLst/>
              <a:cxnLst/>
              <a:rect r="r" b="b" t="t" l="l"/>
              <a:pathLst>
                <a:path h="716534" w="716661">
                  <a:moveTo>
                    <a:pt x="0" y="358267"/>
                  </a:moveTo>
                  <a:cubicBezTo>
                    <a:pt x="0" y="160401"/>
                    <a:pt x="160401" y="0"/>
                    <a:pt x="358267" y="0"/>
                  </a:cubicBezTo>
                  <a:lnTo>
                    <a:pt x="358267" y="16891"/>
                  </a:lnTo>
                  <a:lnTo>
                    <a:pt x="358267" y="0"/>
                  </a:lnTo>
                  <a:cubicBezTo>
                    <a:pt x="556260" y="0"/>
                    <a:pt x="716661" y="160401"/>
                    <a:pt x="716661" y="358267"/>
                  </a:cubicBezTo>
                  <a:lnTo>
                    <a:pt x="699643" y="358267"/>
                  </a:lnTo>
                  <a:lnTo>
                    <a:pt x="716534" y="358267"/>
                  </a:lnTo>
                  <a:cubicBezTo>
                    <a:pt x="716534" y="556133"/>
                    <a:pt x="556133" y="716534"/>
                    <a:pt x="358267" y="716534"/>
                  </a:cubicBezTo>
                  <a:lnTo>
                    <a:pt x="358267" y="699643"/>
                  </a:lnTo>
                  <a:lnTo>
                    <a:pt x="358267" y="716534"/>
                  </a:lnTo>
                  <a:cubicBezTo>
                    <a:pt x="160401" y="716661"/>
                    <a:pt x="0" y="556260"/>
                    <a:pt x="0" y="358267"/>
                  </a:cubicBezTo>
                  <a:lnTo>
                    <a:pt x="16891" y="358267"/>
                  </a:lnTo>
                  <a:lnTo>
                    <a:pt x="33909" y="358267"/>
                  </a:lnTo>
                  <a:lnTo>
                    <a:pt x="16891" y="358267"/>
                  </a:lnTo>
                  <a:lnTo>
                    <a:pt x="0" y="358267"/>
                  </a:lnTo>
                  <a:moveTo>
                    <a:pt x="33909" y="358267"/>
                  </a:moveTo>
                  <a:cubicBezTo>
                    <a:pt x="33909" y="367665"/>
                    <a:pt x="26289" y="375158"/>
                    <a:pt x="17018" y="375158"/>
                  </a:cubicBezTo>
                  <a:cubicBezTo>
                    <a:pt x="7747" y="375158"/>
                    <a:pt x="0" y="367665"/>
                    <a:pt x="0" y="358267"/>
                  </a:cubicBezTo>
                  <a:cubicBezTo>
                    <a:pt x="0" y="348869"/>
                    <a:pt x="7620" y="341376"/>
                    <a:pt x="16891" y="341376"/>
                  </a:cubicBezTo>
                  <a:cubicBezTo>
                    <a:pt x="26162" y="341376"/>
                    <a:pt x="33782" y="348996"/>
                    <a:pt x="33782" y="358267"/>
                  </a:cubicBezTo>
                  <a:cubicBezTo>
                    <a:pt x="33782" y="537464"/>
                    <a:pt x="179070" y="682752"/>
                    <a:pt x="358267" y="682752"/>
                  </a:cubicBezTo>
                  <a:cubicBezTo>
                    <a:pt x="537464" y="682752"/>
                    <a:pt x="682752" y="537464"/>
                    <a:pt x="682752" y="358267"/>
                  </a:cubicBezTo>
                  <a:cubicBezTo>
                    <a:pt x="682752" y="179070"/>
                    <a:pt x="537464" y="33782"/>
                    <a:pt x="358267" y="33782"/>
                  </a:cubicBezTo>
                  <a:lnTo>
                    <a:pt x="358267" y="16891"/>
                  </a:lnTo>
                  <a:lnTo>
                    <a:pt x="358267" y="33909"/>
                  </a:lnTo>
                  <a:cubicBezTo>
                    <a:pt x="179070" y="33909"/>
                    <a:pt x="33909" y="179070"/>
                    <a:pt x="33909" y="358267"/>
                  </a:cubicBezTo>
                  <a:close/>
                </a:path>
              </a:pathLst>
            </a:custGeom>
            <a:solidFill>
              <a:srgbClr val="1B6B3A"/>
            </a:solidFill>
          </p:spPr>
        </p:sp>
      </p:grpSp>
      <p:grpSp>
        <p:nvGrpSpPr>
          <p:cNvPr name="Group 238" id="238"/>
          <p:cNvGrpSpPr/>
          <p:nvPr/>
        </p:nvGrpSpPr>
        <p:grpSpPr>
          <a:xfrm rot="0">
            <a:off x="7534656" y="7626096"/>
            <a:ext cx="4389120" cy="402336"/>
            <a:chOff x="0" y="0"/>
            <a:chExt cx="5852160" cy="536448"/>
          </a:xfrm>
        </p:grpSpPr>
        <p:sp>
          <p:nvSpPr>
            <p:cNvPr name="Freeform 239" id="239"/>
            <p:cNvSpPr/>
            <p:nvPr/>
          </p:nvSpPr>
          <p:spPr>
            <a:xfrm flipH="false" flipV="false" rot="0">
              <a:off x="0" y="0"/>
              <a:ext cx="5852160" cy="536448"/>
            </a:xfrm>
            <a:custGeom>
              <a:avLst/>
              <a:gdLst/>
              <a:ahLst/>
              <a:cxnLst/>
              <a:rect r="r" b="b" t="t" l="l"/>
              <a:pathLst>
                <a:path h="536448" w="5852160">
                  <a:moveTo>
                    <a:pt x="0" y="0"/>
                  </a:moveTo>
                  <a:lnTo>
                    <a:pt x="5852160" y="0"/>
                  </a:lnTo>
                  <a:lnTo>
                    <a:pt x="5852160" y="536448"/>
                  </a:lnTo>
                  <a:lnTo>
                    <a:pt x="0" y="536448"/>
                  </a:lnTo>
                  <a:close/>
                </a:path>
              </a:pathLst>
            </a:custGeom>
            <a:blipFill>
              <a:blip r:embed="rId3">
                <a:alphaModFix amt="0"/>
              </a:blip>
              <a:stretch>
                <a:fillRect l="0" t="-162564" r="0" b="-162564"/>
              </a:stretch>
            </a:blipFill>
          </p:spPr>
        </p:sp>
        <p:sp>
          <p:nvSpPr>
            <p:cNvPr name="TextBox 240" id="240"/>
            <p:cNvSpPr txBox="true"/>
            <p:nvPr/>
          </p:nvSpPr>
          <p:spPr>
            <a:xfrm>
              <a:off x="0" y="-38100"/>
              <a:ext cx="5852160" cy="57454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Ananya</a:t>
              </a:r>
            </a:p>
          </p:txBody>
        </p:sp>
      </p:grpSp>
      <p:grpSp>
        <p:nvGrpSpPr>
          <p:cNvPr name="Group 241" id="241"/>
          <p:cNvGrpSpPr/>
          <p:nvPr/>
        </p:nvGrpSpPr>
        <p:grpSpPr>
          <a:xfrm rot="0">
            <a:off x="7534656" y="7991856"/>
            <a:ext cx="4389120" cy="365760"/>
            <a:chOff x="0" y="0"/>
            <a:chExt cx="5852160" cy="487680"/>
          </a:xfrm>
        </p:grpSpPr>
        <p:sp>
          <p:nvSpPr>
            <p:cNvPr name="Freeform 242" id="242"/>
            <p:cNvSpPr/>
            <p:nvPr/>
          </p:nvSpPr>
          <p:spPr>
            <a:xfrm flipH="false" flipV="false" rot="0">
              <a:off x="0" y="0"/>
              <a:ext cx="5852160" cy="487680"/>
            </a:xfrm>
            <a:custGeom>
              <a:avLst/>
              <a:gdLst/>
              <a:ahLst/>
              <a:cxnLst/>
              <a:rect r="r" b="b" t="t" l="l"/>
              <a:pathLst>
                <a:path h="487680" w="5852160">
                  <a:moveTo>
                    <a:pt x="0" y="0"/>
                  </a:moveTo>
                  <a:lnTo>
                    <a:pt x="5852160" y="0"/>
                  </a:lnTo>
                  <a:lnTo>
                    <a:pt x="5852160" y="487680"/>
                  </a:lnTo>
                  <a:lnTo>
                    <a:pt x="0" y="487680"/>
                  </a:lnTo>
                  <a:close/>
                </a:path>
              </a:pathLst>
            </a:custGeom>
            <a:blipFill>
              <a:blip r:embed="rId3">
                <a:alphaModFix amt="0"/>
              </a:blip>
              <a:stretch>
                <a:fillRect l="0" t="-183820" r="0" b="-183820"/>
              </a:stretch>
            </a:blipFill>
          </p:spPr>
        </p:sp>
        <p:sp>
          <p:nvSpPr>
            <p:cNvPr name="TextBox 243" id="243"/>
            <p:cNvSpPr txBox="true"/>
            <p:nvPr/>
          </p:nvSpPr>
          <p:spPr>
            <a:xfrm>
              <a:off x="0" y="-38100"/>
              <a:ext cx="5852160" cy="525780"/>
            </a:xfrm>
            <a:prstGeom prst="rect">
              <a:avLst/>
            </a:prstGeom>
          </p:spPr>
          <p:txBody>
            <a:bodyPr anchor="ctr" rtlCol="false" tIns="0" lIns="0" bIns="0" rIns="0"/>
            <a:lstStyle/>
            <a:p>
              <a:pPr algn="l">
                <a:lnSpc>
                  <a:spcPts val="2400"/>
                </a:lnSpc>
              </a:pPr>
              <a:r>
                <a:rPr lang="en-US" sz="2000">
                  <a:solidFill>
                    <a:srgbClr val="666666"/>
                  </a:solidFill>
                  <a:latin typeface="Calibri (MS)"/>
                  <a:ea typeface="Calibri (MS)"/>
                  <a:cs typeface="Calibri (MS)"/>
                  <a:sym typeface="Calibri (MS)"/>
                </a:rPr>
                <a:t>Entrepreneur</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03781" y="351539"/>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0453" y="402336"/>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03781" y="10056247"/>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085054" y="9920740"/>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198120" y="5267449"/>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Impact Metrics</a:t>
              </a:r>
            </a:p>
          </p:txBody>
        </p:sp>
      </p:grpSp>
      <p:grpSp>
        <p:nvGrpSpPr>
          <p:cNvPr name="Group 37" id="37"/>
          <p:cNvGrpSpPr/>
          <p:nvPr/>
        </p:nvGrpSpPr>
        <p:grpSpPr>
          <a:xfrm rot="0">
            <a:off x="1463040" y="1367929"/>
            <a:ext cx="15910560" cy="623434"/>
            <a:chOff x="0" y="0"/>
            <a:chExt cx="21214080" cy="831246"/>
          </a:xfrm>
        </p:grpSpPr>
        <p:sp>
          <p:nvSpPr>
            <p:cNvPr name="Freeform 38" id="38"/>
            <p:cNvSpPr/>
            <p:nvPr/>
          </p:nvSpPr>
          <p:spPr>
            <a:xfrm flipH="false" flipV="false" rot="0">
              <a:off x="0" y="0"/>
              <a:ext cx="21214080" cy="831246"/>
            </a:xfrm>
            <a:custGeom>
              <a:avLst/>
              <a:gdLst/>
              <a:ahLst/>
              <a:cxnLst/>
              <a:rect r="r" b="b" t="t" l="l"/>
              <a:pathLst>
                <a:path h="831246" w="21214080">
                  <a:moveTo>
                    <a:pt x="0" y="0"/>
                  </a:moveTo>
                  <a:lnTo>
                    <a:pt x="21214080" y="0"/>
                  </a:lnTo>
                  <a:lnTo>
                    <a:pt x="21214080" y="831246"/>
                  </a:lnTo>
                  <a:lnTo>
                    <a:pt x="0" y="831246"/>
                  </a:lnTo>
                  <a:close/>
                </a:path>
              </a:pathLst>
            </a:custGeom>
            <a:blipFill>
              <a:blip r:embed="rId3">
                <a:alphaModFix amt="0"/>
              </a:blip>
              <a:stretch>
                <a:fillRect l="0" t="-445939" r="0" b="-448609"/>
              </a:stretch>
            </a:blipFill>
          </p:spPr>
        </p:sp>
        <p:sp>
          <p:nvSpPr>
            <p:cNvPr name="TextBox 39" id="39"/>
            <p:cNvSpPr txBox="true"/>
            <p:nvPr/>
          </p:nvSpPr>
          <p:spPr>
            <a:xfrm>
              <a:off x="0" y="-38100"/>
              <a:ext cx="21214080" cy="869346"/>
            </a:xfrm>
            <a:prstGeom prst="rect">
              <a:avLst/>
            </a:prstGeom>
          </p:spPr>
          <p:txBody>
            <a:bodyPr anchor="ctr" rtlCol="false" tIns="0" lIns="0" bIns="0" rIns="0"/>
            <a:lstStyle/>
            <a:p>
              <a:pPr algn="l">
                <a:lnSpc>
                  <a:spcPts val="2879"/>
                </a:lnSpc>
              </a:pPr>
              <a:r>
                <a:rPr lang="en-US" sz="2400">
                  <a:solidFill>
                    <a:srgbClr val="666666"/>
                  </a:solidFill>
                  <a:latin typeface="Calibri (MS)"/>
                  <a:ea typeface="Calibri (MS)"/>
                  <a:cs typeface="Calibri (MS)"/>
                  <a:sym typeface="Calibri (MS)"/>
                </a:rPr>
                <a:t>Real numbers from dataset and stakeholder survey</a:t>
              </a:r>
            </a:p>
          </p:txBody>
        </p:sp>
      </p:grpSp>
      <p:grpSp>
        <p:nvGrpSpPr>
          <p:cNvPr name="Group 40" id="40"/>
          <p:cNvGrpSpPr/>
          <p:nvPr/>
        </p:nvGrpSpPr>
        <p:grpSpPr>
          <a:xfrm rot="0">
            <a:off x="1463040" y="1819656"/>
            <a:ext cx="15910560" cy="640080"/>
            <a:chOff x="0" y="0"/>
            <a:chExt cx="21214080" cy="853440"/>
          </a:xfrm>
        </p:grpSpPr>
        <p:sp>
          <p:nvSpPr>
            <p:cNvPr name="Freeform 41" id="41"/>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3">
                <a:alphaModFix amt="0"/>
              </a:blip>
              <a:stretch>
                <a:fillRect l="0" t="-434342" r="0" b="-434342"/>
              </a:stretch>
            </a:blipFill>
          </p:spPr>
        </p:sp>
        <p:sp>
          <p:nvSpPr>
            <p:cNvPr name="TextBox 42" id="42"/>
            <p:cNvSpPr txBox="true"/>
            <p:nvPr/>
          </p:nvSpPr>
          <p:spPr>
            <a:xfrm>
              <a:off x="0" y="-47625"/>
              <a:ext cx="21214080" cy="901065"/>
            </a:xfrm>
            <a:prstGeom prst="rect">
              <a:avLst/>
            </a:prstGeom>
          </p:spPr>
          <p:txBody>
            <a:bodyPr anchor="ctr" rtlCol="false" tIns="0" lIns="0" bIns="0" rIns="0"/>
            <a:lstStyle/>
            <a:p>
              <a:pPr algn="l">
                <a:lnSpc>
                  <a:spcPts val="3359"/>
                </a:lnSpc>
              </a:pPr>
              <a:r>
                <a:rPr lang="en-US" sz="2799">
                  <a:solidFill>
                    <a:srgbClr val="1A1A1A"/>
                  </a:solidFill>
                  <a:latin typeface="Calibri (MS)"/>
                  <a:ea typeface="Calibri (MS)"/>
                  <a:cs typeface="Calibri (MS)"/>
                  <a:sym typeface="Calibri (MS)"/>
                </a:rPr>
                <a:t>The impact of our project is measured using:</a:t>
              </a:r>
            </a:p>
          </p:txBody>
        </p:sp>
      </p:grpSp>
      <p:grpSp>
        <p:nvGrpSpPr>
          <p:cNvPr name="Group 43" id="43"/>
          <p:cNvGrpSpPr/>
          <p:nvPr/>
        </p:nvGrpSpPr>
        <p:grpSpPr>
          <a:xfrm rot="0">
            <a:off x="993143" y="2639063"/>
            <a:ext cx="4231643" cy="848363"/>
            <a:chOff x="0" y="0"/>
            <a:chExt cx="5642191" cy="1131151"/>
          </a:xfrm>
        </p:grpSpPr>
        <p:sp>
          <p:nvSpPr>
            <p:cNvPr name="Freeform 44" id="44"/>
            <p:cNvSpPr/>
            <p:nvPr/>
          </p:nvSpPr>
          <p:spPr>
            <a:xfrm flipH="false" flipV="false" rot="0">
              <a:off x="16891" y="16891"/>
              <a:ext cx="5608320" cy="1097280"/>
            </a:xfrm>
            <a:custGeom>
              <a:avLst/>
              <a:gdLst/>
              <a:ahLst/>
              <a:cxnLst/>
              <a:rect r="r" b="b" t="t" l="l"/>
              <a:pathLst>
                <a:path h="1097280" w="5608320">
                  <a:moveTo>
                    <a:pt x="0" y="0"/>
                  </a:moveTo>
                  <a:lnTo>
                    <a:pt x="5608320" y="0"/>
                  </a:lnTo>
                  <a:lnTo>
                    <a:pt x="5608320" y="1097280"/>
                  </a:lnTo>
                  <a:lnTo>
                    <a:pt x="0" y="1097280"/>
                  </a:lnTo>
                  <a:close/>
                </a:path>
              </a:pathLst>
            </a:custGeom>
            <a:solidFill>
              <a:srgbClr val="1B6B3A"/>
            </a:solidFill>
          </p:spPr>
        </p:sp>
        <p:sp>
          <p:nvSpPr>
            <p:cNvPr name="Freeform 45" id="45"/>
            <p:cNvSpPr/>
            <p:nvPr/>
          </p:nvSpPr>
          <p:spPr>
            <a:xfrm flipH="false" flipV="false" rot="0">
              <a:off x="0" y="0"/>
              <a:ext cx="5642102" cy="1131064"/>
            </a:xfrm>
            <a:custGeom>
              <a:avLst/>
              <a:gdLst/>
              <a:ahLst/>
              <a:cxnLst/>
              <a:rect r="r" b="b" t="t" l="l"/>
              <a:pathLst>
                <a:path h="1131064" w="5642102">
                  <a:moveTo>
                    <a:pt x="16891" y="0"/>
                  </a:moveTo>
                  <a:lnTo>
                    <a:pt x="5625211" y="0"/>
                  </a:lnTo>
                  <a:cubicBezTo>
                    <a:pt x="5634609" y="0"/>
                    <a:pt x="5642102" y="7620"/>
                    <a:pt x="5642102" y="16891"/>
                  </a:cubicBezTo>
                  <a:lnTo>
                    <a:pt x="5642102" y="1114171"/>
                  </a:lnTo>
                  <a:cubicBezTo>
                    <a:pt x="5642102" y="1123569"/>
                    <a:pt x="5634482" y="1131062"/>
                    <a:pt x="56252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5625211" y="1097280"/>
                  </a:lnTo>
                  <a:lnTo>
                    <a:pt x="5625211" y="1114171"/>
                  </a:lnTo>
                  <a:lnTo>
                    <a:pt x="5608320" y="1114171"/>
                  </a:lnTo>
                  <a:lnTo>
                    <a:pt x="5608320" y="16891"/>
                  </a:lnTo>
                  <a:lnTo>
                    <a:pt x="5625211" y="16891"/>
                  </a:lnTo>
                  <a:lnTo>
                    <a:pt x="5625211" y="33909"/>
                  </a:lnTo>
                  <a:lnTo>
                    <a:pt x="16891" y="33909"/>
                  </a:lnTo>
                  <a:close/>
                </a:path>
              </a:pathLst>
            </a:custGeom>
            <a:solidFill>
              <a:srgbClr val="1B6B3A"/>
            </a:solidFill>
          </p:spPr>
        </p:sp>
      </p:grpSp>
      <p:grpSp>
        <p:nvGrpSpPr>
          <p:cNvPr name="Group 46" id="46"/>
          <p:cNvGrpSpPr/>
          <p:nvPr/>
        </p:nvGrpSpPr>
        <p:grpSpPr>
          <a:xfrm rot="0">
            <a:off x="1005840" y="2651760"/>
            <a:ext cx="4206240" cy="822960"/>
            <a:chOff x="0" y="0"/>
            <a:chExt cx="5608320" cy="1097280"/>
          </a:xfrm>
        </p:grpSpPr>
        <p:sp>
          <p:nvSpPr>
            <p:cNvPr name="Freeform 47" id="47"/>
            <p:cNvSpPr/>
            <p:nvPr/>
          </p:nvSpPr>
          <p:spPr>
            <a:xfrm flipH="false" flipV="false" rot="0">
              <a:off x="0" y="0"/>
              <a:ext cx="5608320" cy="1097280"/>
            </a:xfrm>
            <a:custGeom>
              <a:avLst/>
              <a:gdLst/>
              <a:ahLst/>
              <a:cxnLst/>
              <a:rect r="r" b="b" t="t" l="l"/>
              <a:pathLst>
                <a:path h="1097280" w="5608320">
                  <a:moveTo>
                    <a:pt x="0" y="0"/>
                  </a:moveTo>
                  <a:lnTo>
                    <a:pt x="5608320" y="0"/>
                  </a:lnTo>
                  <a:lnTo>
                    <a:pt x="5608320" y="1097280"/>
                  </a:lnTo>
                  <a:lnTo>
                    <a:pt x="0" y="1097280"/>
                  </a:lnTo>
                  <a:close/>
                </a:path>
              </a:pathLst>
            </a:custGeom>
            <a:blipFill>
              <a:blip r:embed="rId3">
                <a:alphaModFix amt="0"/>
              </a:blip>
              <a:stretch>
                <a:fillRect l="0" t="-49590" r="0" b="-49590"/>
              </a:stretch>
            </a:blipFill>
          </p:spPr>
        </p:sp>
        <p:sp>
          <p:nvSpPr>
            <p:cNvPr name="TextBox 48" id="48"/>
            <p:cNvSpPr txBox="true"/>
            <p:nvPr/>
          </p:nvSpPr>
          <p:spPr>
            <a:xfrm>
              <a:off x="0" y="-57150"/>
              <a:ext cx="5608320" cy="115443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5,51,944 tCO₂</a:t>
              </a:r>
            </a:p>
          </p:txBody>
        </p:sp>
      </p:grpSp>
      <p:grpSp>
        <p:nvGrpSpPr>
          <p:cNvPr name="Group 49" id="49"/>
          <p:cNvGrpSpPr/>
          <p:nvPr/>
        </p:nvGrpSpPr>
        <p:grpSpPr>
          <a:xfrm rot="0">
            <a:off x="5486400" y="2743200"/>
            <a:ext cx="11887200" cy="694944"/>
            <a:chOff x="0" y="0"/>
            <a:chExt cx="15849600" cy="926592"/>
          </a:xfrm>
        </p:grpSpPr>
        <p:sp>
          <p:nvSpPr>
            <p:cNvPr name="Freeform 50" id="50"/>
            <p:cNvSpPr/>
            <p:nvPr/>
          </p:nvSpPr>
          <p:spPr>
            <a:xfrm flipH="false" flipV="false" rot="0">
              <a:off x="0" y="0"/>
              <a:ext cx="15849600" cy="926592"/>
            </a:xfrm>
            <a:custGeom>
              <a:avLst/>
              <a:gdLst/>
              <a:ahLst/>
              <a:cxnLst/>
              <a:rect r="r" b="b" t="t" l="l"/>
              <a:pathLst>
                <a:path h="926592" w="15849600">
                  <a:moveTo>
                    <a:pt x="0" y="0"/>
                  </a:moveTo>
                  <a:lnTo>
                    <a:pt x="15849600" y="0"/>
                  </a:lnTo>
                  <a:lnTo>
                    <a:pt x="15849600" y="926592"/>
                  </a:lnTo>
                  <a:lnTo>
                    <a:pt x="0" y="926592"/>
                  </a:lnTo>
                  <a:close/>
                </a:path>
              </a:pathLst>
            </a:custGeom>
            <a:blipFill>
              <a:blip r:embed="rId3">
                <a:alphaModFix amt="0"/>
              </a:blip>
              <a:stretch>
                <a:fillRect l="0" t="-283296" r="0" b="-283296"/>
              </a:stretch>
            </a:blipFill>
          </p:spPr>
        </p:sp>
        <p:sp>
          <p:nvSpPr>
            <p:cNvPr name="TextBox 51" id="51"/>
            <p:cNvSpPr txBox="true"/>
            <p:nvPr/>
          </p:nvSpPr>
          <p:spPr>
            <a:xfrm>
              <a:off x="0" y="-57150"/>
              <a:ext cx="15849600" cy="983742"/>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Total credits traded across 5,000 simulated transactions in the dataset</a:t>
              </a:r>
            </a:p>
          </p:txBody>
        </p:sp>
      </p:grpSp>
      <p:grpSp>
        <p:nvGrpSpPr>
          <p:cNvPr name="Group 52" id="52"/>
          <p:cNvGrpSpPr/>
          <p:nvPr/>
        </p:nvGrpSpPr>
        <p:grpSpPr>
          <a:xfrm rot="0">
            <a:off x="993143" y="3772919"/>
            <a:ext cx="4231643" cy="848363"/>
            <a:chOff x="0" y="0"/>
            <a:chExt cx="5642191" cy="1131151"/>
          </a:xfrm>
        </p:grpSpPr>
        <p:sp>
          <p:nvSpPr>
            <p:cNvPr name="Freeform 53" id="53"/>
            <p:cNvSpPr/>
            <p:nvPr/>
          </p:nvSpPr>
          <p:spPr>
            <a:xfrm flipH="false" flipV="false" rot="0">
              <a:off x="16891" y="16891"/>
              <a:ext cx="5608320" cy="1097280"/>
            </a:xfrm>
            <a:custGeom>
              <a:avLst/>
              <a:gdLst/>
              <a:ahLst/>
              <a:cxnLst/>
              <a:rect r="r" b="b" t="t" l="l"/>
              <a:pathLst>
                <a:path h="1097280" w="5608320">
                  <a:moveTo>
                    <a:pt x="0" y="0"/>
                  </a:moveTo>
                  <a:lnTo>
                    <a:pt x="5608320" y="0"/>
                  </a:lnTo>
                  <a:lnTo>
                    <a:pt x="5608320" y="1097280"/>
                  </a:lnTo>
                  <a:lnTo>
                    <a:pt x="0" y="1097280"/>
                  </a:lnTo>
                  <a:close/>
                </a:path>
              </a:pathLst>
            </a:custGeom>
            <a:solidFill>
              <a:srgbClr val="1B6B3A"/>
            </a:solidFill>
          </p:spPr>
        </p:sp>
        <p:sp>
          <p:nvSpPr>
            <p:cNvPr name="Freeform 54" id="54"/>
            <p:cNvSpPr/>
            <p:nvPr/>
          </p:nvSpPr>
          <p:spPr>
            <a:xfrm flipH="false" flipV="false" rot="0">
              <a:off x="0" y="0"/>
              <a:ext cx="5642102" cy="1131064"/>
            </a:xfrm>
            <a:custGeom>
              <a:avLst/>
              <a:gdLst/>
              <a:ahLst/>
              <a:cxnLst/>
              <a:rect r="r" b="b" t="t" l="l"/>
              <a:pathLst>
                <a:path h="1131064" w="5642102">
                  <a:moveTo>
                    <a:pt x="16891" y="0"/>
                  </a:moveTo>
                  <a:lnTo>
                    <a:pt x="5625211" y="0"/>
                  </a:lnTo>
                  <a:cubicBezTo>
                    <a:pt x="5634609" y="0"/>
                    <a:pt x="5642102" y="7620"/>
                    <a:pt x="5642102" y="16891"/>
                  </a:cubicBezTo>
                  <a:lnTo>
                    <a:pt x="5642102" y="1114171"/>
                  </a:lnTo>
                  <a:cubicBezTo>
                    <a:pt x="5642102" y="1123569"/>
                    <a:pt x="5634482" y="1131062"/>
                    <a:pt x="56252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5625211" y="1097280"/>
                  </a:lnTo>
                  <a:lnTo>
                    <a:pt x="5625211" y="1114171"/>
                  </a:lnTo>
                  <a:lnTo>
                    <a:pt x="5608320" y="1114171"/>
                  </a:lnTo>
                  <a:lnTo>
                    <a:pt x="5608320" y="16891"/>
                  </a:lnTo>
                  <a:lnTo>
                    <a:pt x="5625211" y="16891"/>
                  </a:lnTo>
                  <a:lnTo>
                    <a:pt x="5625211" y="33909"/>
                  </a:lnTo>
                  <a:lnTo>
                    <a:pt x="16891" y="33909"/>
                  </a:lnTo>
                  <a:close/>
                </a:path>
              </a:pathLst>
            </a:custGeom>
            <a:solidFill>
              <a:srgbClr val="1B6B3A"/>
            </a:solidFill>
          </p:spPr>
        </p:sp>
      </p:grpSp>
      <p:grpSp>
        <p:nvGrpSpPr>
          <p:cNvPr name="Group 55" id="55"/>
          <p:cNvGrpSpPr/>
          <p:nvPr/>
        </p:nvGrpSpPr>
        <p:grpSpPr>
          <a:xfrm rot="0">
            <a:off x="1005840" y="3785616"/>
            <a:ext cx="4206240" cy="822960"/>
            <a:chOff x="0" y="0"/>
            <a:chExt cx="5608320" cy="1097280"/>
          </a:xfrm>
        </p:grpSpPr>
        <p:sp>
          <p:nvSpPr>
            <p:cNvPr name="Freeform 56" id="56"/>
            <p:cNvSpPr/>
            <p:nvPr/>
          </p:nvSpPr>
          <p:spPr>
            <a:xfrm flipH="false" flipV="false" rot="0">
              <a:off x="0" y="0"/>
              <a:ext cx="5608320" cy="1097280"/>
            </a:xfrm>
            <a:custGeom>
              <a:avLst/>
              <a:gdLst/>
              <a:ahLst/>
              <a:cxnLst/>
              <a:rect r="r" b="b" t="t" l="l"/>
              <a:pathLst>
                <a:path h="1097280" w="5608320">
                  <a:moveTo>
                    <a:pt x="0" y="0"/>
                  </a:moveTo>
                  <a:lnTo>
                    <a:pt x="5608320" y="0"/>
                  </a:lnTo>
                  <a:lnTo>
                    <a:pt x="5608320" y="1097280"/>
                  </a:lnTo>
                  <a:lnTo>
                    <a:pt x="0" y="1097280"/>
                  </a:lnTo>
                  <a:close/>
                </a:path>
              </a:pathLst>
            </a:custGeom>
            <a:blipFill>
              <a:blip r:embed="rId3">
                <a:alphaModFix amt="0"/>
              </a:blip>
              <a:stretch>
                <a:fillRect l="0" t="-49590" r="0" b="-49590"/>
              </a:stretch>
            </a:blipFill>
          </p:spPr>
        </p:sp>
        <p:sp>
          <p:nvSpPr>
            <p:cNvPr name="TextBox 57" id="57"/>
            <p:cNvSpPr txBox="true"/>
            <p:nvPr/>
          </p:nvSpPr>
          <p:spPr>
            <a:xfrm>
              <a:off x="0" y="-57150"/>
              <a:ext cx="5608320" cy="115443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$27.53 / tCO₂</a:t>
              </a:r>
            </a:p>
          </p:txBody>
        </p:sp>
      </p:grpSp>
      <p:grpSp>
        <p:nvGrpSpPr>
          <p:cNvPr name="Group 58" id="58"/>
          <p:cNvGrpSpPr/>
          <p:nvPr/>
        </p:nvGrpSpPr>
        <p:grpSpPr>
          <a:xfrm rot="0">
            <a:off x="5486400" y="3877056"/>
            <a:ext cx="11887200" cy="694944"/>
            <a:chOff x="0" y="0"/>
            <a:chExt cx="15849600" cy="926592"/>
          </a:xfrm>
        </p:grpSpPr>
        <p:sp>
          <p:nvSpPr>
            <p:cNvPr name="Freeform 59" id="59"/>
            <p:cNvSpPr/>
            <p:nvPr/>
          </p:nvSpPr>
          <p:spPr>
            <a:xfrm flipH="false" flipV="false" rot="0">
              <a:off x="0" y="0"/>
              <a:ext cx="15849600" cy="926592"/>
            </a:xfrm>
            <a:custGeom>
              <a:avLst/>
              <a:gdLst/>
              <a:ahLst/>
              <a:cxnLst/>
              <a:rect r="r" b="b" t="t" l="l"/>
              <a:pathLst>
                <a:path h="926592" w="15849600">
                  <a:moveTo>
                    <a:pt x="0" y="0"/>
                  </a:moveTo>
                  <a:lnTo>
                    <a:pt x="15849600" y="0"/>
                  </a:lnTo>
                  <a:lnTo>
                    <a:pt x="15849600" y="926592"/>
                  </a:lnTo>
                  <a:lnTo>
                    <a:pt x="0" y="926592"/>
                  </a:lnTo>
                  <a:close/>
                </a:path>
              </a:pathLst>
            </a:custGeom>
            <a:blipFill>
              <a:blip r:embed="rId3">
                <a:alphaModFix amt="0"/>
              </a:blip>
              <a:stretch>
                <a:fillRect l="0" t="-283296" r="0" b="-283296"/>
              </a:stretch>
            </a:blipFill>
          </p:spPr>
        </p:sp>
        <p:sp>
          <p:nvSpPr>
            <p:cNvPr name="TextBox 60" id="60"/>
            <p:cNvSpPr txBox="true"/>
            <p:nvPr/>
          </p:nvSpPr>
          <p:spPr>
            <a:xfrm>
              <a:off x="0" y="-57150"/>
              <a:ext cx="15849600" cy="983742"/>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Average carbon price — real market-aligned figure from Kaggle dataset</a:t>
              </a:r>
            </a:p>
          </p:txBody>
        </p:sp>
      </p:grpSp>
      <p:grpSp>
        <p:nvGrpSpPr>
          <p:cNvPr name="Group 61" id="61"/>
          <p:cNvGrpSpPr/>
          <p:nvPr/>
        </p:nvGrpSpPr>
        <p:grpSpPr>
          <a:xfrm rot="0">
            <a:off x="993143" y="4906775"/>
            <a:ext cx="4231643" cy="848363"/>
            <a:chOff x="0" y="0"/>
            <a:chExt cx="5642191" cy="1131151"/>
          </a:xfrm>
        </p:grpSpPr>
        <p:sp>
          <p:nvSpPr>
            <p:cNvPr name="Freeform 62" id="62"/>
            <p:cNvSpPr/>
            <p:nvPr/>
          </p:nvSpPr>
          <p:spPr>
            <a:xfrm flipH="false" flipV="false" rot="0">
              <a:off x="16891" y="16891"/>
              <a:ext cx="5608320" cy="1097280"/>
            </a:xfrm>
            <a:custGeom>
              <a:avLst/>
              <a:gdLst/>
              <a:ahLst/>
              <a:cxnLst/>
              <a:rect r="r" b="b" t="t" l="l"/>
              <a:pathLst>
                <a:path h="1097280" w="5608320">
                  <a:moveTo>
                    <a:pt x="0" y="0"/>
                  </a:moveTo>
                  <a:lnTo>
                    <a:pt x="5608320" y="0"/>
                  </a:lnTo>
                  <a:lnTo>
                    <a:pt x="5608320" y="1097280"/>
                  </a:lnTo>
                  <a:lnTo>
                    <a:pt x="0" y="1097280"/>
                  </a:lnTo>
                  <a:close/>
                </a:path>
              </a:pathLst>
            </a:custGeom>
            <a:solidFill>
              <a:srgbClr val="1B6B3A"/>
            </a:solidFill>
          </p:spPr>
        </p:sp>
        <p:sp>
          <p:nvSpPr>
            <p:cNvPr name="Freeform 63" id="63"/>
            <p:cNvSpPr/>
            <p:nvPr/>
          </p:nvSpPr>
          <p:spPr>
            <a:xfrm flipH="false" flipV="false" rot="0">
              <a:off x="0" y="0"/>
              <a:ext cx="5642102" cy="1131064"/>
            </a:xfrm>
            <a:custGeom>
              <a:avLst/>
              <a:gdLst/>
              <a:ahLst/>
              <a:cxnLst/>
              <a:rect r="r" b="b" t="t" l="l"/>
              <a:pathLst>
                <a:path h="1131064" w="5642102">
                  <a:moveTo>
                    <a:pt x="16891" y="0"/>
                  </a:moveTo>
                  <a:lnTo>
                    <a:pt x="5625211" y="0"/>
                  </a:lnTo>
                  <a:cubicBezTo>
                    <a:pt x="5634609" y="0"/>
                    <a:pt x="5642102" y="7620"/>
                    <a:pt x="5642102" y="16891"/>
                  </a:cubicBezTo>
                  <a:lnTo>
                    <a:pt x="5642102" y="1114171"/>
                  </a:lnTo>
                  <a:cubicBezTo>
                    <a:pt x="5642102" y="1123569"/>
                    <a:pt x="5634482" y="1131062"/>
                    <a:pt x="56252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5625211" y="1097280"/>
                  </a:lnTo>
                  <a:lnTo>
                    <a:pt x="5625211" y="1114171"/>
                  </a:lnTo>
                  <a:lnTo>
                    <a:pt x="5608320" y="1114171"/>
                  </a:lnTo>
                  <a:lnTo>
                    <a:pt x="5608320" y="16891"/>
                  </a:lnTo>
                  <a:lnTo>
                    <a:pt x="5625211" y="16891"/>
                  </a:lnTo>
                  <a:lnTo>
                    <a:pt x="5625211" y="33909"/>
                  </a:lnTo>
                  <a:lnTo>
                    <a:pt x="16891" y="33909"/>
                  </a:lnTo>
                  <a:close/>
                </a:path>
              </a:pathLst>
            </a:custGeom>
            <a:solidFill>
              <a:srgbClr val="1B6B3A"/>
            </a:solidFill>
          </p:spPr>
        </p:sp>
      </p:grpSp>
      <p:grpSp>
        <p:nvGrpSpPr>
          <p:cNvPr name="Group 64" id="64"/>
          <p:cNvGrpSpPr/>
          <p:nvPr/>
        </p:nvGrpSpPr>
        <p:grpSpPr>
          <a:xfrm rot="0">
            <a:off x="1005840" y="4919472"/>
            <a:ext cx="4206240" cy="822960"/>
            <a:chOff x="0" y="0"/>
            <a:chExt cx="5608320" cy="1097280"/>
          </a:xfrm>
        </p:grpSpPr>
        <p:sp>
          <p:nvSpPr>
            <p:cNvPr name="Freeform 65" id="65"/>
            <p:cNvSpPr/>
            <p:nvPr/>
          </p:nvSpPr>
          <p:spPr>
            <a:xfrm flipH="false" flipV="false" rot="0">
              <a:off x="0" y="0"/>
              <a:ext cx="5608320" cy="1097280"/>
            </a:xfrm>
            <a:custGeom>
              <a:avLst/>
              <a:gdLst/>
              <a:ahLst/>
              <a:cxnLst/>
              <a:rect r="r" b="b" t="t" l="l"/>
              <a:pathLst>
                <a:path h="1097280" w="5608320">
                  <a:moveTo>
                    <a:pt x="0" y="0"/>
                  </a:moveTo>
                  <a:lnTo>
                    <a:pt x="5608320" y="0"/>
                  </a:lnTo>
                  <a:lnTo>
                    <a:pt x="5608320" y="1097280"/>
                  </a:lnTo>
                  <a:lnTo>
                    <a:pt x="0" y="1097280"/>
                  </a:lnTo>
                  <a:close/>
                </a:path>
              </a:pathLst>
            </a:custGeom>
            <a:blipFill>
              <a:blip r:embed="rId3">
                <a:alphaModFix amt="0"/>
              </a:blip>
              <a:stretch>
                <a:fillRect l="0" t="-49590" r="0" b="-49590"/>
              </a:stretch>
            </a:blipFill>
          </p:spPr>
        </p:sp>
        <p:sp>
          <p:nvSpPr>
            <p:cNvPr name="TextBox 66" id="66"/>
            <p:cNvSpPr txBox="true"/>
            <p:nvPr/>
          </p:nvSpPr>
          <p:spPr>
            <a:xfrm>
              <a:off x="0" y="-57150"/>
              <a:ext cx="5608320" cy="115443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1 credit = 1 tCO₂</a:t>
              </a:r>
            </a:p>
          </p:txBody>
        </p:sp>
      </p:grpSp>
      <p:grpSp>
        <p:nvGrpSpPr>
          <p:cNvPr name="Group 67" id="67"/>
          <p:cNvGrpSpPr/>
          <p:nvPr/>
        </p:nvGrpSpPr>
        <p:grpSpPr>
          <a:xfrm rot="0">
            <a:off x="5486400" y="5010912"/>
            <a:ext cx="11887200" cy="694944"/>
            <a:chOff x="0" y="0"/>
            <a:chExt cx="15849600" cy="926592"/>
          </a:xfrm>
        </p:grpSpPr>
        <p:sp>
          <p:nvSpPr>
            <p:cNvPr name="Freeform 68" id="68"/>
            <p:cNvSpPr/>
            <p:nvPr/>
          </p:nvSpPr>
          <p:spPr>
            <a:xfrm flipH="false" flipV="false" rot="0">
              <a:off x="0" y="0"/>
              <a:ext cx="15849600" cy="926592"/>
            </a:xfrm>
            <a:custGeom>
              <a:avLst/>
              <a:gdLst/>
              <a:ahLst/>
              <a:cxnLst/>
              <a:rect r="r" b="b" t="t" l="l"/>
              <a:pathLst>
                <a:path h="926592" w="15849600">
                  <a:moveTo>
                    <a:pt x="0" y="0"/>
                  </a:moveTo>
                  <a:lnTo>
                    <a:pt x="15849600" y="0"/>
                  </a:lnTo>
                  <a:lnTo>
                    <a:pt x="15849600" y="926592"/>
                  </a:lnTo>
                  <a:lnTo>
                    <a:pt x="0" y="926592"/>
                  </a:lnTo>
                  <a:close/>
                </a:path>
              </a:pathLst>
            </a:custGeom>
            <a:blipFill>
              <a:blip r:embed="rId3">
                <a:alphaModFix amt="0"/>
              </a:blip>
              <a:stretch>
                <a:fillRect l="0" t="-283296" r="0" b="-283296"/>
              </a:stretch>
            </a:blipFill>
          </p:spPr>
        </p:sp>
        <p:sp>
          <p:nvSpPr>
            <p:cNvPr name="TextBox 69" id="69"/>
            <p:cNvSpPr txBox="true"/>
            <p:nvPr/>
          </p:nvSpPr>
          <p:spPr>
            <a:xfrm>
              <a:off x="0" y="-57150"/>
              <a:ext cx="15849600" cy="983742"/>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Every credit offset = 1 metric tonne of CO₂ removed from atmosphere</a:t>
              </a:r>
            </a:p>
          </p:txBody>
        </p:sp>
      </p:grpSp>
      <p:grpSp>
        <p:nvGrpSpPr>
          <p:cNvPr name="Group 70" id="70"/>
          <p:cNvGrpSpPr/>
          <p:nvPr/>
        </p:nvGrpSpPr>
        <p:grpSpPr>
          <a:xfrm rot="0">
            <a:off x="993143" y="6040631"/>
            <a:ext cx="4231643" cy="848363"/>
            <a:chOff x="0" y="0"/>
            <a:chExt cx="5642191" cy="1131151"/>
          </a:xfrm>
        </p:grpSpPr>
        <p:sp>
          <p:nvSpPr>
            <p:cNvPr name="Freeform 71" id="71"/>
            <p:cNvSpPr/>
            <p:nvPr/>
          </p:nvSpPr>
          <p:spPr>
            <a:xfrm flipH="false" flipV="false" rot="0">
              <a:off x="16891" y="16891"/>
              <a:ext cx="5608320" cy="1097280"/>
            </a:xfrm>
            <a:custGeom>
              <a:avLst/>
              <a:gdLst/>
              <a:ahLst/>
              <a:cxnLst/>
              <a:rect r="r" b="b" t="t" l="l"/>
              <a:pathLst>
                <a:path h="1097280" w="5608320">
                  <a:moveTo>
                    <a:pt x="0" y="0"/>
                  </a:moveTo>
                  <a:lnTo>
                    <a:pt x="5608320" y="0"/>
                  </a:lnTo>
                  <a:lnTo>
                    <a:pt x="5608320" y="1097280"/>
                  </a:lnTo>
                  <a:lnTo>
                    <a:pt x="0" y="1097280"/>
                  </a:lnTo>
                  <a:close/>
                </a:path>
              </a:pathLst>
            </a:custGeom>
            <a:solidFill>
              <a:srgbClr val="1B6B3A"/>
            </a:solidFill>
          </p:spPr>
        </p:sp>
        <p:sp>
          <p:nvSpPr>
            <p:cNvPr name="Freeform 72" id="72"/>
            <p:cNvSpPr/>
            <p:nvPr/>
          </p:nvSpPr>
          <p:spPr>
            <a:xfrm flipH="false" flipV="false" rot="0">
              <a:off x="0" y="0"/>
              <a:ext cx="5642102" cy="1131064"/>
            </a:xfrm>
            <a:custGeom>
              <a:avLst/>
              <a:gdLst/>
              <a:ahLst/>
              <a:cxnLst/>
              <a:rect r="r" b="b" t="t" l="l"/>
              <a:pathLst>
                <a:path h="1131064" w="5642102">
                  <a:moveTo>
                    <a:pt x="16891" y="0"/>
                  </a:moveTo>
                  <a:lnTo>
                    <a:pt x="5625211" y="0"/>
                  </a:lnTo>
                  <a:cubicBezTo>
                    <a:pt x="5634609" y="0"/>
                    <a:pt x="5642102" y="7620"/>
                    <a:pt x="5642102" y="16891"/>
                  </a:cubicBezTo>
                  <a:lnTo>
                    <a:pt x="5642102" y="1114171"/>
                  </a:lnTo>
                  <a:cubicBezTo>
                    <a:pt x="5642102" y="1123569"/>
                    <a:pt x="5634482" y="1131062"/>
                    <a:pt x="56252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5625211" y="1097280"/>
                  </a:lnTo>
                  <a:lnTo>
                    <a:pt x="5625211" y="1114171"/>
                  </a:lnTo>
                  <a:lnTo>
                    <a:pt x="5608320" y="1114171"/>
                  </a:lnTo>
                  <a:lnTo>
                    <a:pt x="5608320" y="16891"/>
                  </a:lnTo>
                  <a:lnTo>
                    <a:pt x="5625211" y="16891"/>
                  </a:lnTo>
                  <a:lnTo>
                    <a:pt x="5625211" y="33909"/>
                  </a:lnTo>
                  <a:lnTo>
                    <a:pt x="16891" y="33909"/>
                  </a:lnTo>
                  <a:close/>
                </a:path>
              </a:pathLst>
            </a:custGeom>
            <a:solidFill>
              <a:srgbClr val="1B6B3A"/>
            </a:solidFill>
          </p:spPr>
        </p:sp>
      </p:grpSp>
      <p:grpSp>
        <p:nvGrpSpPr>
          <p:cNvPr name="Group 73" id="73"/>
          <p:cNvGrpSpPr/>
          <p:nvPr/>
        </p:nvGrpSpPr>
        <p:grpSpPr>
          <a:xfrm rot="0">
            <a:off x="1005840" y="6053328"/>
            <a:ext cx="4206240" cy="822960"/>
            <a:chOff x="0" y="0"/>
            <a:chExt cx="5608320" cy="1097280"/>
          </a:xfrm>
        </p:grpSpPr>
        <p:sp>
          <p:nvSpPr>
            <p:cNvPr name="Freeform 74" id="74"/>
            <p:cNvSpPr/>
            <p:nvPr/>
          </p:nvSpPr>
          <p:spPr>
            <a:xfrm flipH="false" flipV="false" rot="0">
              <a:off x="0" y="0"/>
              <a:ext cx="5608320" cy="1097280"/>
            </a:xfrm>
            <a:custGeom>
              <a:avLst/>
              <a:gdLst/>
              <a:ahLst/>
              <a:cxnLst/>
              <a:rect r="r" b="b" t="t" l="l"/>
              <a:pathLst>
                <a:path h="1097280" w="5608320">
                  <a:moveTo>
                    <a:pt x="0" y="0"/>
                  </a:moveTo>
                  <a:lnTo>
                    <a:pt x="5608320" y="0"/>
                  </a:lnTo>
                  <a:lnTo>
                    <a:pt x="5608320" y="1097280"/>
                  </a:lnTo>
                  <a:lnTo>
                    <a:pt x="0" y="1097280"/>
                  </a:lnTo>
                  <a:close/>
                </a:path>
              </a:pathLst>
            </a:custGeom>
            <a:blipFill>
              <a:blip r:embed="rId3">
                <a:alphaModFix amt="0"/>
              </a:blip>
              <a:stretch>
                <a:fillRect l="0" t="-49590" r="0" b="-49590"/>
              </a:stretch>
            </a:blipFill>
          </p:spPr>
        </p:sp>
        <p:sp>
          <p:nvSpPr>
            <p:cNvPr name="TextBox 75" id="75"/>
            <p:cNvSpPr txBox="true"/>
            <p:nvPr/>
          </p:nvSpPr>
          <p:spPr>
            <a:xfrm>
              <a:off x="0" y="-57150"/>
              <a:ext cx="5608320" cy="115443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92% stakeholders</a:t>
              </a:r>
            </a:p>
          </p:txBody>
        </p:sp>
      </p:grpSp>
      <p:grpSp>
        <p:nvGrpSpPr>
          <p:cNvPr name="Group 76" id="76"/>
          <p:cNvGrpSpPr/>
          <p:nvPr/>
        </p:nvGrpSpPr>
        <p:grpSpPr>
          <a:xfrm rot="0">
            <a:off x="5486400" y="6144768"/>
            <a:ext cx="11887200" cy="694944"/>
            <a:chOff x="0" y="0"/>
            <a:chExt cx="15849600" cy="926592"/>
          </a:xfrm>
        </p:grpSpPr>
        <p:sp>
          <p:nvSpPr>
            <p:cNvPr name="Freeform 77" id="77"/>
            <p:cNvSpPr/>
            <p:nvPr/>
          </p:nvSpPr>
          <p:spPr>
            <a:xfrm flipH="false" flipV="false" rot="0">
              <a:off x="0" y="0"/>
              <a:ext cx="15849600" cy="926592"/>
            </a:xfrm>
            <a:custGeom>
              <a:avLst/>
              <a:gdLst/>
              <a:ahLst/>
              <a:cxnLst/>
              <a:rect r="r" b="b" t="t" l="l"/>
              <a:pathLst>
                <a:path h="926592" w="15849600">
                  <a:moveTo>
                    <a:pt x="0" y="0"/>
                  </a:moveTo>
                  <a:lnTo>
                    <a:pt x="15849600" y="0"/>
                  </a:lnTo>
                  <a:lnTo>
                    <a:pt x="15849600" y="926592"/>
                  </a:lnTo>
                  <a:lnTo>
                    <a:pt x="0" y="926592"/>
                  </a:lnTo>
                  <a:close/>
                </a:path>
              </a:pathLst>
            </a:custGeom>
            <a:blipFill>
              <a:blip r:embed="rId3">
                <a:alphaModFix amt="0"/>
              </a:blip>
              <a:stretch>
                <a:fillRect l="0" t="-283296" r="0" b="-283296"/>
              </a:stretch>
            </a:blipFill>
          </p:spPr>
        </p:sp>
        <p:sp>
          <p:nvSpPr>
            <p:cNvPr name="TextBox 78" id="78"/>
            <p:cNvSpPr txBox="true"/>
            <p:nvPr/>
          </p:nvSpPr>
          <p:spPr>
            <a:xfrm>
              <a:off x="0" y="-57150"/>
              <a:ext cx="15849600" cy="983742"/>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Rated the platform as highly important for climate action (survey)</a:t>
              </a:r>
            </a:p>
          </p:txBody>
        </p:sp>
      </p:grpSp>
      <p:grpSp>
        <p:nvGrpSpPr>
          <p:cNvPr name="Group 79" id="79"/>
          <p:cNvGrpSpPr/>
          <p:nvPr/>
        </p:nvGrpSpPr>
        <p:grpSpPr>
          <a:xfrm rot="0">
            <a:off x="993143" y="7174487"/>
            <a:ext cx="4231643" cy="848363"/>
            <a:chOff x="0" y="0"/>
            <a:chExt cx="5642191" cy="1131151"/>
          </a:xfrm>
        </p:grpSpPr>
        <p:sp>
          <p:nvSpPr>
            <p:cNvPr name="Freeform 80" id="80"/>
            <p:cNvSpPr/>
            <p:nvPr/>
          </p:nvSpPr>
          <p:spPr>
            <a:xfrm flipH="false" flipV="false" rot="0">
              <a:off x="16891" y="16891"/>
              <a:ext cx="5608320" cy="1097280"/>
            </a:xfrm>
            <a:custGeom>
              <a:avLst/>
              <a:gdLst/>
              <a:ahLst/>
              <a:cxnLst/>
              <a:rect r="r" b="b" t="t" l="l"/>
              <a:pathLst>
                <a:path h="1097280" w="5608320">
                  <a:moveTo>
                    <a:pt x="0" y="0"/>
                  </a:moveTo>
                  <a:lnTo>
                    <a:pt x="5608320" y="0"/>
                  </a:lnTo>
                  <a:lnTo>
                    <a:pt x="5608320" y="1097280"/>
                  </a:lnTo>
                  <a:lnTo>
                    <a:pt x="0" y="1097280"/>
                  </a:lnTo>
                  <a:close/>
                </a:path>
              </a:pathLst>
            </a:custGeom>
            <a:solidFill>
              <a:srgbClr val="1B6B3A"/>
            </a:solidFill>
          </p:spPr>
        </p:sp>
        <p:sp>
          <p:nvSpPr>
            <p:cNvPr name="Freeform 81" id="81"/>
            <p:cNvSpPr/>
            <p:nvPr/>
          </p:nvSpPr>
          <p:spPr>
            <a:xfrm flipH="false" flipV="false" rot="0">
              <a:off x="0" y="0"/>
              <a:ext cx="5642102" cy="1131064"/>
            </a:xfrm>
            <a:custGeom>
              <a:avLst/>
              <a:gdLst/>
              <a:ahLst/>
              <a:cxnLst/>
              <a:rect r="r" b="b" t="t" l="l"/>
              <a:pathLst>
                <a:path h="1131064" w="5642102">
                  <a:moveTo>
                    <a:pt x="16891" y="0"/>
                  </a:moveTo>
                  <a:lnTo>
                    <a:pt x="5625211" y="0"/>
                  </a:lnTo>
                  <a:cubicBezTo>
                    <a:pt x="5634609" y="0"/>
                    <a:pt x="5642102" y="7620"/>
                    <a:pt x="5642102" y="16891"/>
                  </a:cubicBezTo>
                  <a:lnTo>
                    <a:pt x="5642102" y="1114171"/>
                  </a:lnTo>
                  <a:cubicBezTo>
                    <a:pt x="5642102" y="1123569"/>
                    <a:pt x="5634482" y="1131062"/>
                    <a:pt x="56252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5625211" y="1097280"/>
                  </a:lnTo>
                  <a:lnTo>
                    <a:pt x="5625211" y="1114171"/>
                  </a:lnTo>
                  <a:lnTo>
                    <a:pt x="5608320" y="1114171"/>
                  </a:lnTo>
                  <a:lnTo>
                    <a:pt x="5608320" y="16891"/>
                  </a:lnTo>
                  <a:lnTo>
                    <a:pt x="5625211" y="16891"/>
                  </a:lnTo>
                  <a:lnTo>
                    <a:pt x="5625211" y="33909"/>
                  </a:lnTo>
                  <a:lnTo>
                    <a:pt x="16891" y="33909"/>
                  </a:lnTo>
                  <a:close/>
                </a:path>
              </a:pathLst>
            </a:custGeom>
            <a:solidFill>
              <a:srgbClr val="1B6B3A"/>
            </a:solidFill>
          </p:spPr>
        </p:sp>
      </p:grpSp>
      <p:grpSp>
        <p:nvGrpSpPr>
          <p:cNvPr name="Group 82" id="82"/>
          <p:cNvGrpSpPr/>
          <p:nvPr/>
        </p:nvGrpSpPr>
        <p:grpSpPr>
          <a:xfrm rot="0">
            <a:off x="1005840" y="7187184"/>
            <a:ext cx="4206240" cy="822960"/>
            <a:chOff x="0" y="0"/>
            <a:chExt cx="5608320" cy="1097280"/>
          </a:xfrm>
        </p:grpSpPr>
        <p:sp>
          <p:nvSpPr>
            <p:cNvPr name="Freeform 83" id="83"/>
            <p:cNvSpPr/>
            <p:nvPr/>
          </p:nvSpPr>
          <p:spPr>
            <a:xfrm flipH="false" flipV="false" rot="0">
              <a:off x="0" y="0"/>
              <a:ext cx="5608320" cy="1097280"/>
            </a:xfrm>
            <a:custGeom>
              <a:avLst/>
              <a:gdLst/>
              <a:ahLst/>
              <a:cxnLst/>
              <a:rect r="r" b="b" t="t" l="l"/>
              <a:pathLst>
                <a:path h="1097280" w="5608320">
                  <a:moveTo>
                    <a:pt x="0" y="0"/>
                  </a:moveTo>
                  <a:lnTo>
                    <a:pt x="5608320" y="0"/>
                  </a:lnTo>
                  <a:lnTo>
                    <a:pt x="5608320" y="1097280"/>
                  </a:lnTo>
                  <a:lnTo>
                    <a:pt x="0" y="1097280"/>
                  </a:lnTo>
                  <a:close/>
                </a:path>
              </a:pathLst>
            </a:custGeom>
            <a:blipFill>
              <a:blip r:embed="rId3">
                <a:alphaModFix amt="0"/>
              </a:blip>
              <a:stretch>
                <a:fillRect l="0" t="-49590" r="0" b="-49590"/>
              </a:stretch>
            </a:blipFill>
          </p:spPr>
        </p:sp>
        <p:sp>
          <p:nvSpPr>
            <p:cNvPr name="TextBox 84" id="84"/>
            <p:cNvSpPr txBox="true"/>
            <p:nvPr/>
          </p:nvSpPr>
          <p:spPr>
            <a:xfrm>
              <a:off x="0" y="-57150"/>
              <a:ext cx="5608320" cy="115443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SDG 13</a:t>
              </a:r>
            </a:p>
          </p:txBody>
        </p:sp>
      </p:grpSp>
      <p:grpSp>
        <p:nvGrpSpPr>
          <p:cNvPr name="Group 85" id="85"/>
          <p:cNvGrpSpPr/>
          <p:nvPr/>
        </p:nvGrpSpPr>
        <p:grpSpPr>
          <a:xfrm rot="0">
            <a:off x="5486400" y="7278624"/>
            <a:ext cx="11887200" cy="694944"/>
            <a:chOff x="0" y="0"/>
            <a:chExt cx="15849600" cy="926592"/>
          </a:xfrm>
        </p:grpSpPr>
        <p:sp>
          <p:nvSpPr>
            <p:cNvPr name="Freeform 86" id="86"/>
            <p:cNvSpPr/>
            <p:nvPr/>
          </p:nvSpPr>
          <p:spPr>
            <a:xfrm flipH="false" flipV="false" rot="0">
              <a:off x="0" y="0"/>
              <a:ext cx="15849600" cy="926592"/>
            </a:xfrm>
            <a:custGeom>
              <a:avLst/>
              <a:gdLst/>
              <a:ahLst/>
              <a:cxnLst/>
              <a:rect r="r" b="b" t="t" l="l"/>
              <a:pathLst>
                <a:path h="926592" w="15849600">
                  <a:moveTo>
                    <a:pt x="0" y="0"/>
                  </a:moveTo>
                  <a:lnTo>
                    <a:pt x="15849600" y="0"/>
                  </a:lnTo>
                  <a:lnTo>
                    <a:pt x="15849600" y="926592"/>
                  </a:lnTo>
                  <a:lnTo>
                    <a:pt x="0" y="926592"/>
                  </a:lnTo>
                  <a:close/>
                </a:path>
              </a:pathLst>
            </a:custGeom>
            <a:blipFill>
              <a:blip r:embed="rId3">
                <a:alphaModFix amt="0"/>
              </a:blip>
              <a:stretch>
                <a:fillRect l="0" t="-283296" r="0" b="-283296"/>
              </a:stretch>
            </a:blipFill>
          </p:spPr>
        </p:sp>
        <p:sp>
          <p:nvSpPr>
            <p:cNvPr name="TextBox 87" id="87"/>
            <p:cNvSpPr txBox="true"/>
            <p:nvPr/>
          </p:nvSpPr>
          <p:spPr>
            <a:xfrm>
              <a:off x="0" y="-57150"/>
              <a:ext cx="15849600" cy="983742"/>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Supporting UN Sustainable Development Goal 13: Climate Action</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29179" y="351539"/>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171195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6816" y="402336"/>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171195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258070" y="10046722"/>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47267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56182" y="9920740"/>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47267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27177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27177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914400" y="402336"/>
            <a:ext cx="16459200" cy="1005840"/>
            <a:chOff x="0" y="0"/>
            <a:chExt cx="21945600" cy="1341120"/>
          </a:xfrm>
        </p:grpSpPr>
        <p:sp>
          <p:nvSpPr>
            <p:cNvPr name="Freeform 35" id="3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36" id="36"/>
            <p:cNvSpPr txBox="true"/>
            <p:nvPr/>
          </p:nvSpPr>
          <p:spPr>
            <a:xfrm>
              <a:off x="0" y="-95250"/>
              <a:ext cx="21945600" cy="1436370"/>
            </a:xfrm>
            <a:prstGeom prst="rect">
              <a:avLst/>
            </a:prstGeom>
          </p:spPr>
          <p:txBody>
            <a:bodyPr anchor="ctr" rtlCol="false" tIns="0" lIns="0" bIns="0" rIns="0"/>
            <a:lstStyle/>
            <a:p>
              <a:pPr algn="ctr">
                <a:lnSpc>
                  <a:spcPts val="5520"/>
                </a:lnSpc>
              </a:pPr>
              <a:r>
                <a:rPr lang="en-US" sz="4600" b="true">
                  <a:solidFill>
                    <a:srgbClr val="1A1A1A"/>
                  </a:solidFill>
                  <a:latin typeface="Times New Roman MT Bold"/>
                  <a:ea typeface="Times New Roman MT Bold"/>
                  <a:cs typeface="Times New Roman MT Bold"/>
                  <a:sym typeface="Times New Roman MT Bold"/>
                </a:rPr>
                <a:t>Conclusion</a:t>
              </a:r>
            </a:p>
          </p:txBody>
        </p:sp>
      </p:grpSp>
      <p:sp>
        <p:nvSpPr>
          <p:cNvPr name="TextBox 37" id="37"/>
          <p:cNvSpPr txBox="true"/>
          <p:nvPr/>
        </p:nvSpPr>
        <p:spPr>
          <a:xfrm rot="0">
            <a:off x="1428502" y="2192650"/>
            <a:ext cx="15727680" cy="3819525"/>
          </a:xfrm>
          <a:prstGeom prst="rect">
            <a:avLst/>
          </a:prstGeom>
        </p:spPr>
        <p:txBody>
          <a:bodyPr anchor="t" rtlCol="false" tIns="0" lIns="0" bIns="0" rIns="0">
            <a:spAutoFit/>
          </a:bodyPr>
          <a:lstStyle/>
          <a:p>
            <a:pPr algn="l">
              <a:lnSpc>
                <a:spcPts val="3359"/>
              </a:lnSpc>
            </a:pPr>
            <a:r>
              <a:rPr lang="en-US" sz="2799">
                <a:solidFill>
                  <a:srgbClr val="1A1A1A"/>
                </a:solidFill>
                <a:latin typeface="Calibri (MS)"/>
                <a:ea typeface="Calibri (MS)"/>
                <a:cs typeface="Calibri (MS)"/>
                <a:sym typeface="Calibri (MS)"/>
              </a:rPr>
              <a:t>In conclusion, The Green Ledgers Carbon Marketplace Simulation successfully demonstrates how a carbon credit marketplace works — making carbon trading simple, transparent, and accessible. The project was built as a fully deployed website with 6 interactive pages, a live trading interface with INR pricing and GST calculation, a portfolio dashboard, and real data analytics powered by 5,000 transaction records from Kaggle.</a:t>
            </a:r>
          </a:p>
          <a:p>
            <a:pPr algn="l">
              <a:lnSpc>
                <a:spcPts val="3359"/>
              </a:lnSpc>
            </a:pPr>
          </a:p>
          <a:p>
            <a:pPr algn="l">
              <a:lnSpc>
                <a:spcPts val="3359"/>
              </a:lnSpc>
            </a:pPr>
            <a:r>
              <a:rPr lang="en-US" sz="2799">
                <a:solidFill>
                  <a:srgbClr val="1A1A1A"/>
                </a:solidFill>
                <a:latin typeface="Calibri (MS)"/>
                <a:ea typeface="Calibri (MS)"/>
                <a:cs typeface="Calibri (MS)"/>
                <a:sym typeface="Calibri (MS)"/>
              </a:rPr>
              <a:t>With 17 stakeholders surveyed and 92% rating the platform as highly important, the project proves strong real-world relevance. In the future, this system could be expanded by integrating real carbon market data, blockchain-based credit tracking, and advanced analytics to support real-world carbon trading platforms.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7017" y="-561337"/>
            <a:ext cx="1305563" cy="2585723"/>
            <a:chOff x="0" y="0"/>
            <a:chExt cx="1740751" cy="3447631"/>
          </a:xfrm>
        </p:grpSpPr>
        <p:sp>
          <p:nvSpPr>
            <p:cNvPr name="Freeform 3" id="3"/>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4" id="4"/>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5" id="5"/>
          <p:cNvGrpSpPr/>
          <p:nvPr/>
        </p:nvGrpSpPr>
        <p:grpSpPr>
          <a:xfrm rot="0">
            <a:off x="17269463" y="-561337"/>
            <a:ext cx="1305563" cy="2585723"/>
            <a:chOff x="0" y="0"/>
            <a:chExt cx="1740751" cy="3447631"/>
          </a:xfrm>
        </p:grpSpPr>
        <p:sp>
          <p:nvSpPr>
            <p:cNvPr name="Freeform 6" id="6"/>
            <p:cNvSpPr/>
            <p:nvPr/>
          </p:nvSpPr>
          <p:spPr>
            <a:xfrm flipH="false" flipV="false" rot="0">
              <a:off x="16891" y="16891"/>
              <a:ext cx="1706880" cy="3413887"/>
            </a:xfrm>
            <a:custGeom>
              <a:avLst/>
              <a:gdLst/>
              <a:ahLst/>
              <a:cxnLst/>
              <a:rect r="r" b="b" t="t" l="l"/>
              <a:pathLst>
                <a:path h="3413887" w="1706880">
                  <a:moveTo>
                    <a:pt x="0" y="492506"/>
                  </a:moveTo>
                  <a:cubicBezTo>
                    <a:pt x="0" y="220472"/>
                    <a:pt x="218313" y="0"/>
                    <a:pt x="487680" y="0"/>
                  </a:cubicBezTo>
                  <a:lnTo>
                    <a:pt x="1219200" y="0"/>
                  </a:lnTo>
                  <a:cubicBezTo>
                    <a:pt x="1488567" y="0"/>
                    <a:pt x="1706880" y="220472"/>
                    <a:pt x="1706880" y="492506"/>
                  </a:cubicBezTo>
                  <a:lnTo>
                    <a:pt x="1706880" y="2921381"/>
                  </a:lnTo>
                  <a:cubicBezTo>
                    <a:pt x="1706880" y="3193415"/>
                    <a:pt x="1488567" y="3413887"/>
                    <a:pt x="1219200" y="3413887"/>
                  </a:cubicBezTo>
                  <a:lnTo>
                    <a:pt x="487680" y="3413887"/>
                  </a:lnTo>
                  <a:cubicBezTo>
                    <a:pt x="218313" y="3413887"/>
                    <a:pt x="0" y="3193415"/>
                    <a:pt x="0" y="2921381"/>
                  </a:cubicBezTo>
                  <a:close/>
                </a:path>
              </a:pathLst>
            </a:custGeom>
            <a:solidFill>
              <a:srgbClr val="F5EDD0"/>
            </a:solidFill>
          </p:spPr>
        </p:sp>
        <p:sp>
          <p:nvSpPr>
            <p:cNvPr name="Freeform 7" id="7"/>
            <p:cNvSpPr/>
            <p:nvPr/>
          </p:nvSpPr>
          <p:spPr>
            <a:xfrm flipH="false" flipV="false" rot="0">
              <a:off x="0" y="0"/>
              <a:ext cx="1740662" cy="3447669"/>
            </a:xfrm>
            <a:custGeom>
              <a:avLst/>
              <a:gdLst/>
              <a:ahLst/>
              <a:cxnLst/>
              <a:rect r="r" b="b" t="t" l="l"/>
              <a:pathLst>
                <a:path h="3447669" w="1740662">
                  <a:moveTo>
                    <a:pt x="0" y="509397"/>
                  </a:moveTo>
                  <a:cubicBezTo>
                    <a:pt x="0" y="228219"/>
                    <a:pt x="225806" y="0"/>
                    <a:pt x="504571" y="0"/>
                  </a:cubicBezTo>
                  <a:lnTo>
                    <a:pt x="1236091" y="0"/>
                  </a:lnTo>
                  <a:lnTo>
                    <a:pt x="1236091" y="16891"/>
                  </a:lnTo>
                  <a:lnTo>
                    <a:pt x="1236091" y="0"/>
                  </a:lnTo>
                  <a:lnTo>
                    <a:pt x="1236091" y="16891"/>
                  </a:lnTo>
                  <a:lnTo>
                    <a:pt x="1236091" y="0"/>
                  </a:lnTo>
                  <a:cubicBezTo>
                    <a:pt x="1514983" y="0"/>
                    <a:pt x="1740662" y="228219"/>
                    <a:pt x="1740662" y="509397"/>
                  </a:cubicBezTo>
                  <a:lnTo>
                    <a:pt x="1740662" y="2938272"/>
                  </a:lnTo>
                  <a:lnTo>
                    <a:pt x="1723771" y="2938272"/>
                  </a:lnTo>
                  <a:lnTo>
                    <a:pt x="1740662" y="2938272"/>
                  </a:lnTo>
                  <a:cubicBezTo>
                    <a:pt x="1740662" y="3219450"/>
                    <a:pt x="1514856" y="3447669"/>
                    <a:pt x="1236091" y="3447669"/>
                  </a:cubicBezTo>
                  <a:lnTo>
                    <a:pt x="1236091" y="3430778"/>
                  </a:lnTo>
                  <a:lnTo>
                    <a:pt x="1236091" y="3447669"/>
                  </a:lnTo>
                  <a:lnTo>
                    <a:pt x="504571" y="3447669"/>
                  </a:lnTo>
                  <a:lnTo>
                    <a:pt x="504571" y="3430778"/>
                  </a:lnTo>
                  <a:lnTo>
                    <a:pt x="504571" y="3447669"/>
                  </a:lnTo>
                  <a:cubicBezTo>
                    <a:pt x="225806" y="3447669"/>
                    <a:pt x="0" y="3219450"/>
                    <a:pt x="0" y="2938272"/>
                  </a:cubicBezTo>
                  <a:lnTo>
                    <a:pt x="0" y="509397"/>
                  </a:lnTo>
                  <a:lnTo>
                    <a:pt x="16891" y="509397"/>
                  </a:lnTo>
                  <a:lnTo>
                    <a:pt x="0" y="509397"/>
                  </a:lnTo>
                  <a:moveTo>
                    <a:pt x="33909" y="509397"/>
                  </a:moveTo>
                  <a:lnTo>
                    <a:pt x="33909" y="2938272"/>
                  </a:lnTo>
                  <a:lnTo>
                    <a:pt x="16891" y="2938272"/>
                  </a:lnTo>
                  <a:lnTo>
                    <a:pt x="33909" y="2938272"/>
                  </a:lnTo>
                  <a:cubicBezTo>
                    <a:pt x="33909" y="3201035"/>
                    <a:pt x="244856" y="3413760"/>
                    <a:pt x="504698" y="3413760"/>
                  </a:cubicBezTo>
                  <a:lnTo>
                    <a:pt x="1236218" y="3413760"/>
                  </a:lnTo>
                  <a:cubicBezTo>
                    <a:pt x="1496060" y="3413760"/>
                    <a:pt x="1707007" y="3201035"/>
                    <a:pt x="1707007" y="2938272"/>
                  </a:cubicBezTo>
                  <a:lnTo>
                    <a:pt x="1707007" y="509397"/>
                  </a:lnTo>
                  <a:lnTo>
                    <a:pt x="1723898" y="509397"/>
                  </a:lnTo>
                  <a:lnTo>
                    <a:pt x="1707007" y="509397"/>
                  </a:lnTo>
                  <a:cubicBezTo>
                    <a:pt x="1707007" y="246634"/>
                    <a:pt x="1496060" y="33909"/>
                    <a:pt x="1236218" y="33909"/>
                  </a:cubicBezTo>
                  <a:lnTo>
                    <a:pt x="504571" y="33909"/>
                  </a:lnTo>
                  <a:lnTo>
                    <a:pt x="504571" y="16891"/>
                  </a:lnTo>
                  <a:lnTo>
                    <a:pt x="504571" y="33909"/>
                  </a:lnTo>
                  <a:cubicBezTo>
                    <a:pt x="244729" y="33909"/>
                    <a:pt x="33909" y="246634"/>
                    <a:pt x="33909" y="509397"/>
                  </a:cubicBezTo>
                  <a:close/>
                </a:path>
              </a:pathLst>
            </a:custGeom>
            <a:solidFill>
              <a:srgbClr val="F5EDD0"/>
            </a:solidFill>
          </p:spPr>
        </p:sp>
      </p:grpSp>
      <p:grpSp>
        <p:nvGrpSpPr>
          <p:cNvPr name="Group 8" id="8"/>
          <p:cNvGrpSpPr/>
          <p:nvPr/>
        </p:nvGrpSpPr>
        <p:grpSpPr>
          <a:xfrm rot="0">
            <a:off x="329179" y="271328"/>
            <a:ext cx="873757" cy="50797"/>
            <a:chOff x="0" y="0"/>
            <a:chExt cx="1165009" cy="67729"/>
          </a:xfrm>
        </p:grpSpPr>
        <p:sp>
          <p:nvSpPr>
            <p:cNvPr name="Freeform 9" id="9"/>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0" id="10"/>
          <p:cNvGrpSpPr/>
          <p:nvPr/>
        </p:nvGrpSpPr>
        <p:grpSpPr>
          <a:xfrm rot="0">
            <a:off x="303781" y="2352037"/>
            <a:ext cx="50797" cy="1056637"/>
            <a:chOff x="0" y="0"/>
            <a:chExt cx="67729" cy="1408849"/>
          </a:xfrm>
        </p:grpSpPr>
        <p:sp>
          <p:nvSpPr>
            <p:cNvPr name="Freeform 11" id="11"/>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2" id="12"/>
          <p:cNvGrpSpPr/>
          <p:nvPr/>
        </p:nvGrpSpPr>
        <p:grpSpPr>
          <a:xfrm rot="0">
            <a:off x="17116816" y="322125"/>
            <a:ext cx="873757" cy="50797"/>
            <a:chOff x="0" y="0"/>
            <a:chExt cx="1165009" cy="67729"/>
          </a:xfrm>
        </p:grpSpPr>
        <p:sp>
          <p:nvSpPr>
            <p:cNvPr name="Freeform 13" id="13"/>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4" id="14"/>
          <p:cNvGrpSpPr/>
          <p:nvPr/>
        </p:nvGrpSpPr>
        <p:grpSpPr>
          <a:xfrm rot="0">
            <a:off x="17933413" y="2352037"/>
            <a:ext cx="50797" cy="1056637"/>
            <a:chOff x="0" y="0"/>
            <a:chExt cx="67729" cy="1408849"/>
          </a:xfrm>
        </p:grpSpPr>
        <p:sp>
          <p:nvSpPr>
            <p:cNvPr name="Freeform 15" id="15"/>
            <p:cNvSpPr/>
            <p:nvPr/>
          </p:nvSpPr>
          <p:spPr>
            <a:xfrm flipH="false" flipV="false" rot="0">
              <a:off x="0" y="33909"/>
              <a:ext cx="67691" cy="1341120"/>
            </a:xfrm>
            <a:custGeom>
              <a:avLst/>
              <a:gdLst/>
              <a:ahLst/>
              <a:cxnLst/>
              <a:rect r="r" b="b" t="t" l="l"/>
              <a:pathLst>
                <a:path h="1341120" w="67691">
                  <a:moveTo>
                    <a:pt x="67691" y="0"/>
                  </a:moveTo>
                  <a:lnTo>
                    <a:pt x="67691" y="1341120"/>
                  </a:lnTo>
                  <a:lnTo>
                    <a:pt x="0" y="1341120"/>
                  </a:lnTo>
                  <a:lnTo>
                    <a:pt x="0" y="0"/>
                  </a:lnTo>
                  <a:close/>
                </a:path>
              </a:pathLst>
            </a:custGeom>
            <a:solidFill>
              <a:srgbClr val="1A1A1A"/>
            </a:solidFill>
          </p:spPr>
        </p:sp>
      </p:grpSp>
      <p:grpSp>
        <p:nvGrpSpPr>
          <p:cNvPr name="Group 16" id="16"/>
          <p:cNvGrpSpPr/>
          <p:nvPr/>
        </p:nvGrpSpPr>
        <p:grpSpPr>
          <a:xfrm rot="0">
            <a:off x="329179" y="10065772"/>
            <a:ext cx="873757" cy="50797"/>
            <a:chOff x="0" y="0"/>
            <a:chExt cx="1165009" cy="67729"/>
          </a:xfrm>
        </p:grpSpPr>
        <p:sp>
          <p:nvSpPr>
            <p:cNvPr name="Freeform 17" id="17"/>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18" id="18"/>
          <p:cNvGrpSpPr/>
          <p:nvPr/>
        </p:nvGrpSpPr>
        <p:grpSpPr>
          <a:xfrm rot="0">
            <a:off x="303781" y="7838437"/>
            <a:ext cx="50797" cy="965197"/>
            <a:chOff x="0" y="0"/>
            <a:chExt cx="67729" cy="1286929"/>
          </a:xfrm>
        </p:grpSpPr>
        <p:sp>
          <p:nvSpPr>
            <p:cNvPr name="Freeform 19" id="19"/>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0" id="20"/>
          <p:cNvGrpSpPr/>
          <p:nvPr/>
        </p:nvGrpSpPr>
        <p:grpSpPr>
          <a:xfrm rot="0">
            <a:off x="17110453" y="9946138"/>
            <a:ext cx="873757" cy="50797"/>
            <a:chOff x="0" y="0"/>
            <a:chExt cx="1165009" cy="67729"/>
          </a:xfrm>
        </p:grpSpPr>
        <p:sp>
          <p:nvSpPr>
            <p:cNvPr name="Freeform 21" id="21"/>
            <p:cNvSpPr/>
            <p:nvPr/>
          </p:nvSpPr>
          <p:spPr>
            <a:xfrm flipH="false" flipV="false" rot="0">
              <a:off x="33909" y="0"/>
              <a:ext cx="1097280" cy="67691"/>
            </a:xfrm>
            <a:custGeom>
              <a:avLst/>
              <a:gdLst/>
              <a:ahLst/>
              <a:cxnLst/>
              <a:rect r="r" b="b" t="t" l="l"/>
              <a:pathLst>
                <a:path h="67691" w="1097280">
                  <a:moveTo>
                    <a:pt x="0" y="0"/>
                  </a:moveTo>
                  <a:lnTo>
                    <a:pt x="1097280" y="0"/>
                  </a:lnTo>
                  <a:lnTo>
                    <a:pt x="1097280" y="67691"/>
                  </a:lnTo>
                  <a:lnTo>
                    <a:pt x="0" y="67691"/>
                  </a:lnTo>
                  <a:close/>
                </a:path>
              </a:pathLst>
            </a:custGeom>
            <a:solidFill>
              <a:srgbClr val="1A1A1A"/>
            </a:solidFill>
          </p:spPr>
        </p:sp>
      </p:grpSp>
      <p:grpSp>
        <p:nvGrpSpPr>
          <p:cNvPr name="Group 22" id="22"/>
          <p:cNvGrpSpPr/>
          <p:nvPr/>
        </p:nvGrpSpPr>
        <p:grpSpPr>
          <a:xfrm rot="0">
            <a:off x="17933413" y="7838437"/>
            <a:ext cx="50797" cy="965197"/>
            <a:chOff x="0" y="0"/>
            <a:chExt cx="67729" cy="1286929"/>
          </a:xfrm>
        </p:grpSpPr>
        <p:sp>
          <p:nvSpPr>
            <p:cNvPr name="Freeform 23" id="23"/>
            <p:cNvSpPr/>
            <p:nvPr/>
          </p:nvSpPr>
          <p:spPr>
            <a:xfrm flipH="false" flipV="false" rot="0">
              <a:off x="0" y="33909"/>
              <a:ext cx="67691" cy="1219200"/>
            </a:xfrm>
            <a:custGeom>
              <a:avLst/>
              <a:gdLst/>
              <a:ahLst/>
              <a:cxnLst/>
              <a:rect r="r" b="b" t="t" l="l"/>
              <a:pathLst>
                <a:path h="1219200" w="67691">
                  <a:moveTo>
                    <a:pt x="67691" y="0"/>
                  </a:moveTo>
                  <a:lnTo>
                    <a:pt x="67691" y="1219200"/>
                  </a:lnTo>
                  <a:lnTo>
                    <a:pt x="0" y="1219200"/>
                  </a:lnTo>
                  <a:lnTo>
                    <a:pt x="0" y="0"/>
                  </a:lnTo>
                  <a:close/>
                </a:path>
              </a:pathLst>
            </a:custGeom>
            <a:solidFill>
              <a:srgbClr val="1A1A1A"/>
            </a:solidFill>
          </p:spPr>
        </p:sp>
      </p:grpSp>
      <p:grpSp>
        <p:nvGrpSpPr>
          <p:cNvPr name="Group 24" id="24"/>
          <p:cNvGrpSpPr/>
          <p:nvPr/>
        </p:nvGrpSpPr>
        <p:grpSpPr>
          <a:xfrm rot="0">
            <a:off x="297437" y="5637533"/>
            <a:ext cx="795023" cy="63503"/>
            <a:chOff x="0" y="0"/>
            <a:chExt cx="1060031" cy="84671"/>
          </a:xfrm>
        </p:grpSpPr>
        <p:sp>
          <p:nvSpPr>
            <p:cNvPr name="Freeform 25" id="25"/>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6" id="26"/>
          <p:cNvGrpSpPr/>
          <p:nvPr/>
        </p:nvGrpSpPr>
        <p:grpSpPr>
          <a:xfrm rot="0">
            <a:off x="17195549" y="5637533"/>
            <a:ext cx="795023" cy="63503"/>
            <a:chOff x="0" y="0"/>
            <a:chExt cx="1060031" cy="84671"/>
          </a:xfrm>
        </p:grpSpPr>
        <p:sp>
          <p:nvSpPr>
            <p:cNvPr name="Freeform 27" id="27"/>
            <p:cNvSpPr/>
            <p:nvPr/>
          </p:nvSpPr>
          <p:spPr>
            <a:xfrm flipH="false" flipV="false" rot="0">
              <a:off x="42291" y="0"/>
              <a:ext cx="975360" cy="84709"/>
            </a:xfrm>
            <a:custGeom>
              <a:avLst/>
              <a:gdLst/>
              <a:ahLst/>
              <a:cxnLst/>
              <a:rect r="r" b="b" t="t" l="l"/>
              <a:pathLst>
                <a:path h="84709" w="975360">
                  <a:moveTo>
                    <a:pt x="0" y="0"/>
                  </a:moveTo>
                  <a:lnTo>
                    <a:pt x="975360" y="0"/>
                  </a:lnTo>
                  <a:lnTo>
                    <a:pt x="975360" y="84709"/>
                  </a:lnTo>
                  <a:lnTo>
                    <a:pt x="0" y="84709"/>
                  </a:lnTo>
                  <a:close/>
                </a:path>
              </a:pathLst>
            </a:custGeom>
            <a:solidFill>
              <a:srgbClr val="1A1A1A"/>
            </a:solidFill>
          </p:spPr>
        </p:sp>
      </p:grpSp>
      <p:grpSp>
        <p:nvGrpSpPr>
          <p:cNvPr name="Group 28" id="28"/>
          <p:cNvGrpSpPr/>
          <p:nvPr/>
        </p:nvGrpSpPr>
        <p:grpSpPr>
          <a:xfrm rot="0">
            <a:off x="-12697" y="9643367"/>
            <a:ext cx="18313403" cy="656339"/>
            <a:chOff x="0" y="0"/>
            <a:chExt cx="24417871" cy="875119"/>
          </a:xfrm>
        </p:grpSpPr>
        <p:sp>
          <p:nvSpPr>
            <p:cNvPr name="Freeform 29" id="29"/>
            <p:cNvSpPr/>
            <p:nvPr/>
          </p:nvSpPr>
          <p:spPr>
            <a:xfrm flipH="false" flipV="false" rot="0">
              <a:off x="16891" y="16891"/>
              <a:ext cx="24383999" cy="841248"/>
            </a:xfrm>
            <a:custGeom>
              <a:avLst/>
              <a:gdLst/>
              <a:ahLst/>
              <a:cxnLst/>
              <a:rect r="r" b="b" t="t" l="l"/>
              <a:pathLst>
                <a:path h="841248" w="24383999">
                  <a:moveTo>
                    <a:pt x="0" y="0"/>
                  </a:moveTo>
                  <a:lnTo>
                    <a:pt x="24383999" y="0"/>
                  </a:lnTo>
                  <a:lnTo>
                    <a:pt x="24383999" y="841248"/>
                  </a:lnTo>
                  <a:lnTo>
                    <a:pt x="0" y="841248"/>
                  </a:lnTo>
                  <a:close/>
                </a:path>
              </a:pathLst>
            </a:custGeom>
            <a:solidFill>
              <a:srgbClr val="F5EDD0"/>
            </a:solidFill>
          </p:spPr>
        </p:sp>
        <p:sp>
          <p:nvSpPr>
            <p:cNvPr name="Freeform 30" id="30"/>
            <p:cNvSpPr/>
            <p:nvPr/>
          </p:nvSpPr>
          <p:spPr>
            <a:xfrm flipH="false" flipV="false" rot="0">
              <a:off x="0" y="0"/>
              <a:ext cx="24417782" cy="875032"/>
            </a:xfrm>
            <a:custGeom>
              <a:avLst/>
              <a:gdLst/>
              <a:ahLst/>
              <a:cxnLst/>
              <a:rect r="r" b="b" t="t" l="l"/>
              <a:pathLst>
                <a:path h="875032" w="24417782">
                  <a:moveTo>
                    <a:pt x="16891" y="0"/>
                  </a:moveTo>
                  <a:lnTo>
                    <a:pt x="24400890" y="0"/>
                  </a:lnTo>
                  <a:cubicBezTo>
                    <a:pt x="24410290" y="0"/>
                    <a:pt x="24417782" y="7620"/>
                    <a:pt x="24417782" y="16891"/>
                  </a:cubicBezTo>
                  <a:lnTo>
                    <a:pt x="24417782" y="858139"/>
                  </a:lnTo>
                  <a:cubicBezTo>
                    <a:pt x="24417782" y="867537"/>
                    <a:pt x="24410163" y="875030"/>
                    <a:pt x="24400890" y="875030"/>
                  </a:cubicBezTo>
                  <a:lnTo>
                    <a:pt x="16891" y="875030"/>
                  </a:lnTo>
                  <a:cubicBezTo>
                    <a:pt x="7620" y="875157"/>
                    <a:pt x="0" y="867537"/>
                    <a:pt x="0" y="858139"/>
                  </a:cubicBezTo>
                  <a:lnTo>
                    <a:pt x="0" y="16891"/>
                  </a:lnTo>
                  <a:cubicBezTo>
                    <a:pt x="0" y="7620"/>
                    <a:pt x="7620" y="0"/>
                    <a:pt x="16891" y="0"/>
                  </a:cubicBezTo>
                  <a:moveTo>
                    <a:pt x="16891" y="33909"/>
                  </a:moveTo>
                  <a:lnTo>
                    <a:pt x="16891" y="16891"/>
                  </a:lnTo>
                  <a:lnTo>
                    <a:pt x="33909" y="16891"/>
                  </a:lnTo>
                  <a:lnTo>
                    <a:pt x="33909" y="858139"/>
                  </a:lnTo>
                  <a:lnTo>
                    <a:pt x="16891" y="858139"/>
                  </a:lnTo>
                  <a:lnTo>
                    <a:pt x="16891" y="841248"/>
                  </a:lnTo>
                  <a:lnTo>
                    <a:pt x="24400890" y="841248"/>
                  </a:lnTo>
                  <a:lnTo>
                    <a:pt x="24400890" y="858139"/>
                  </a:lnTo>
                  <a:lnTo>
                    <a:pt x="24384000" y="858139"/>
                  </a:lnTo>
                  <a:lnTo>
                    <a:pt x="24384000" y="16891"/>
                  </a:lnTo>
                  <a:lnTo>
                    <a:pt x="24400890" y="16891"/>
                  </a:lnTo>
                  <a:lnTo>
                    <a:pt x="24400890" y="33909"/>
                  </a:lnTo>
                  <a:lnTo>
                    <a:pt x="16891" y="33909"/>
                  </a:lnTo>
                  <a:close/>
                </a:path>
              </a:pathLst>
            </a:custGeom>
            <a:solidFill>
              <a:srgbClr val="F5EDD0"/>
            </a:solidFill>
          </p:spPr>
        </p:sp>
      </p:grpSp>
      <p:grpSp>
        <p:nvGrpSpPr>
          <p:cNvPr name="Group 31" id="31"/>
          <p:cNvGrpSpPr/>
          <p:nvPr/>
        </p:nvGrpSpPr>
        <p:grpSpPr>
          <a:xfrm rot="0">
            <a:off x="-12697" y="9643367"/>
            <a:ext cx="18313403" cy="98555"/>
            <a:chOff x="0" y="0"/>
            <a:chExt cx="24417871" cy="131407"/>
          </a:xfrm>
        </p:grpSpPr>
        <p:sp>
          <p:nvSpPr>
            <p:cNvPr name="Freeform 32" id="32"/>
            <p:cNvSpPr/>
            <p:nvPr/>
          </p:nvSpPr>
          <p:spPr>
            <a:xfrm flipH="false" flipV="false" rot="0">
              <a:off x="16891" y="16891"/>
              <a:ext cx="24383999" cy="97536"/>
            </a:xfrm>
            <a:custGeom>
              <a:avLst/>
              <a:gdLst/>
              <a:ahLst/>
              <a:cxnLst/>
              <a:rect r="r" b="b" t="t" l="l"/>
              <a:pathLst>
                <a:path h="97536" w="24383999">
                  <a:moveTo>
                    <a:pt x="0" y="0"/>
                  </a:moveTo>
                  <a:lnTo>
                    <a:pt x="24383999" y="0"/>
                  </a:lnTo>
                  <a:lnTo>
                    <a:pt x="24383999" y="97536"/>
                  </a:lnTo>
                  <a:lnTo>
                    <a:pt x="0" y="97536"/>
                  </a:lnTo>
                  <a:close/>
                </a:path>
              </a:pathLst>
            </a:custGeom>
            <a:solidFill>
              <a:srgbClr val="1A1A1A"/>
            </a:solidFill>
          </p:spPr>
        </p:sp>
        <p:sp>
          <p:nvSpPr>
            <p:cNvPr name="Freeform 33" id="33"/>
            <p:cNvSpPr/>
            <p:nvPr/>
          </p:nvSpPr>
          <p:spPr>
            <a:xfrm flipH="false" flipV="false" rot="0">
              <a:off x="0" y="0"/>
              <a:ext cx="24417782" cy="131320"/>
            </a:xfrm>
            <a:custGeom>
              <a:avLst/>
              <a:gdLst/>
              <a:ahLst/>
              <a:cxnLst/>
              <a:rect r="r" b="b" t="t" l="l"/>
              <a:pathLst>
                <a:path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A1A1A"/>
            </a:solidFill>
          </p:spPr>
        </p:sp>
      </p:grpSp>
      <p:grpSp>
        <p:nvGrpSpPr>
          <p:cNvPr name="Group 34" id="34"/>
          <p:cNvGrpSpPr/>
          <p:nvPr/>
        </p:nvGrpSpPr>
        <p:grpSpPr>
          <a:xfrm rot="0">
            <a:off x="1828800" y="1396994"/>
            <a:ext cx="14630400" cy="2011680"/>
            <a:chOff x="0" y="0"/>
            <a:chExt cx="19507200" cy="2682240"/>
          </a:xfrm>
        </p:grpSpPr>
        <p:sp>
          <p:nvSpPr>
            <p:cNvPr name="Freeform 35" id="35"/>
            <p:cNvSpPr/>
            <p:nvPr/>
          </p:nvSpPr>
          <p:spPr>
            <a:xfrm flipH="false" flipV="false" rot="0">
              <a:off x="0" y="0"/>
              <a:ext cx="19507200" cy="2682240"/>
            </a:xfrm>
            <a:custGeom>
              <a:avLst/>
              <a:gdLst/>
              <a:ahLst/>
              <a:cxnLst/>
              <a:rect r="r" b="b" t="t" l="l"/>
              <a:pathLst>
                <a:path h="2682240" w="19507200">
                  <a:moveTo>
                    <a:pt x="0" y="0"/>
                  </a:moveTo>
                  <a:lnTo>
                    <a:pt x="19507200" y="0"/>
                  </a:lnTo>
                  <a:lnTo>
                    <a:pt x="19507200" y="2682240"/>
                  </a:lnTo>
                  <a:lnTo>
                    <a:pt x="0" y="2682240"/>
                  </a:lnTo>
                  <a:close/>
                </a:path>
              </a:pathLst>
            </a:custGeom>
            <a:blipFill>
              <a:blip r:embed="rId3">
                <a:alphaModFix amt="0"/>
              </a:blip>
              <a:stretch>
                <a:fillRect l="0" t="-91709" r="0" b="-91709"/>
              </a:stretch>
            </a:blipFill>
          </p:spPr>
        </p:sp>
        <p:sp>
          <p:nvSpPr>
            <p:cNvPr name="TextBox 36" id="36"/>
            <p:cNvSpPr txBox="true"/>
            <p:nvPr/>
          </p:nvSpPr>
          <p:spPr>
            <a:xfrm>
              <a:off x="0" y="-200025"/>
              <a:ext cx="19507200" cy="2882265"/>
            </a:xfrm>
            <a:prstGeom prst="rect">
              <a:avLst/>
            </a:prstGeom>
          </p:spPr>
          <p:txBody>
            <a:bodyPr anchor="ctr" rtlCol="false" tIns="0" lIns="0" bIns="0" rIns="0"/>
            <a:lstStyle/>
            <a:p>
              <a:pPr algn="ctr">
                <a:lnSpc>
                  <a:spcPts val="12240"/>
                </a:lnSpc>
              </a:pPr>
              <a:r>
                <a:rPr lang="en-US" sz="10200" b="true">
                  <a:solidFill>
                    <a:srgbClr val="1A1A1A"/>
                  </a:solidFill>
                  <a:latin typeface="Times New Roman MT Bold"/>
                  <a:ea typeface="Times New Roman MT Bold"/>
                  <a:cs typeface="Times New Roman MT Bold"/>
                  <a:sym typeface="Times New Roman MT Bold"/>
                </a:rPr>
                <a:t>THANK YOU</a:t>
              </a:r>
            </a:p>
          </p:txBody>
        </p:sp>
      </p:grpSp>
      <p:grpSp>
        <p:nvGrpSpPr>
          <p:cNvPr name="Group 37" id="37"/>
          <p:cNvGrpSpPr/>
          <p:nvPr/>
        </p:nvGrpSpPr>
        <p:grpSpPr>
          <a:xfrm rot="0">
            <a:off x="4014375" y="4729482"/>
            <a:ext cx="11091543" cy="1422528"/>
            <a:chOff x="0" y="0"/>
            <a:chExt cx="14788725" cy="1896703"/>
          </a:xfrm>
        </p:grpSpPr>
        <p:sp>
          <p:nvSpPr>
            <p:cNvPr name="Freeform 38" id="38"/>
            <p:cNvSpPr/>
            <p:nvPr/>
          </p:nvSpPr>
          <p:spPr>
            <a:xfrm flipH="false" flipV="false" rot="0">
              <a:off x="20432" y="25567"/>
              <a:ext cx="14747754" cy="1845435"/>
            </a:xfrm>
            <a:custGeom>
              <a:avLst/>
              <a:gdLst/>
              <a:ahLst/>
              <a:cxnLst/>
              <a:rect r="r" b="b" t="t" l="l"/>
              <a:pathLst>
                <a:path h="1845435" w="14747754">
                  <a:moveTo>
                    <a:pt x="0" y="0"/>
                  </a:moveTo>
                  <a:lnTo>
                    <a:pt x="14747753" y="0"/>
                  </a:lnTo>
                  <a:lnTo>
                    <a:pt x="14747753" y="1845435"/>
                  </a:lnTo>
                  <a:lnTo>
                    <a:pt x="0" y="1845435"/>
                  </a:lnTo>
                  <a:close/>
                </a:path>
              </a:pathLst>
            </a:custGeom>
            <a:solidFill>
              <a:srgbClr val="1B6B3A"/>
            </a:solidFill>
          </p:spPr>
        </p:sp>
        <p:sp>
          <p:nvSpPr>
            <p:cNvPr name="Freeform 39" id="39"/>
            <p:cNvSpPr/>
            <p:nvPr/>
          </p:nvSpPr>
          <p:spPr>
            <a:xfrm flipH="false" flipV="false" rot="0">
              <a:off x="0" y="0"/>
              <a:ext cx="14788617" cy="1896571"/>
            </a:xfrm>
            <a:custGeom>
              <a:avLst/>
              <a:gdLst/>
              <a:ahLst/>
              <a:cxnLst/>
              <a:rect r="r" b="b" t="t" l="l"/>
              <a:pathLst>
                <a:path h="1896571" w="14788617">
                  <a:moveTo>
                    <a:pt x="20432" y="0"/>
                  </a:moveTo>
                  <a:lnTo>
                    <a:pt x="14768185" y="0"/>
                  </a:lnTo>
                  <a:cubicBezTo>
                    <a:pt x="14779554" y="0"/>
                    <a:pt x="14788617" y="11534"/>
                    <a:pt x="14788617" y="25567"/>
                  </a:cubicBezTo>
                  <a:lnTo>
                    <a:pt x="14788617" y="1871002"/>
                  </a:lnTo>
                  <a:cubicBezTo>
                    <a:pt x="14788617" y="1885227"/>
                    <a:pt x="14779400" y="1896569"/>
                    <a:pt x="14768185" y="1896569"/>
                  </a:cubicBezTo>
                  <a:lnTo>
                    <a:pt x="20432" y="1896569"/>
                  </a:lnTo>
                  <a:cubicBezTo>
                    <a:pt x="9217" y="1896742"/>
                    <a:pt x="0" y="1885227"/>
                    <a:pt x="0" y="1871002"/>
                  </a:cubicBezTo>
                  <a:lnTo>
                    <a:pt x="0" y="25567"/>
                  </a:lnTo>
                  <a:cubicBezTo>
                    <a:pt x="0" y="11534"/>
                    <a:pt x="9217" y="0"/>
                    <a:pt x="20432" y="0"/>
                  </a:cubicBezTo>
                  <a:moveTo>
                    <a:pt x="20432" y="51326"/>
                  </a:moveTo>
                  <a:lnTo>
                    <a:pt x="20432" y="25567"/>
                  </a:lnTo>
                  <a:lnTo>
                    <a:pt x="41017" y="25567"/>
                  </a:lnTo>
                  <a:lnTo>
                    <a:pt x="41017" y="1871002"/>
                  </a:lnTo>
                  <a:lnTo>
                    <a:pt x="20432" y="1871002"/>
                  </a:lnTo>
                  <a:lnTo>
                    <a:pt x="20432" y="1845435"/>
                  </a:lnTo>
                  <a:lnTo>
                    <a:pt x="14768185" y="1845435"/>
                  </a:lnTo>
                  <a:lnTo>
                    <a:pt x="14768185" y="1871002"/>
                  </a:lnTo>
                  <a:lnTo>
                    <a:pt x="14747754" y="1871002"/>
                  </a:lnTo>
                  <a:lnTo>
                    <a:pt x="14747754" y="25567"/>
                  </a:lnTo>
                  <a:lnTo>
                    <a:pt x="14768185" y="25567"/>
                  </a:lnTo>
                  <a:lnTo>
                    <a:pt x="14768185" y="51326"/>
                  </a:lnTo>
                  <a:lnTo>
                    <a:pt x="20432" y="51326"/>
                  </a:lnTo>
                  <a:close/>
                </a:path>
              </a:pathLst>
            </a:custGeom>
            <a:solidFill>
              <a:srgbClr val="1B6B3A"/>
            </a:solidFill>
          </p:spPr>
        </p:sp>
      </p:grpSp>
      <p:grpSp>
        <p:nvGrpSpPr>
          <p:cNvPr name="Group 40" id="40"/>
          <p:cNvGrpSpPr/>
          <p:nvPr/>
        </p:nvGrpSpPr>
        <p:grpSpPr>
          <a:xfrm rot="0">
            <a:off x="4014375" y="4639698"/>
            <a:ext cx="11091543" cy="1602095"/>
            <a:chOff x="0" y="0"/>
            <a:chExt cx="14788725" cy="2136127"/>
          </a:xfrm>
        </p:grpSpPr>
        <p:sp>
          <p:nvSpPr>
            <p:cNvPr name="Freeform 41" id="41"/>
            <p:cNvSpPr/>
            <p:nvPr/>
          </p:nvSpPr>
          <p:spPr>
            <a:xfrm flipH="false" flipV="false" rot="0">
              <a:off x="0" y="0"/>
              <a:ext cx="14788725" cy="2136127"/>
            </a:xfrm>
            <a:custGeom>
              <a:avLst/>
              <a:gdLst/>
              <a:ahLst/>
              <a:cxnLst/>
              <a:rect r="r" b="b" t="t" l="l"/>
              <a:pathLst>
                <a:path h="2136127" w="14788725">
                  <a:moveTo>
                    <a:pt x="0" y="0"/>
                  </a:moveTo>
                  <a:lnTo>
                    <a:pt x="14788725" y="0"/>
                  </a:lnTo>
                  <a:lnTo>
                    <a:pt x="14788725" y="2136127"/>
                  </a:lnTo>
                  <a:lnTo>
                    <a:pt x="0" y="2136127"/>
                  </a:lnTo>
                  <a:close/>
                </a:path>
              </a:pathLst>
            </a:custGeom>
            <a:blipFill>
              <a:blip r:embed="rId3">
                <a:alphaModFix amt="0"/>
              </a:blip>
              <a:stretch>
                <a:fillRect l="0" t="-82673" r="17558" b="-39748"/>
              </a:stretch>
            </a:blipFill>
          </p:spPr>
        </p:sp>
        <p:sp>
          <p:nvSpPr>
            <p:cNvPr name="TextBox 42" id="42"/>
            <p:cNvSpPr txBox="true"/>
            <p:nvPr/>
          </p:nvSpPr>
          <p:spPr>
            <a:xfrm>
              <a:off x="0" y="-47625"/>
              <a:ext cx="14788725" cy="2183752"/>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 The Green Ledgers — Making Carbon Markets Accessible for Every Indian 🇮🇳</a:t>
              </a:r>
            </a:p>
          </p:txBody>
        </p:sp>
      </p:grpSp>
      <p:grpSp>
        <p:nvGrpSpPr>
          <p:cNvPr name="Group 43" id="43"/>
          <p:cNvGrpSpPr/>
          <p:nvPr/>
        </p:nvGrpSpPr>
        <p:grpSpPr>
          <a:xfrm rot="0">
            <a:off x="1828800" y="7680955"/>
            <a:ext cx="14630400" cy="976238"/>
            <a:chOff x="0" y="0"/>
            <a:chExt cx="19507200" cy="1301650"/>
          </a:xfrm>
        </p:grpSpPr>
        <p:sp>
          <p:nvSpPr>
            <p:cNvPr name="Freeform 44" id="44"/>
            <p:cNvSpPr/>
            <p:nvPr/>
          </p:nvSpPr>
          <p:spPr>
            <a:xfrm flipH="false" flipV="false" rot="0">
              <a:off x="0" y="0"/>
              <a:ext cx="19507200" cy="1301650"/>
            </a:xfrm>
            <a:custGeom>
              <a:avLst/>
              <a:gdLst/>
              <a:ahLst/>
              <a:cxnLst/>
              <a:rect r="r" b="b" t="t" l="l"/>
              <a:pathLst>
                <a:path h="1301650" w="19507200">
                  <a:moveTo>
                    <a:pt x="0" y="0"/>
                  </a:moveTo>
                  <a:lnTo>
                    <a:pt x="19507200" y="0"/>
                  </a:lnTo>
                  <a:lnTo>
                    <a:pt x="19507200" y="1301650"/>
                  </a:lnTo>
                  <a:lnTo>
                    <a:pt x="0" y="1301650"/>
                  </a:lnTo>
                  <a:close/>
                </a:path>
              </a:pathLst>
            </a:custGeom>
            <a:blipFill>
              <a:blip r:embed="rId3">
                <a:alphaModFix amt="0"/>
              </a:blip>
              <a:stretch>
                <a:fillRect l="0" t="-259229" r="0" b="-224795"/>
              </a:stretch>
            </a:blipFill>
          </p:spPr>
        </p:sp>
        <p:sp>
          <p:nvSpPr>
            <p:cNvPr name="TextBox 45" id="45"/>
            <p:cNvSpPr txBox="true"/>
            <p:nvPr/>
          </p:nvSpPr>
          <p:spPr>
            <a:xfrm>
              <a:off x="0" y="-66675"/>
              <a:ext cx="19507200" cy="1368325"/>
            </a:xfrm>
            <a:prstGeom prst="rect">
              <a:avLst/>
            </a:prstGeom>
          </p:spPr>
          <p:txBody>
            <a:bodyPr anchor="ctr" rtlCol="false" tIns="0" lIns="0" bIns="0" rIns="0"/>
            <a:lstStyle/>
            <a:p>
              <a:pPr algn="ctr">
                <a:lnSpc>
                  <a:spcPts val="3359"/>
                </a:lnSpc>
              </a:pPr>
              <a:r>
                <a:rPr lang="en-US" sz="2799">
                  <a:solidFill>
                    <a:srgbClr val="666666"/>
                  </a:solidFill>
                  <a:latin typeface="Calibri (MS)"/>
                  <a:ea typeface="Calibri (MS)"/>
                  <a:cs typeface="Calibri (MS)"/>
                  <a:sym typeface="Calibri (MS)"/>
                </a:rPr>
                <a:t>1M1B Green Internship · Batch 7 · Alliance University · March 2026 · Supporting SDG 13: Climate Action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DAHE2Xama-0</dc:identifier>
  <dcterms:modified xsi:type="dcterms:W3CDTF">2011-08-01T06:04:30Z</dcterms:modified>
  <cp:revision>1</cp:revision>
  <dc:title>GreenLedgers_PPT_Final.pptx</dc:title>
</cp:coreProperties>
</file>